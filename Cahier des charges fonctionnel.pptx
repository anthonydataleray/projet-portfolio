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embeddedFontLst>
    <p:embeddedFont>
      <p:font typeface="Montserrat" panose="00000500000000000000" pitchFamily="2" charset="0"/>
      <p:regular r:id="rId13"/>
      <p:bold r:id="rId14"/>
      <p:italic r:id="rId15"/>
      <p:boldItalic r:id="rId16"/>
    </p:embeddedFont>
    <p:embeddedFont>
      <p:font typeface="Rockwell" panose="02060603020205020403" pitchFamily="18" charset="0"/>
      <p:regular r:id="rId17"/>
      <p:bold r:id="rId18"/>
      <p:italic r:id="rId19"/>
      <p:boldItalic r:id="rId20"/>
    </p:embeddedFont>
    <p:embeddedFont>
      <p:font typeface="Rockwell Condensed" panose="02060603050405020104" pitchFamily="18" charset="0"/>
      <p:regular r:id="rId21"/>
      <p:bold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c28d163b2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g13c28d163b2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c28d163b2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13c28d163b2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0970d574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g250970d574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0" name="Google Shape;1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9176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00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fr-FR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775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1518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9581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895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0560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875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17987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6216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9012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116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oneair.es/curiosidades-viajar-en-avion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286256" y="3216339"/>
            <a:ext cx="9144000" cy="185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br>
              <a:rPr lang="fr-FR" sz="7300" b="1" dirty="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-FR" sz="8900" b="1" dirty="0">
                <a:latin typeface="Montserrat"/>
                <a:ea typeface="Montserrat"/>
                <a:cs typeface="Montserrat"/>
                <a:sym typeface="Montserrat"/>
              </a:rPr>
              <a:t>Cahier</a:t>
            </a: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 des </a:t>
            </a:r>
            <a:r>
              <a:rPr lang="fr-FR" sz="8900" b="1" dirty="0">
                <a:latin typeface="Montserrat"/>
                <a:ea typeface="Montserrat"/>
                <a:cs typeface="Montserrat"/>
                <a:sym typeface="Montserrat"/>
              </a:rPr>
              <a:t>charges</a:t>
            </a:r>
            <a:br>
              <a:rPr lang="fr-FR" dirty="0">
                <a:latin typeface="Montserrat"/>
                <a:ea typeface="Montserrat"/>
                <a:cs typeface="Montserrat"/>
                <a:sym typeface="Montserrat"/>
              </a:rPr>
            </a:b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84;p13">
            <a:extLst>
              <a:ext uri="{FF2B5EF4-FFF2-40B4-BE49-F238E27FC236}">
                <a16:creationId xmlns:a16="http://schemas.microsoft.com/office/drawing/2014/main" id="{3DDDA7C7-AA65-845D-F407-208C3A70CCBF}"/>
              </a:ext>
            </a:extLst>
          </p:cNvPr>
          <p:cNvSpPr txBox="1">
            <a:spLocks/>
          </p:cNvSpPr>
          <p:nvPr/>
        </p:nvSpPr>
        <p:spPr>
          <a:xfrm>
            <a:off x="1286256" y="4475163"/>
            <a:ext cx="9144000" cy="185858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600" kern="1200" cap="all" baseline="0">
                <a:blipFill dpi="0" rotWithShape="1">
                  <a:blip r:embed="rId3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latin typeface="Montserrat"/>
                <a:ea typeface="Montserrat"/>
                <a:cs typeface="Montserrat"/>
                <a:sym typeface="Montserrat"/>
              </a:rPr>
              <a:t>ELABORATION D’un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838200" y="3370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4"/>
          <p:cNvSpPr txBox="1">
            <a:spLocks noGrp="1"/>
          </p:cNvSpPr>
          <p:nvPr>
            <p:ph idx="1"/>
          </p:nvPr>
        </p:nvSpPr>
        <p:spPr>
          <a:xfrm>
            <a:off x="948275" y="15123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6059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 dirty="0">
                <a:latin typeface="Montserrat"/>
                <a:ea typeface="Montserrat"/>
                <a:cs typeface="Montserrat"/>
                <a:sym typeface="Montserrat"/>
              </a:rPr>
              <a:t>Présentation du projet</a:t>
            </a:r>
            <a:endParaRPr sz="246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 dirty="0"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  <a:endParaRPr sz="176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 dirty="0">
                <a:latin typeface="Montserrat"/>
                <a:ea typeface="Montserrat"/>
                <a:cs typeface="Montserrat"/>
                <a:sym typeface="Montserrat"/>
              </a:rPr>
              <a:t>Équipe projet</a:t>
            </a:r>
            <a:endParaRPr sz="176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 dirty="0"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  <a:endParaRPr sz="176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 dirty="0">
                <a:latin typeface="Montserrat"/>
                <a:ea typeface="Montserrat"/>
                <a:cs typeface="Montserrat"/>
                <a:sym typeface="Montserrat"/>
              </a:rPr>
              <a:t>Spécifications fonctionnelles</a:t>
            </a:r>
            <a:endParaRPr sz="176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 dirty="0"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  <a:endParaRPr sz="176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SzPts val="1760"/>
              <a:buFont typeface="Montserrat"/>
              <a:buAutoNum type="arabicPeriod"/>
            </a:pPr>
            <a:r>
              <a:rPr lang="fr-FR" sz="1760" dirty="0">
                <a:latin typeface="Montserrat"/>
                <a:ea typeface="Montserrat"/>
                <a:cs typeface="Montserrat"/>
                <a:sym typeface="Montserrat"/>
              </a:rPr>
              <a:t>Contraintes techniques et réglementaires</a:t>
            </a:r>
            <a:endParaRPr sz="176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 dirty="0">
                <a:latin typeface="Montserrat"/>
                <a:ea typeface="Montserrat"/>
                <a:cs typeface="Montserrat"/>
                <a:sym typeface="Montserrat"/>
              </a:rPr>
              <a:t>Qualité et performance</a:t>
            </a:r>
            <a:endParaRPr sz="176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226059" algn="l" rtl="0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Montserrat"/>
              <a:buAutoNum type="arabicPeriod"/>
            </a:pPr>
            <a:r>
              <a:rPr lang="fr-FR" sz="1760" dirty="0">
                <a:latin typeface="Montserrat"/>
                <a:ea typeface="Montserrat"/>
                <a:cs typeface="Montserrat"/>
                <a:sym typeface="Montserrat"/>
              </a:rPr>
              <a:t>Rétroplanning et devis</a:t>
            </a:r>
            <a:endParaRPr sz="246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Image 4" descr="Une image contenant avion, ciel, plein air, Transport aérien&#10;&#10;Le contenu généré par l’IA peut être incorrect.">
            <a:extLst>
              <a:ext uri="{FF2B5EF4-FFF2-40B4-BE49-F238E27FC236}">
                <a16:creationId xmlns:a16="http://schemas.microsoft.com/office/drawing/2014/main" id="{A8E13B74-C05C-167E-ABA4-6E1DAAA637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Présentation du projet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5"/>
          <p:cNvSpPr txBox="1">
            <a:spLocks noGrp="1"/>
          </p:cNvSpPr>
          <p:nvPr>
            <p:ph idx="1"/>
          </p:nvPr>
        </p:nvSpPr>
        <p:spPr>
          <a:xfrm>
            <a:off x="1066800" y="267389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Wingdings" panose="05000000000000000000" pitchFamily="2" charset="2"/>
              <a:buChar char="q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Résumé : Conception d’un outil de démonstration de compétences (Portfolio Réflexif) destiné à la Direction et au Recrutement d'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Aéroworld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Wingdings" panose="05000000000000000000" pitchFamily="2" charset="2"/>
              <a:buChar char="q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Wingdings" panose="05000000000000000000" pitchFamily="2" charset="2"/>
              <a:buChar char="q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Wingdings" panose="05000000000000000000" pitchFamily="2" charset="2"/>
              <a:buChar char="q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Contexte : Support visuel et argumenté servant de base à l'entretien de recrutement pour le poste de Chef de Projet en Analyse Data.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E8A97713-EEE0-D31D-E882-D267FE8BA290}"/>
              </a:ext>
            </a:extLst>
          </p:cNvPr>
          <p:cNvSpPr/>
          <p:nvPr/>
        </p:nvSpPr>
        <p:spPr>
          <a:xfrm>
            <a:off x="128016" y="64008"/>
            <a:ext cx="859536" cy="6684264"/>
          </a:xfrm>
          <a:prstGeom prst="roundRect">
            <a:avLst/>
          </a:prstGeom>
          <a:pattFill prst="pct9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1252086" y="129470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Enjeux et objectifs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6"/>
          <p:cNvSpPr txBox="1">
            <a:spLocks noGrp="1"/>
          </p:cNvSpPr>
          <p:nvPr>
            <p:ph idx="1"/>
          </p:nvPr>
        </p:nvSpPr>
        <p:spPr>
          <a:xfrm>
            <a:off x="1252086" y="1738814"/>
            <a:ext cx="10515600" cy="448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Besoins &amp; Raisons : démontrer la maîtrise technique, la capacité de conseil et l'aptitude au management du candidat.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Objectifs stratégiques :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Wingdings" panose="05000000000000000000" pitchFamily="2" charset="2"/>
              <a:buChar char="q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       Valorisation de la data aéronautique (essais en vol, IoT).</a:t>
            </a: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Wingdings" panose="05000000000000000000" pitchFamily="2" charset="2"/>
              <a:buChar char="q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Wingdings" panose="05000000000000000000" pitchFamily="2" charset="2"/>
              <a:buChar char="q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       Preuve d'aptitude en maintenance prédictive.</a:t>
            </a: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Wingdings" panose="05000000000000000000" pitchFamily="2" charset="2"/>
              <a:buChar char="q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Wingdings" panose="05000000000000000000" pitchFamily="2" charset="2"/>
              <a:buChar char="q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       Améliorer la conception</a:t>
            </a: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Wingdings" panose="05000000000000000000" pitchFamily="2" charset="2"/>
              <a:buChar char="q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Wingdings" panose="05000000000000000000" pitchFamily="2" charset="2"/>
              <a:buChar char="q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       Intégration de la sécurité et de la gouvernance (RGPD).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C890C296-C6E1-B847-C987-86765C6F4F3F}"/>
              </a:ext>
            </a:extLst>
          </p:cNvPr>
          <p:cNvSpPr/>
          <p:nvPr/>
        </p:nvSpPr>
        <p:spPr>
          <a:xfrm>
            <a:off x="128016" y="64008"/>
            <a:ext cx="859536" cy="6684264"/>
          </a:xfrm>
          <a:prstGeom prst="roundRect">
            <a:avLst/>
          </a:prstGeom>
          <a:pattFill prst="pct9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>
                <a:latin typeface="Montserrat"/>
                <a:ea typeface="Montserrat"/>
                <a:cs typeface="Montserrat"/>
                <a:sym typeface="Montserrat"/>
              </a:rPr>
              <a:t>Équipe projet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Composition : Le candidat (Chef de projet &amp; Consultant).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Intervenants externes : Mentor ou pair pour la validation de la qualité.</a:t>
            </a:r>
            <a:br>
              <a:rPr lang="fr-FR" dirty="0">
                <a:latin typeface="Montserrat"/>
                <a:ea typeface="Montserrat"/>
                <a:cs typeface="Montserrat"/>
                <a:sym typeface="Montserrat"/>
              </a:rPr>
            </a:b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607EF3A8-D12B-E0DF-2D6A-7EE84BC5470E}"/>
              </a:ext>
            </a:extLst>
          </p:cNvPr>
          <p:cNvSpPr/>
          <p:nvPr/>
        </p:nvSpPr>
        <p:spPr>
          <a:xfrm>
            <a:off x="128016" y="64008"/>
            <a:ext cx="859536" cy="6684264"/>
          </a:xfrm>
          <a:prstGeom prst="roundRect">
            <a:avLst/>
          </a:prstGeom>
          <a:pattFill prst="pct9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1551111" y="426881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Spécifications ergonomiques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8"/>
          <p:cNvSpPr txBox="1">
            <a:spLocks noGrp="1"/>
          </p:cNvSpPr>
          <p:nvPr>
            <p:ph idx="1"/>
          </p:nvPr>
        </p:nvSpPr>
        <p:spPr>
          <a:xfrm>
            <a:off x="1551111" y="2796380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spcBef>
                <a:spcPts val="0"/>
              </a:spcBef>
              <a:buClr>
                <a:schemeClr val="accent2"/>
              </a:buClr>
              <a:buSzPts val="2800"/>
              <a:buFont typeface="Wingdings" panose="05000000000000000000" pitchFamily="2" charset="2"/>
              <a:buChar char="q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Principes de navigation &amp; UX : Navigation intuitive avec un design sobre et professionnel, conforme aux standards du consulting.</a:t>
            </a:r>
          </a:p>
          <a:p>
            <a:pPr>
              <a:spcBef>
                <a:spcPts val="0"/>
              </a:spcBef>
              <a:buClr>
                <a:schemeClr val="accent2"/>
              </a:buClr>
              <a:buSzPts val="2800"/>
              <a:buFont typeface="Wingdings" panose="05000000000000000000" pitchFamily="2" charset="2"/>
              <a:buChar char="q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spcBef>
                <a:spcPts val="0"/>
              </a:spcBef>
              <a:buClr>
                <a:schemeClr val="accent2"/>
              </a:buClr>
              <a:buSzPts val="2800"/>
              <a:buFont typeface="Wingdings" panose="05000000000000000000" pitchFamily="2" charset="2"/>
              <a:buChar char="q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Accessibilité : Compatibilité multi-supports (Responsive Design) pour consultation sur desktop ou tablette.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705E1FA9-6A24-55F6-9A19-EFEE819EC834}"/>
              </a:ext>
            </a:extLst>
          </p:cNvPr>
          <p:cNvSpPr/>
          <p:nvPr/>
        </p:nvSpPr>
        <p:spPr>
          <a:xfrm>
            <a:off x="128016" y="64008"/>
            <a:ext cx="859536" cy="6684264"/>
          </a:xfrm>
          <a:prstGeom prst="roundRect">
            <a:avLst/>
          </a:prstGeom>
          <a:pattFill prst="pct9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1591698" y="415811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Spécifications fonctionnelles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9"/>
          <p:cNvSpPr txBox="1">
            <a:spLocks noGrp="1"/>
          </p:cNvSpPr>
          <p:nvPr>
            <p:ph idx="1"/>
          </p:nvPr>
        </p:nvSpPr>
        <p:spPr>
          <a:xfrm>
            <a:off x="1591698" y="224701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</a:pPr>
            <a:r>
              <a:rPr lang="fr-FR" sz="2400" dirty="0">
                <a:latin typeface="Montserrat" panose="00000500000000000000" pitchFamily="2" charset="0"/>
              </a:rPr>
              <a:t>Liste des sections à mettre en place :</a:t>
            </a:r>
          </a:p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Wingdings" panose="05000000000000000000" pitchFamily="2" charset="2"/>
              <a:buChar char="q"/>
            </a:pPr>
            <a:r>
              <a:rPr lang="fr-FR" sz="2400" dirty="0">
                <a:latin typeface="Montserrat" panose="00000500000000000000" pitchFamily="2" charset="0"/>
              </a:rPr>
              <a:t>    Profil et Posture (parcours professionnel).</a:t>
            </a:r>
          </a:p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Wingdings" panose="05000000000000000000" pitchFamily="2" charset="2"/>
              <a:buChar char="q"/>
            </a:pPr>
            <a:r>
              <a:rPr lang="fr-FR" sz="2400" dirty="0">
                <a:latin typeface="Montserrat" panose="00000500000000000000" pitchFamily="2" charset="0"/>
              </a:rPr>
              <a:t>    Veille Métier (outils et méthodes d'analyse).</a:t>
            </a:r>
          </a:p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Wingdings" panose="05000000000000000000" pitchFamily="2" charset="2"/>
              <a:buChar char="q"/>
            </a:pPr>
            <a:r>
              <a:rPr lang="fr-FR" sz="2400" dirty="0">
                <a:latin typeface="Montserrat" panose="00000500000000000000" pitchFamily="2" charset="0"/>
              </a:rPr>
              <a:t>    Gestion de Projet</a:t>
            </a:r>
          </a:p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Wingdings" panose="05000000000000000000" pitchFamily="2" charset="2"/>
              <a:buChar char="q"/>
            </a:pPr>
            <a:r>
              <a:rPr lang="fr-FR" sz="2400" dirty="0">
                <a:latin typeface="Montserrat" panose="00000500000000000000" pitchFamily="2" charset="0"/>
              </a:rPr>
              <a:t>    Documentation et Accompagnement (procédures de     	transmission).</a:t>
            </a:r>
          </a:p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Wingdings" panose="05000000000000000000" pitchFamily="2" charset="2"/>
              <a:buChar char="q"/>
            </a:pPr>
            <a:r>
              <a:rPr lang="fr-FR" sz="2400" dirty="0">
                <a:latin typeface="Montserrat" panose="00000500000000000000" pitchFamily="2" charset="0"/>
              </a:rPr>
              <a:t>    Connectivité : Liens directs vers GitHub et LinkedIn.</a:t>
            </a:r>
            <a:endParaRPr sz="2400" dirty="0">
              <a:latin typeface="Montserrat" panose="00000500000000000000" pitchFamily="2" charset="0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B04728CB-609B-D201-147F-91A61F6FBAFF}"/>
              </a:ext>
            </a:extLst>
          </p:cNvPr>
          <p:cNvSpPr/>
          <p:nvPr/>
        </p:nvSpPr>
        <p:spPr>
          <a:xfrm>
            <a:off x="128016" y="64008"/>
            <a:ext cx="859536" cy="6684264"/>
          </a:xfrm>
          <a:prstGeom prst="roundRect">
            <a:avLst/>
          </a:prstGeom>
          <a:pattFill prst="pct9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1541486" y="436506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Contraintes et spécificités techniques et réglementaires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0"/>
          <p:cNvSpPr txBox="1">
            <a:spLocks noGrp="1"/>
          </p:cNvSpPr>
          <p:nvPr>
            <p:ph idx="1"/>
          </p:nvPr>
        </p:nvSpPr>
        <p:spPr>
          <a:xfrm>
            <a:off x="1541486" y="2370702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q"/>
            </a:pPr>
            <a:r>
              <a:rPr lang="fr-FR" dirty="0">
                <a:latin typeface="Montserrat" panose="00000500000000000000" pitchFamily="2" charset="0"/>
              </a:rPr>
              <a:t>Hébergement : Utilisation de GitHub Pages pour le versioning et l'accessibilité.</a:t>
            </a:r>
          </a:p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q"/>
            </a:pPr>
            <a:endParaRPr lang="fr-FR" dirty="0">
              <a:latin typeface="Montserrat" panose="00000500000000000000" pitchFamily="2" charset="0"/>
            </a:endParaRPr>
          </a:p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q"/>
            </a:pPr>
            <a:r>
              <a:rPr lang="fr-FR" dirty="0">
                <a:latin typeface="Montserrat" panose="00000500000000000000" pitchFamily="2" charset="0"/>
              </a:rPr>
              <a:t>Sécurité &amp; RGPD : Approche "RGPD by Design" ; aucune donnée sensible affichée sans nécessité.</a:t>
            </a:r>
          </a:p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q"/>
            </a:pPr>
            <a:endParaRPr lang="fr-FR" dirty="0">
              <a:latin typeface="Montserrat" panose="00000500000000000000" pitchFamily="2" charset="0"/>
            </a:endParaRPr>
          </a:p>
          <a:p>
            <a:pPr marL="5715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q"/>
            </a:pPr>
            <a:r>
              <a:rPr lang="fr-FR" dirty="0">
                <a:latin typeface="Montserrat" panose="00000500000000000000" pitchFamily="2" charset="0"/>
              </a:rPr>
              <a:t>Référentiels : Respect strict des normes W3C et des bonnes pratiques </a:t>
            </a:r>
            <a:r>
              <a:rPr lang="fr-FR" dirty="0" err="1">
                <a:latin typeface="Montserrat" panose="00000500000000000000" pitchFamily="2" charset="0"/>
              </a:rPr>
              <a:t>Opquast</a:t>
            </a:r>
            <a:endParaRPr dirty="0">
              <a:latin typeface="Montserrat" panose="00000500000000000000" pitchFamily="2" charset="0"/>
            </a:endParaRP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4FD4D73E-416F-A6E6-A92E-148C202A6123}"/>
              </a:ext>
            </a:extLst>
          </p:cNvPr>
          <p:cNvSpPr/>
          <p:nvPr/>
        </p:nvSpPr>
        <p:spPr>
          <a:xfrm>
            <a:off x="128016" y="64008"/>
            <a:ext cx="859536" cy="6684264"/>
          </a:xfrm>
          <a:prstGeom prst="roundRect">
            <a:avLst/>
          </a:prstGeom>
          <a:pattFill prst="pct9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1435608" y="512064"/>
            <a:ext cx="10345714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Qualité et performance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1"/>
          <p:cNvSpPr txBox="1">
            <a:spLocks noGrp="1"/>
          </p:cNvSpPr>
          <p:nvPr>
            <p:ph idx="1"/>
          </p:nvPr>
        </p:nvSpPr>
        <p:spPr>
          <a:xfrm>
            <a:off x="1435608" y="212525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KPI (Indicateurs clés) :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   Coûts : Budget inférieur à 50€ (pour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template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premium éventuel).</a:t>
            </a: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   Délais : Finalisation et tests sous 2 semaines.</a:t>
            </a: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   Qualité : Score de lisibilité élevé.</a:t>
            </a: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   Efficacité : Validation finale par un mentor.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0D95944A-886E-3390-FD6A-1BD98E24D270}"/>
              </a:ext>
            </a:extLst>
          </p:cNvPr>
          <p:cNvSpPr/>
          <p:nvPr/>
        </p:nvSpPr>
        <p:spPr>
          <a:xfrm>
            <a:off x="128016" y="64008"/>
            <a:ext cx="859536" cy="6684264"/>
          </a:xfrm>
          <a:prstGeom prst="roundRect">
            <a:avLst/>
          </a:prstGeom>
          <a:pattFill prst="pct9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1406732" y="407630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fr-FR" b="1" dirty="0">
                <a:latin typeface="Montserrat"/>
                <a:ea typeface="Montserrat"/>
                <a:cs typeface="Montserrat"/>
                <a:sym typeface="Montserrat"/>
              </a:rPr>
              <a:t>Rétroplanning et devis</a:t>
            </a:r>
            <a:endParaRPr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3"/>
          <p:cNvSpPr txBox="1">
            <a:spLocks noGrp="1"/>
          </p:cNvSpPr>
          <p:nvPr>
            <p:ph idx="1"/>
          </p:nvPr>
        </p:nvSpPr>
        <p:spPr>
          <a:xfrm>
            <a:off x="1406732" y="2016974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Calendrier : Projet à réaliser sur une période de 14 jours (2 </a:t>
            </a:r>
            <a:r>
              <a:rPr lang="fr-FR">
                <a:latin typeface="Montserrat"/>
                <a:ea typeface="Montserrat"/>
                <a:cs typeface="Montserrat"/>
                <a:sym typeface="Montserrat"/>
              </a:rPr>
              <a:t>semaines).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Estimation financière :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Wingdings" panose="05000000000000000000" pitchFamily="2" charset="2"/>
              <a:buChar char="q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   Ressources Humaines : Temps de conception interne.</a:t>
            </a: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Wingdings" panose="05000000000000000000" pitchFamily="2" charset="2"/>
              <a:buChar char="q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Wingdings" panose="05000000000000000000" pitchFamily="2" charset="2"/>
              <a:buChar char="q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   Achats : Template premium (max 50€).</a:t>
            </a: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Wingdings" panose="05000000000000000000" pitchFamily="2" charset="2"/>
              <a:buChar char="q"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Wingdings" panose="05000000000000000000" pitchFamily="2" charset="2"/>
              <a:buChar char="q"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   Prix final estimé : &lt; 50€ d'investissement direct.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BA7823C1-1773-A47E-5131-1767DF321BBA}"/>
              </a:ext>
            </a:extLst>
          </p:cNvPr>
          <p:cNvSpPr/>
          <p:nvPr/>
        </p:nvSpPr>
        <p:spPr>
          <a:xfrm>
            <a:off x="128016" y="64008"/>
            <a:ext cx="859536" cy="6684264"/>
          </a:xfrm>
          <a:prstGeom prst="roundRect">
            <a:avLst/>
          </a:prstGeom>
          <a:pattFill prst="pct9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Type de bois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ype de bois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ype de bois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TM03090434[[fn=Type de bois]]</Template>
  <TotalTime>21</TotalTime>
  <Words>409</Words>
  <Application>Microsoft Office PowerPoint</Application>
  <PresentationFormat>Grand écran</PresentationFormat>
  <Paragraphs>73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Calibri</vt:lpstr>
      <vt:lpstr>Rockwell</vt:lpstr>
      <vt:lpstr>Wingdings</vt:lpstr>
      <vt:lpstr>Montserrat</vt:lpstr>
      <vt:lpstr>Rockwell Condensed</vt:lpstr>
      <vt:lpstr>Arial</vt:lpstr>
      <vt:lpstr>Type de bois</vt:lpstr>
      <vt:lpstr> Cahier des charges </vt:lpstr>
      <vt:lpstr>Sommaire</vt:lpstr>
      <vt:lpstr>Présentation du projet</vt:lpstr>
      <vt:lpstr>Enjeux et objectifs</vt:lpstr>
      <vt:lpstr>Équipe projet</vt:lpstr>
      <vt:lpstr>Spécifications ergonomiques</vt:lpstr>
      <vt:lpstr>Spécifications fonctionnelles</vt:lpstr>
      <vt:lpstr>Contraintes et spécificités techniques et réglementaires</vt:lpstr>
      <vt:lpstr>Qualité et performance</vt:lpstr>
      <vt:lpstr>Rétroplanning et devis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Anthony Leray</dc:creator>
  <cp:lastModifiedBy>Anthony Leray</cp:lastModifiedBy>
  <cp:revision>3</cp:revision>
  <dcterms:modified xsi:type="dcterms:W3CDTF">2026-03-31T15:08:05Z</dcterms:modified>
</cp:coreProperties>
</file>