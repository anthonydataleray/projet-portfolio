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Century Gothic" panose="020B0502020202020204" pitchFamily="34" charset="0"/>
      <p:regular r:id="rId19"/>
      <p:bold r:id="rId20"/>
      <p:italic r:id="rId21"/>
      <p:boldItalic r:id="rId22"/>
    </p:embeddedFont>
    <p:embeddedFont>
      <p:font typeface="Noto Sans Symbols" pitchFamily="2"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rjfFyYNBG5sNntC35Cbhoqt17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argu\Documents\DATA\OpenClassRoom\Formation%20Data%20Analyst\Module%204%20-\Sc&#233;nario\Graphique%20dispo%20int&#233;rieur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Répartition</a:t>
            </a:r>
            <a:r>
              <a:rPr lang="en-US" baseline="0"/>
              <a:t> de la disponibilité intérieure</a:t>
            </a:r>
          </a:p>
        </c:rich>
      </c:tx>
      <c:layout>
        <c:manualLayout>
          <c:xMode val="edge"/>
          <c:yMode val="edge"/>
          <c:x val="0.22558333333333333"/>
          <c:y val="2.314814814814814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9CF-4332-BBA3-EB3A25B72F7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9CF-4332-BBA3-EB3A25B72F7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9CF-4332-BBA3-EB3A25B72F7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9CF-4332-BBA3-EB3A25B72F7E}"/>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29CF-4332-BBA3-EB3A25B72F7E}"/>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29CF-4332-BBA3-EB3A25B72F7E}"/>
              </c:ext>
            </c:extLst>
          </c:dPt>
          <c:dLbls>
            <c:dLbl>
              <c:idx val="4"/>
              <c:spPr>
                <a:noFill/>
                <a:ln>
                  <a:noFill/>
                </a:ln>
                <a:effectLst/>
              </c:spPr>
              <c:txPr>
                <a:bodyPr rot="0" spcFirstLastPara="1" vertOverflow="ellipsis" vert="horz" wrap="square" lIns="38100" tIns="19050" rIns="38100" bIns="19050" anchor="ctr" anchorCtr="1">
                  <a:spAutoFit/>
                </a:bodyPr>
                <a:lstStyle/>
                <a:p>
                  <a:pPr>
                    <a:defRPr sz="910" b="0" i="0" u="none" strike="noStrike" kern="1200" baseline="0">
                      <a:solidFill>
                        <a:sysClr val="windowText" lastClr="000000"/>
                      </a:solidFill>
                      <a:latin typeface="+mn-lt"/>
                      <a:ea typeface="+mn-ea"/>
                      <a:cs typeface="+mn-cs"/>
                    </a:defRPr>
                  </a:pPr>
                  <a:endParaRPr lang="fr-FR"/>
                </a:p>
              </c:txPr>
              <c:showLegendKey val="0"/>
              <c:showVal val="1"/>
              <c:showCatName val="0"/>
              <c:showSerName val="0"/>
              <c:showPercent val="0"/>
              <c:showBubbleSize val="0"/>
              <c:extLst>
                <c:ext xmlns:c16="http://schemas.microsoft.com/office/drawing/2014/chart" uri="{C3380CC4-5D6E-409C-BE32-E72D297353CC}">
                  <c16:uniqueId val="{00000009-29CF-4332-BBA3-EB3A25B72F7E}"/>
                </c:ext>
              </c:extLst>
            </c:dLbl>
            <c:dLbl>
              <c:idx val="5"/>
              <c:spPr>
                <a:noFill/>
                <a:ln>
                  <a:noFill/>
                </a:ln>
                <a:effectLst/>
              </c:spPr>
              <c:txPr>
                <a:bodyPr rot="0" spcFirstLastPara="1" vertOverflow="ellipsis" vert="horz" wrap="square" lIns="38100" tIns="19050" rIns="38100" bIns="19050" anchor="ctr" anchorCtr="1">
                  <a:spAutoFit/>
                </a:bodyPr>
                <a:lstStyle/>
                <a:p>
                  <a:pPr>
                    <a:defRPr sz="910" b="0" i="0" u="none" strike="noStrike" kern="1200" baseline="0">
                      <a:solidFill>
                        <a:sysClr val="windowText" lastClr="000000"/>
                      </a:solidFill>
                      <a:latin typeface="+mn-lt"/>
                      <a:ea typeface="+mn-ea"/>
                      <a:cs typeface="+mn-cs"/>
                    </a:defRPr>
                  </a:pPr>
                  <a:endParaRPr lang="fr-FR"/>
                </a:p>
              </c:txPr>
              <c:showLegendKey val="0"/>
              <c:showVal val="1"/>
              <c:showCatName val="0"/>
              <c:showSerName val="0"/>
              <c:showPercent val="0"/>
              <c:showBubbleSize val="0"/>
              <c:extLst>
                <c:ext xmlns:c16="http://schemas.microsoft.com/office/drawing/2014/chart" uri="{C3380CC4-5D6E-409C-BE32-E72D297353CC}">
                  <c16:uniqueId val="{0000000B-29CF-4332-BBA3-EB3A25B72F7E}"/>
                </c:ext>
              </c:extLst>
            </c:dLbl>
            <c:spPr>
              <a:noFill/>
              <a:ln>
                <a:noFill/>
              </a:ln>
              <a:effectLst/>
            </c:spPr>
            <c:txPr>
              <a:bodyPr rot="0" spcFirstLastPara="1" vertOverflow="ellipsis" vert="horz" wrap="square" lIns="38100" tIns="19050" rIns="38100" bIns="19050" anchor="ctr" anchorCtr="1">
                <a:spAutoFit/>
              </a:bodyPr>
              <a:lstStyle/>
              <a:p>
                <a:pPr>
                  <a:defRPr sz="910" b="0"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Feuil1!$A$1:$A$6</c:f>
              <c:strCache>
                <c:ptCount val="5"/>
                <c:pt idx="0">
                  <c:v>Nourriture</c:v>
                </c:pt>
                <c:pt idx="1">
                  <c:v>Traitement</c:v>
                </c:pt>
                <c:pt idx="2">
                  <c:v>Aliments pour animaux</c:v>
                </c:pt>
                <c:pt idx="3">
                  <c:v>Autres utilisation</c:v>
                </c:pt>
                <c:pt idx="4">
                  <c:v>Pertes</c:v>
                </c:pt>
              </c:strCache>
            </c:strRef>
          </c:cat>
          <c:val>
            <c:numRef>
              <c:f>Feuil1!$B$1:$B$6</c:f>
              <c:numCache>
                <c:formatCode>0.0</c:formatCode>
                <c:ptCount val="6"/>
                <c:pt idx="0">
                  <c:v>57.517241379310299</c:v>
                </c:pt>
                <c:pt idx="1">
                  <c:v>17.029310344827501</c:v>
                </c:pt>
                <c:pt idx="2">
                  <c:v>12.0264367816091</c:v>
                </c:pt>
                <c:pt idx="3">
                  <c:v>9</c:v>
                </c:pt>
                <c:pt idx="4">
                  <c:v>4.6545977011494202</c:v>
                </c:pt>
              </c:numCache>
            </c:numRef>
          </c:val>
          <c:extLst>
            <c:ext xmlns:c16="http://schemas.microsoft.com/office/drawing/2014/chart" uri="{C3380CC4-5D6E-409C-BE32-E72D297353CC}">
              <c16:uniqueId val="{0000000C-29CF-4332-BBA3-EB3A25B72F7E}"/>
            </c:ext>
          </c:extLst>
        </c:ser>
        <c:dLbls>
          <c:showLegendKey val="0"/>
          <c:showVal val="0"/>
          <c:showCatName val="0"/>
          <c:showSerName val="0"/>
          <c:showPercent val="0"/>
          <c:showBubbleSize val="0"/>
          <c:showLeaderLines val="1"/>
        </c:dLbls>
        <c:firstSliceAng val="0"/>
      </c:pieChart>
      <c:spPr>
        <a:noFill/>
        <a:ln>
          <a:noFill/>
        </a:ln>
        <a:effectLst/>
      </c:spPr>
    </c:plotArea>
    <c:legend>
      <c:legendPos val="l"/>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33f607d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2233f607d4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7"/>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7" name="Google Shape;17;p17"/>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lnSpc>
                <a:spcPct val="100000"/>
              </a:lnSpc>
              <a:spcBef>
                <a:spcPts val="360"/>
              </a:spcBef>
              <a:spcAft>
                <a:spcPts val="0"/>
              </a:spcAft>
              <a:buSzPts val="1800"/>
              <a:buNone/>
              <a:defRPr>
                <a:solidFill>
                  <a:schemeClr val="lt1"/>
                </a:solidFill>
              </a:defRPr>
            </a:lvl1pPr>
            <a:lvl2pPr lvl="1" algn="ctr">
              <a:lnSpc>
                <a:spcPct val="100000"/>
              </a:lnSpc>
              <a:spcBef>
                <a:spcPts val="600"/>
              </a:spcBef>
              <a:spcAft>
                <a:spcPts val="0"/>
              </a:spcAft>
              <a:buSzPts val="1600"/>
              <a:buNone/>
              <a:defRPr>
                <a:solidFill>
                  <a:schemeClr val="lt1"/>
                </a:solidFill>
              </a:defRPr>
            </a:lvl2pPr>
            <a:lvl3pPr lvl="2" algn="ctr">
              <a:lnSpc>
                <a:spcPct val="100000"/>
              </a:lnSpc>
              <a:spcBef>
                <a:spcPts val="600"/>
              </a:spcBef>
              <a:spcAft>
                <a:spcPts val="0"/>
              </a:spcAft>
              <a:buSzPts val="1400"/>
              <a:buNone/>
              <a:defRPr>
                <a:solidFill>
                  <a:schemeClr val="lt1"/>
                </a:solidFill>
              </a:defRPr>
            </a:lvl3pPr>
            <a:lvl4pPr lvl="3" algn="ctr">
              <a:lnSpc>
                <a:spcPct val="100000"/>
              </a:lnSpc>
              <a:spcBef>
                <a:spcPts val="600"/>
              </a:spcBef>
              <a:spcAft>
                <a:spcPts val="0"/>
              </a:spcAft>
              <a:buSzPts val="1200"/>
              <a:buNone/>
              <a:defRPr>
                <a:solidFill>
                  <a:schemeClr val="lt1"/>
                </a:solidFill>
              </a:defRPr>
            </a:lvl4pPr>
            <a:lvl5pPr lvl="4" algn="ctr">
              <a:lnSpc>
                <a:spcPct val="100000"/>
              </a:lnSpc>
              <a:spcBef>
                <a:spcPts val="600"/>
              </a:spcBef>
              <a:spcAft>
                <a:spcPts val="0"/>
              </a:spcAft>
              <a:buSzPts val="1200"/>
              <a:buNone/>
              <a:defRPr>
                <a:solidFill>
                  <a:schemeClr val="lt1"/>
                </a:solidFill>
              </a:defRPr>
            </a:lvl5pPr>
            <a:lvl6pPr lvl="5" algn="ctr">
              <a:lnSpc>
                <a:spcPct val="100000"/>
              </a:lnSpc>
              <a:spcBef>
                <a:spcPts val="600"/>
              </a:spcBef>
              <a:spcAft>
                <a:spcPts val="0"/>
              </a:spcAft>
              <a:buSzPts val="1200"/>
              <a:buNone/>
              <a:defRPr>
                <a:solidFill>
                  <a:schemeClr val="lt1"/>
                </a:solidFill>
              </a:defRPr>
            </a:lvl6pPr>
            <a:lvl7pPr lvl="6" algn="ctr">
              <a:lnSpc>
                <a:spcPct val="100000"/>
              </a:lnSpc>
              <a:spcBef>
                <a:spcPts val="600"/>
              </a:spcBef>
              <a:spcAft>
                <a:spcPts val="0"/>
              </a:spcAft>
              <a:buSzPts val="1200"/>
              <a:buNone/>
              <a:defRPr>
                <a:solidFill>
                  <a:schemeClr val="lt1"/>
                </a:solidFill>
              </a:defRPr>
            </a:lvl7pPr>
            <a:lvl8pPr lvl="7" algn="ctr">
              <a:lnSpc>
                <a:spcPct val="100000"/>
              </a:lnSpc>
              <a:spcBef>
                <a:spcPts val="600"/>
              </a:spcBef>
              <a:spcAft>
                <a:spcPts val="0"/>
              </a:spcAft>
              <a:buSzPts val="1200"/>
              <a:buNone/>
              <a:defRPr>
                <a:solidFill>
                  <a:schemeClr val="lt1"/>
                </a:solidFill>
              </a:defRPr>
            </a:lvl8pPr>
            <a:lvl9pPr lvl="8" algn="ctr">
              <a:lnSpc>
                <a:spcPct val="100000"/>
              </a:lnSpc>
              <a:spcBef>
                <a:spcPts val="600"/>
              </a:spcBef>
              <a:spcAft>
                <a:spcPts val="600"/>
              </a:spcAft>
              <a:buSzPts val="1200"/>
              <a:buNone/>
              <a:defRPr>
                <a:solidFill>
                  <a:schemeClr val="lt1"/>
                </a:solidFill>
              </a:defRPr>
            </a:lvl9pPr>
          </a:lstStyle>
          <a:p>
            <a:endParaRPr/>
          </a:p>
        </p:txBody>
      </p:sp>
      <p:sp>
        <p:nvSpPr>
          <p:cNvPr id="19" name="Google Shape;19;p1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2"/>
        <p:cNvGrpSpPr/>
        <p:nvPr/>
      </p:nvGrpSpPr>
      <p:grpSpPr>
        <a:xfrm>
          <a:off x="0" y="0"/>
          <a:ext cx="0" cy="0"/>
          <a:chOff x="0" y="0"/>
          <a:chExt cx="0" cy="0"/>
        </a:xfrm>
      </p:grpSpPr>
      <p:sp>
        <p:nvSpPr>
          <p:cNvPr id="23" name="Google Shape;23;p18"/>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4" name="Google Shape;24;p1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6" name="Google Shape;26;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tête de section" type="secHead">
  <p:cSld name="SECTION_HEADER">
    <p:spTree>
      <p:nvGrpSpPr>
        <p:cNvPr id="1" name="Shape 29"/>
        <p:cNvGrpSpPr/>
        <p:nvPr/>
      </p:nvGrpSpPr>
      <p:grpSpPr>
        <a:xfrm>
          <a:off x="0" y="0"/>
          <a:ext cx="0" cy="0"/>
          <a:chOff x="0" y="0"/>
          <a:chExt cx="0" cy="0"/>
        </a:xfrm>
      </p:grpSpPr>
      <p:sp>
        <p:nvSpPr>
          <p:cNvPr id="30" name="Google Shape;30;p19"/>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1" name="Google Shape;31;p19"/>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lnSpc>
                <a:spcPct val="100000"/>
              </a:lnSpc>
              <a:spcBef>
                <a:spcPts val="0"/>
              </a:spcBef>
              <a:spcAft>
                <a:spcPts val="0"/>
              </a:spcAft>
              <a:buClr>
                <a:srgbClr val="FEFEFE"/>
              </a:buClr>
              <a:buSzPts val="4800"/>
              <a:buFont typeface="Century Gothic"/>
              <a:buNone/>
              <a:defRPr sz="48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33" name="Google Shape;33;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6"/>
        <p:cNvGrpSpPr/>
        <p:nvPr/>
      </p:nvGrpSpPr>
      <p:grpSpPr>
        <a:xfrm>
          <a:off x="0" y="0"/>
          <a:ext cx="0" cy="0"/>
          <a:chOff x="0" y="0"/>
          <a:chExt cx="0" cy="0"/>
        </a:xfrm>
      </p:grpSpPr>
      <p:sp>
        <p:nvSpPr>
          <p:cNvPr id="37" name="Google Shape;37;p2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8" name="Google Shape;38;p2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0" name="Google Shape;40;p20"/>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1" name="Google Shape;41;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4"/>
        <p:cNvGrpSpPr/>
        <p:nvPr/>
      </p:nvGrpSpPr>
      <p:grpSpPr>
        <a:xfrm>
          <a:off x="0" y="0"/>
          <a:ext cx="0" cy="0"/>
          <a:chOff x="0" y="0"/>
          <a:chExt cx="0" cy="0"/>
        </a:xfrm>
      </p:grpSpPr>
      <p:sp>
        <p:nvSpPr>
          <p:cNvPr id="45" name="Google Shape;45;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6" name="Google Shape;46;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48" name="Google Shape;48;p21"/>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9" name="Google Shape;49;p21"/>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50" name="Google Shape;50;p21"/>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51" name="Google Shape;5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uniquement" type="titleOnly">
  <p:cSld name="TITLE_ONLY">
    <p:spTree>
      <p:nvGrpSpPr>
        <p:cNvPr id="1" name="Shape 54"/>
        <p:cNvGrpSpPr/>
        <p:nvPr/>
      </p:nvGrpSpPr>
      <p:grpSpPr>
        <a:xfrm>
          <a:off x="0" y="0"/>
          <a:ext cx="0" cy="0"/>
          <a:chOff x="0" y="0"/>
          <a:chExt cx="0" cy="0"/>
        </a:xfrm>
      </p:grpSpPr>
      <p:sp>
        <p:nvSpPr>
          <p:cNvPr id="55" name="Google Shape;55;p2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6" name="Google Shape;56;p2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0"/>
        <p:cNvGrpSpPr/>
        <p:nvPr/>
      </p:nvGrpSpPr>
      <p:grpSpPr>
        <a:xfrm>
          <a:off x="0" y="0"/>
          <a:ext cx="0" cy="0"/>
          <a:chOff x="0" y="0"/>
          <a:chExt cx="0" cy="0"/>
        </a:xfrm>
      </p:grpSpPr>
      <p:sp>
        <p:nvSpPr>
          <p:cNvPr id="61" name="Google Shape;61;p2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4"/>
        <p:cNvGrpSpPr/>
        <p:nvPr/>
      </p:nvGrpSpPr>
      <p:grpSpPr>
        <a:xfrm>
          <a:off x="0" y="0"/>
          <a:ext cx="0" cy="0"/>
          <a:chOff x="0" y="0"/>
          <a:chExt cx="0" cy="0"/>
        </a:xfrm>
      </p:grpSpPr>
      <p:sp>
        <p:nvSpPr>
          <p:cNvPr id="65" name="Google Shape;65;p24"/>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6" name="Google Shape;66;p24"/>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2000"/>
              <a:buFont typeface="Century Gothic"/>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68" name="Google Shape;68;p24"/>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80"/>
              </a:spcBef>
              <a:spcAft>
                <a:spcPts val="0"/>
              </a:spcAft>
              <a:buSzPts val="1400"/>
              <a:buNone/>
              <a:defRPr sz="14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69" name="Google Shape;69;p2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a:effectLst>
            <a:outerShdw blurRad="50800">
              <a:srgbClr val="000000">
                <a:alpha val="40000"/>
              </a:srgbClr>
            </a:outerShdw>
          </a:effectLst>
        </p:spPr>
      </p:sp>
      <p:sp>
        <p:nvSpPr>
          <p:cNvPr id="75" name="Google Shape;75;p25"/>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76" name="Google Shape;76;p25"/>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panoramique avec légende">
  <p:cSld name="Image panoramique avec légende">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82" name="Google Shape;82;p26"/>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83" name="Google Shape;83;p2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tion avec légende">
  <p:cSld name="Citation avec légende">
    <p:spTree>
      <p:nvGrpSpPr>
        <p:cNvPr id="1" name="Shape 86"/>
        <p:cNvGrpSpPr/>
        <p:nvPr/>
      </p:nvGrpSpPr>
      <p:grpSpPr>
        <a:xfrm>
          <a:off x="0" y="0"/>
          <a:ext cx="0" cy="0"/>
          <a:chOff x="0" y="0"/>
          <a:chExt cx="0" cy="0"/>
        </a:xfrm>
      </p:grpSpPr>
      <p:sp>
        <p:nvSpPr>
          <p:cNvPr id="87" name="Google Shape;87;p27"/>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8" name="Google Shape;88;p27"/>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200"/>
              <a:buFont typeface="Century Gothic"/>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7"/>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90" name="Google Shape;90;p27"/>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1" name="Google Shape;91;p2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rte de nom">
  <p:cSld name="Carte de nom">
    <p:spTree>
      <p:nvGrpSpPr>
        <p:cNvPr id="1" name="Shape 94"/>
        <p:cNvGrpSpPr/>
        <p:nvPr/>
      </p:nvGrpSpPr>
      <p:grpSpPr>
        <a:xfrm>
          <a:off x="0" y="0"/>
          <a:ext cx="0" cy="0"/>
          <a:chOff x="0" y="0"/>
          <a:chExt cx="0" cy="0"/>
        </a:xfrm>
      </p:grpSpPr>
      <p:sp>
        <p:nvSpPr>
          <p:cNvPr id="95" name="Google Shape;95;p28"/>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6" name="Google Shape;96;p28"/>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8"/>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8" name="Google Shape;98;p2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01"/>
        <p:cNvGrpSpPr/>
        <p:nvPr/>
      </p:nvGrpSpPr>
      <p:grpSpPr>
        <a:xfrm>
          <a:off x="0" y="0"/>
          <a:ext cx="0" cy="0"/>
          <a:chOff x="0" y="0"/>
          <a:chExt cx="0" cy="0"/>
        </a:xfrm>
      </p:grpSpPr>
      <p:sp>
        <p:nvSpPr>
          <p:cNvPr id="102" name="Google Shape;102;p2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3" name="Google Shape;103;p2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05" name="Google Shape;105;p2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08"/>
        <p:cNvGrpSpPr/>
        <p:nvPr/>
      </p:nvGrpSpPr>
      <p:grpSpPr>
        <a:xfrm>
          <a:off x="0" y="0"/>
          <a:ext cx="0" cy="0"/>
          <a:chOff x="0" y="0"/>
          <a:chExt cx="0" cy="0"/>
        </a:xfrm>
      </p:grpSpPr>
      <p:sp>
        <p:nvSpPr>
          <p:cNvPr id="109" name="Google Shape;109;p30"/>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10" name="Google Shape;110;p30"/>
          <p:cNvSpPr txBox="1">
            <a:spLocks noGrp="1"/>
          </p:cNvSpPr>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0"/>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12" name="Google Shape;112;p3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lnSpc>
                <a:spcPct val="100000"/>
              </a:lnSpc>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100000"/>
              </a:lnSpc>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100000"/>
              </a:lnSpc>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12" name="Google Shape;12;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3" name="Google Shape;13;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9"/>
        <p:cNvGrpSpPr/>
        <p:nvPr/>
      </p:nvGrpSpPr>
      <p:grpSpPr>
        <a:xfrm>
          <a:off x="0" y="0"/>
          <a:ext cx="0" cy="0"/>
          <a:chOff x="0" y="0"/>
          <a:chExt cx="0" cy="0"/>
        </a:xfrm>
      </p:grpSpPr>
      <p:sp>
        <p:nvSpPr>
          <p:cNvPr id="120" name="Google Shape;120;p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entury Gothic"/>
              <a:ea typeface="Century Gothic"/>
              <a:cs typeface="Century Gothic"/>
              <a:sym typeface="Century Gothic"/>
            </a:endParaRPr>
          </a:p>
        </p:txBody>
      </p:sp>
      <p:sp>
        <p:nvSpPr>
          <p:cNvPr id="121" name="Google Shape;121;p1"/>
          <p:cNvSpPr/>
          <p:nvPr/>
        </p:nvSpPr>
        <p:spPr>
          <a:xfrm rot="-5400000">
            <a:off x="-650724" y="650724"/>
            <a:ext cx="6858000" cy="5556552"/>
          </a:xfrm>
          <a:custGeom>
            <a:avLst/>
            <a:gdLst/>
            <a:ahLst/>
            <a:cxnLst/>
            <a:rect l="l" t="t" r="r" b="b"/>
            <a:pathLst>
              <a:path w="6858000" h="5556552" extrusionOk="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txBox="1">
            <a:spLocks noGrp="1"/>
          </p:cNvSpPr>
          <p:nvPr>
            <p:ph type="subTitle" idx="1"/>
          </p:nvPr>
        </p:nvSpPr>
        <p:spPr>
          <a:xfrm>
            <a:off x="643466" y="2281574"/>
            <a:ext cx="3994015" cy="229485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800"/>
              <a:buNone/>
            </a:pPr>
            <a:r>
              <a:rPr lang="fr-FR" sz="2800" dirty="0"/>
              <a:t>Anthony Leray</a:t>
            </a:r>
            <a:endParaRPr sz="2800" dirty="0"/>
          </a:p>
          <a:p>
            <a:pPr marL="0" lvl="0" indent="0" algn="ctr" rtl="0">
              <a:lnSpc>
                <a:spcPct val="100000"/>
              </a:lnSpc>
              <a:spcBef>
                <a:spcPts val="1160"/>
              </a:spcBef>
              <a:spcAft>
                <a:spcPts val="0"/>
              </a:spcAft>
              <a:buSzPts val="2800"/>
              <a:buNone/>
            </a:pPr>
            <a:r>
              <a:rPr lang="fr-FR" sz="2800" dirty="0"/>
              <a:t>FAO</a:t>
            </a:r>
            <a:endParaRPr dirty="0"/>
          </a:p>
        </p:txBody>
      </p:sp>
      <p:sp>
        <p:nvSpPr>
          <p:cNvPr id="123" name="Google Shape;123;p1"/>
          <p:cNvSpPr txBox="1">
            <a:spLocks noGrp="1"/>
          </p:cNvSpPr>
          <p:nvPr>
            <p:ph type="ctrTitle"/>
          </p:nvPr>
        </p:nvSpPr>
        <p:spPr>
          <a:xfrm>
            <a:off x="5803899" y="122751"/>
            <a:ext cx="5452533" cy="3306249"/>
          </a:xfrm>
          <a:prstGeom prst="rect">
            <a:avLst/>
          </a:prstGeom>
          <a:noFill/>
          <a:ln>
            <a:noFill/>
          </a:ln>
          <a:effectLst>
            <a:outerShdw blurRad="50800">
              <a:srgbClr val="000000">
                <a:alpha val="6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EFEFE"/>
              </a:buClr>
              <a:buSzPts val="4400"/>
              <a:buFont typeface="Century Gothic"/>
              <a:buNone/>
            </a:pPr>
            <a:r>
              <a:rPr lang="fr-FR" sz="4400" dirty="0"/>
              <a:t>Étude sur l’alimentation dans le monde</a:t>
            </a:r>
            <a:endParaRPr dirty="0"/>
          </a:p>
        </p:txBody>
      </p:sp>
      <p:pic>
        <p:nvPicPr>
          <p:cNvPr id="124" name="Google Shape;124;p1" descr="Tout savoir sur les bienfaits d'une alimentation bio pour bébé | Autour de  bébé | Conseils"/>
          <p:cNvPicPr preferRelativeResize="0"/>
          <p:nvPr/>
        </p:nvPicPr>
        <p:blipFill rotWithShape="1">
          <a:blip r:embed="rId3">
            <a:alphaModFix/>
          </a:blip>
          <a:srcRect/>
          <a:stretch/>
        </p:blipFill>
        <p:spPr>
          <a:xfrm>
            <a:off x="5638800" y="3497385"/>
            <a:ext cx="6553200" cy="336061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Contexte et spécification des données</a:t>
            </a:r>
            <a:endParaRPr sz="3200"/>
          </a:p>
        </p:txBody>
      </p:sp>
      <p:sp>
        <p:nvSpPr>
          <p:cNvPr id="6" name="ZoneTexte 5">
            <a:extLst>
              <a:ext uri="{FF2B5EF4-FFF2-40B4-BE49-F238E27FC236}">
                <a16:creationId xmlns:a16="http://schemas.microsoft.com/office/drawing/2014/main" id="{2387FB14-0E91-6A91-3971-AE4A41AE230C}"/>
              </a:ext>
            </a:extLst>
          </p:cNvPr>
          <p:cNvSpPr txBox="1"/>
          <p:nvPr/>
        </p:nvSpPr>
        <p:spPr>
          <a:xfrm>
            <a:off x="368808" y="3651576"/>
            <a:ext cx="6391656" cy="2308324"/>
          </a:xfrm>
          <a:prstGeom prst="rect">
            <a:avLst/>
          </a:prstGeom>
          <a:noFill/>
        </p:spPr>
        <p:txBody>
          <a:bodyPr wrap="square" rtlCol="0">
            <a:spAutoFit/>
          </a:bodyPr>
          <a:lstStyle/>
          <a:p>
            <a:pPr marL="285750" indent="-285750">
              <a:buClr>
                <a:schemeClr val="bg1"/>
              </a:buClr>
              <a:buFont typeface="Wingdings" panose="05000000000000000000" pitchFamily="2" charset="2"/>
              <a:buChar char="q"/>
            </a:pPr>
            <a:r>
              <a:rPr lang="fr-FR" sz="1600" b="1" dirty="0">
                <a:solidFill>
                  <a:schemeClr val="bg1"/>
                </a:solidFill>
              </a:rPr>
              <a:t>Présentation des données sur l’alimentation dans le monde pour la période 2013 – 2017.</a:t>
            </a:r>
          </a:p>
          <a:p>
            <a:pPr marL="285750" indent="-285750">
              <a:buClr>
                <a:schemeClr val="bg1"/>
              </a:buClr>
              <a:buFont typeface="Wingdings" panose="05000000000000000000" pitchFamily="2" charset="2"/>
              <a:buChar char="q"/>
            </a:pPr>
            <a:endParaRPr lang="fr-FR" sz="1600" b="1" dirty="0">
              <a:solidFill>
                <a:schemeClr val="bg1"/>
              </a:solidFill>
            </a:endParaRPr>
          </a:p>
          <a:p>
            <a:pPr marL="285750" indent="-285750">
              <a:buClr>
                <a:schemeClr val="bg1"/>
              </a:buClr>
              <a:buFont typeface="Wingdings" panose="05000000000000000000" pitchFamily="2" charset="2"/>
              <a:buChar char="q"/>
            </a:pPr>
            <a:endParaRPr lang="fr-FR" sz="1600" b="1" dirty="0">
              <a:solidFill>
                <a:schemeClr val="bg1"/>
              </a:solidFill>
            </a:endParaRPr>
          </a:p>
          <a:p>
            <a:pPr marL="285750" indent="-285750">
              <a:buClr>
                <a:schemeClr val="bg1"/>
              </a:buClr>
              <a:buFont typeface="Wingdings" panose="05000000000000000000" pitchFamily="2" charset="2"/>
              <a:buChar char="q"/>
            </a:pPr>
            <a:r>
              <a:rPr lang="fr-FR" sz="1600" b="1" dirty="0">
                <a:solidFill>
                  <a:schemeClr val="bg1"/>
                </a:solidFill>
              </a:rPr>
              <a:t>Les données sont produites par notre agence : la FAO. Elles couvrent 236 états</a:t>
            </a:r>
          </a:p>
          <a:p>
            <a:endParaRPr lang="fr-FR" sz="1600" b="1" dirty="0">
              <a:solidFill>
                <a:schemeClr val="bg1"/>
              </a:solidFill>
            </a:endParaRPr>
          </a:p>
          <a:p>
            <a:endParaRPr lang="fr-FR" sz="1600" b="1" dirty="0">
              <a:solidFill>
                <a:schemeClr val="bg1"/>
              </a:solidFill>
            </a:endParaRPr>
          </a:p>
          <a:p>
            <a:endParaRPr lang="fr-FR" sz="1600" b="1" dirty="0">
              <a:solidFill>
                <a:schemeClr val="bg1"/>
              </a:solidFill>
            </a:endParaRPr>
          </a:p>
        </p:txBody>
      </p:sp>
      <p:sp>
        <p:nvSpPr>
          <p:cNvPr id="8" name="ZoneTexte 7">
            <a:extLst>
              <a:ext uri="{FF2B5EF4-FFF2-40B4-BE49-F238E27FC236}">
                <a16:creationId xmlns:a16="http://schemas.microsoft.com/office/drawing/2014/main" id="{38D9F39F-EC02-BAF9-417B-2779E19E446F}"/>
              </a:ext>
            </a:extLst>
          </p:cNvPr>
          <p:cNvSpPr txBox="1"/>
          <p:nvPr/>
        </p:nvSpPr>
        <p:spPr>
          <a:xfrm>
            <a:off x="7141464" y="2501803"/>
            <a:ext cx="4782312" cy="1323439"/>
          </a:xfrm>
          <a:prstGeom prst="rect">
            <a:avLst/>
          </a:prstGeom>
          <a:noFill/>
        </p:spPr>
        <p:txBody>
          <a:bodyPr wrap="square" rtlCol="0">
            <a:spAutoFit/>
          </a:bodyPr>
          <a:lstStyle/>
          <a:p>
            <a:endParaRPr lang="fr-FR" sz="1600" b="1" dirty="0">
              <a:solidFill>
                <a:schemeClr val="bg1"/>
              </a:solidFill>
            </a:endParaRPr>
          </a:p>
          <a:p>
            <a:endParaRPr lang="fr-FR" sz="1600" b="1" dirty="0">
              <a:solidFill>
                <a:schemeClr val="bg1"/>
              </a:solidFill>
            </a:endParaRPr>
          </a:p>
          <a:p>
            <a:endParaRPr lang="fr-FR" sz="1600" b="1" dirty="0">
              <a:solidFill>
                <a:schemeClr val="bg1"/>
              </a:solidFill>
            </a:endParaRPr>
          </a:p>
          <a:p>
            <a:r>
              <a:rPr lang="fr-FR" sz="1600" b="1" dirty="0">
                <a:solidFill>
                  <a:schemeClr val="bg1"/>
                </a:solidFill>
              </a:rPr>
              <a:t>Nous avons à notre disposition 4 documents fournissant des données sur : </a:t>
            </a:r>
          </a:p>
        </p:txBody>
      </p:sp>
      <p:sp>
        <p:nvSpPr>
          <p:cNvPr id="10" name="ZoneTexte 9">
            <a:extLst>
              <a:ext uri="{FF2B5EF4-FFF2-40B4-BE49-F238E27FC236}">
                <a16:creationId xmlns:a16="http://schemas.microsoft.com/office/drawing/2014/main" id="{9D81BDD9-42C5-48D6-BCAB-1F4F3873130C}"/>
              </a:ext>
            </a:extLst>
          </p:cNvPr>
          <p:cNvSpPr txBox="1"/>
          <p:nvPr/>
        </p:nvSpPr>
        <p:spPr>
          <a:xfrm>
            <a:off x="9637776" y="5442459"/>
            <a:ext cx="2185416" cy="576000"/>
          </a:xfrm>
          <a:prstGeom prst="rect">
            <a:avLst/>
          </a:prstGeom>
          <a:noFill/>
          <a:ln cap="rnd" cmpd="sng">
            <a:solidFill>
              <a:schemeClr val="bg1"/>
            </a:solidFill>
            <a:extLst>
              <a:ext uri="{C807C97D-BFC1-408E-A445-0C87EB9F89A2}">
                <ask:lineSketchStyleProps xmlns:ask="http://schemas.microsoft.com/office/drawing/2018/sketchyshapes" sd="1219033472">
                  <a:custGeom>
                    <a:avLst/>
                    <a:gdLst>
                      <a:gd name="connsiteX0" fmla="*/ 0 w 2185416"/>
                      <a:gd name="connsiteY0" fmla="*/ 0 h 307777"/>
                      <a:gd name="connsiteX1" fmla="*/ 2185416 w 2185416"/>
                      <a:gd name="connsiteY1" fmla="*/ 0 h 307777"/>
                      <a:gd name="connsiteX2" fmla="*/ 2185416 w 2185416"/>
                      <a:gd name="connsiteY2" fmla="*/ 307777 h 307777"/>
                      <a:gd name="connsiteX3" fmla="*/ 0 w 2185416"/>
                      <a:gd name="connsiteY3" fmla="*/ 307777 h 307777"/>
                      <a:gd name="connsiteX4" fmla="*/ 0 w 2185416"/>
                      <a:gd name="connsiteY4" fmla="*/ 0 h 307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416" h="307777" extrusionOk="0">
                        <a:moveTo>
                          <a:pt x="0" y="0"/>
                        </a:moveTo>
                        <a:cubicBezTo>
                          <a:pt x="271460" y="118645"/>
                          <a:pt x="1744822" y="116012"/>
                          <a:pt x="2185416" y="0"/>
                        </a:cubicBezTo>
                        <a:cubicBezTo>
                          <a:pt x="2193108" y="56473"/>
                          <a:pt x="2203123" y="233743"/>
                          <a:pt x="2185416" y="307777"/>
                        </a:cubicBezTo>
                        <a:cubicBezTo>
                          <a:pt x="1693401" y="442377"/>
                          <a:pt x="524301" y="150581"/>
                          <a:pt x="0" y="307777"/>
                        </a:cubicBezTo>
                        <a:cubicBezTo>
                          <a:pt x="25340" y="200698"/>
                          <a:pt x="-1999" y="43378"/>
                          <a:pt x="0" y="0"/>
                        </a:cubicBezTo>
                        <a:close/>
                      </a:path>
                    </a:pathLst>
                  </a:custGeom>
                  <ask:type>
                    <ask:lineSketchNone/>
                  </ask:type>
                </ask:lineSketchStyleProps>
              </a:ext>
            </a:extLst>
          </a:ln>
        </p:spPr>
        <p:txBody>
          <a:bodyPr wrap="square" rtlCol="0" anchor="ctr">
            <a:spAutoFit/>
          </a:bodyPr>
          <a:lstStyle/>
          <a:p>
            <a:pPr algn="ctr"/>
            <a:r>
              <a:rPr lang="fr-FR" sz="1400" b="1" dirty="0">
                <a:solidFill>
                  <a:schemeClr val="bg1"/>
                </a:solidFill>
              </a:rPr>
              <a:t>L’aide alimentaire</a:t>
            </a:r>
            <a:endParaRPr lang="fr-FR" dirty="0"/>
          </a:p>
        </p:txBody>
      </p:sp>
      <p:sp>
        <p:nvSpPr>
          <p:cNvPr id="11" name="ZoneTexte 10">
            <a:extLst>
              <a:ext uri="{FF2B5EF4-FFF2-40B4-BE49-F238E27FC236}">
                <a16:creationId xmlns:a16="http://schemas.microsoft.com/office/drawing/2014/main" id="{D33DC84A-0ACB-0494-2258-922B7929BAB1}"/>
              </a:ext>
            </a:extLst>
          </p:cNvPr>
          <p:cNvSpPr txBox="1"/>
          <p:nvPr/>
        </p:nvSpPr>
        <p:spPr>
          <a:xfrm>
            <a:off x="7223760" y="5442459"/>
            <a:ext cx="2185416" cy="576000"/>
          </a:xfrm>
          <a:prstGeom prst="rect">
            <a:avLst/>
          </a:prstGeom>
          <a:noFill/>
          <a:ln cap="rnd" cmpd="sng">
            <a:solidFill>
              <a:schemeClr val="bg1"/>
            </a:solidFill>
            <a:extLst>
              <a:ext uri="{C807C97D-BFC1-408E-A445-0C87EB9F89A2}">
                <ask:lineSketchStyleProps xmlns:ask="http://schemas.microsoft.com/office/drawing/2018/sketchyshapes" sd="1219033472">
                  <a:custGeom>
                    <a:avLst/>
                    <a:gdLst>
                      <a:gd name="connsiteX0" fmla="*/ 0 w 2185416"/>
                      <a:gd name="connsiteY0" fmla="*/ 0 h 307777"/>
                      <a:gd name="connsiteX1" fmla="*/ 2185416 w 2185416"/>
                      <a:gd name="connsiteY1" fmla="*/ 0 h 307777"/>
                      <a:gd name="connsiteX2" fmla="*/ 2185416 w 2185416"/>
                      <a:gd name="connsiteY2" fmla="*/ 307777 h 307777"/>
                      <a:gd name="connsiteX3" fmla="*/ 0 w 2185416"/>
                      <a:gd name="connsiteY3" fmla="*/ 307777 h 307777"/>
                      <a:gd name="connsiteX4" fmla="*/ 0 w 2185416"/>
                      <a:gd name="connsiteY4" fmla="*/ 0 h 307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416" h="307777" extrusionOk="0">
                        <a:moveTo>
                          <a:pt x="0" y="0"/>
                        </a:moveTo>
                        <a:cubicBezTo>
                          <a:pt x="271460" y="118645"/>
                          <a:pt x="1744822" y="116012"/>
                          <a:pt x="2185416" y="0"/>
                        </a:cubicBezTo>
                        <a:cubicBezTo>
                          <a:pt x="2193108" y="56473"/>
                          <a:pt x="2203123" y="233743"/>
                          <a:pt x="2185416" y="307777"/>
                        </a:cubicBezTo>
                        <a:cubicBezTo>
                          <a:pt x="1693401" y="442377"/>
                          <a:pt x="524301" y="150581"/>
                          <a:pt x="0" y="307777"/>
                        </a:cubicBezTo>
                        <a:cubicBezTo>
                          <a:pt x="25340" y="200698"/>
                          <a:pt x="-1999" y="43378"/>
                          <a:pt x="0" y="0"/>
                        </a:cubicBezTo>
                        <a:close/>
                      </a:path>
                    </a:pathLst>
                  </a:custGeom>
                  <ask:type>
                    <ask:lineSketchNone/>
                  </ask:type>
                </ask:lineSketchStyleProps>
              </a:ext>
            </a:extLst>
          </a:ln>
        </p:spPr>
        <p:txBody>
          <a:bodyPr wrap="square" rtlCol="0" anchor="ctr">
            <a:spAutoFit/>
          </a:bodyPr>
          <a:lstStyle/>
          <a:p>
            <a:pPr algn="ctr"/>
            <a:r>
              <a:rPr lang="fr-FR" sz="1400" b="1" dirty="0">
                <a:solidFill>
                  <a:schemeClr val="bg1"/>
                </a:solidFill>
              </a:rPr>
              <a:t>La population</a:t>
            </a:r>
          </a:p>
        </p:txBody>
      </p:sp>
      <p:sp>
        <p:nvSpPr>
          <p:cNvPr id="12" name="ZoneTexte 11">
            <a:extLst>
              <a:ext uri="{FF2B5EF4-FFF2-40B4-BE49-F238E27FC236}">
                <a16:creationId xmlns:a16="http://schemas.microsoft.com/office/drawing/2014/main" id="{CC85F5E2-A5E2-EB5D-DC76-D0CC21A52FED}"/>
              </a:ext>
            </a:extLst>
          </p:cNvPr>
          <p:cNvSpPr txBox="1"/>
          <p:nvPr/>
        </p:nvSpPr>
        <p:spPr>
          <a:xfrm>
            <a:off x="9637776" y="4517738"/>
            <a:ext cx="2185416" cy="576000"/>
          </a:xfrm>
          <a:prstGeom prst="rect">
            <a:avLst/>
          </a:prstGeom>
          <a:noFill/>
          <a:ln cap="rnd" cmpd="sng">
            <a:solidFill>
              <a:schemeClr val="bg1"/>
            </a:solidFill>
            <a:extLst>
              <a:ext uri="{C807C97D-BFC1-408E-A445-0C87EB9F89A2}">
                <ask:lineSketchStyleProps xmlns:ask="http://schemas.microsoft.com/office/drawing/2018/sketchyshapes" sd="1219033472">
                  <a:custGeom>
                    <a:avLst/>
                    <a:gdLst>
                      <a:gd name="connsiteX0" fmla="*/ 0 w 2185416"/>
                      <a:gd name="connsiteY0" fmla="*/ 0 h 307777"/>
                      <a:gd name="connsiteX1" fmla="*/ 2185416 w 2185416"/>
                      <a:gd name="connsiteY1" fmla="*/ 0 h 307777"/>
                      <a:gd name="connsiteX2" fmla="*/ 2185416 w 2185416"/>
                      <a:gd name="connsiteY2" fmla="*/ 307777 h 307777"/>
                      <a:gd name="connsiteX3" fmla="*/ 0 w 2185416"/>
                      <a:gd name="connsiteY3" fmla="*/ 307777 h 307777"/>
                      <a:gd name="connsiteX4" fmla="*/ 0 w 2185416"/>
                      <a:gd name="connsiteY4" fmla="*/ 0 h 307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416" h="307777" extrusionOk="0">
                        <a:moveTo>
                          <a:pt x="0" y="0"/>
                        </a:moveTo>
                        <a:cubicBezTo>
                          <a:pt x="271460" y="118645"/>
                          <a:pt x="1744822" y="116012"/>
                          <a:pt x="2185416" y="0"/>
                        </a:cubicBezTo>
                        <a:cubicBezTo>
                          <a:pt x="2193108" y="56473"/>
                          <a:pt x="2203123" y="233743"/>
                          <a:pt x="2185416" y="307777"/>
                        </a:cubicBezTo>
                        <a:cubicBezTo>
                          <a:pt x="1693401" y="442377"/>
                          <a:pt x="524301" y="150581"/>
                          <a:pt x="0" y="307777"/>
                        </a:cubicBezTo>
                        <a:cubicBezTo>
                          <a:pt x="25340" y="200698"/>
                          <a:pt x="-1999" y="43378"/>
                          <a:pt x="0" y="0"/>
                        </a:cubicBezTo>
                        <a:close/>
                      </a:path>
                    </a:pathLst>
                  </a:custGeom>
                  <ask:type>
                    <ask:lineSketchNone/>
                  </ask:type>
                </ask:lineSketchStyleProps>
              </a:ext>
            </a:extLst>
          </a:ln>
        </p:spPr>
        <p:txBody>
          <a:bodyPr wrap="square" rtlCol="0" anchor="ctr">
            <a:spAutoFit/>
          </a:bodyPr>
          <a:lstStyle/>
          <a:p>
            <a:pPr algn="ctr"/>
            <a:r>
              <a:rPr lang="fr-FR" sz="1400" b="1" dirty="0">
                <a:solidFill>
                  <a:schemeClr val="bg1"/>
                </a:solidFill>
              </a:rPr>
              <a:t>L’insécurité alimentaire</a:t>
            </a:r>
          </a:p>
        </p:txBody>
      </p:sp>
      <p:sp>
        <p:nvSpPr>
          <p:cNvPr id="15" name="ZoneTexte 14">
            <a:extLst>
              <a:ext uri="{FF2B5EF4-FFF2-40B4-BE49-F238E27FC236}">
                <a16:creationId xmlns:a16="http://schemas.microsoft.com/office/drawing/2014/main" id="{C4A82051-F99E-8B4D-3A39-18A011EBE1EF}"/>
              </a:ext>
            </a:extLst>
          </p:cNvPr>
          <p:cNvSpPr txBox="1"/>
          <p:nvPr/>
        </p:nvSpPr>
        <p:spPr>
          <a:xfrm>
            <a:off x="7223760" y="4517739"/>
            <a:ext cx="2185416" cy="576000"/>
          </a:xfrm>
          <a:prstGeom prst="rect">
            <a:avLst/>
          </a:prstGeom>
          <a:noFill/>
          <a:ln cap="rnd" cmpd="sng">
            <a:solidFill>
              <a:schemeClr val="bg1"/>
            </a:solidFill>
            <a:extLst>
              <a:ext uri="{C807C97D-BFC1-408E-A445-0C87EB9F89A2}">
                <ask:lineSketchStyleProps xmlns:ask="http://schemas.microsoft.com/office/drawing/2018/sketchyshapes" sd="1219033472">
                  <a:custGeom>
                    <a:avLst/>
                    <a:gdLst>
                      <a:gd name="connsiteX0" fmla="*/ 0 w 2185416"/>
                      <a:gd name="connsiteY0" fmla="*/ 0 h 307777"/>
                      <a:gd name="connsiteX1" fmla="*/ 2185416 w 2185416"/>
                      <a:gd name="connsiteY1" fmla="*/ 0 h 307777"/>
                      <a:gd name="connsiteX2" fmla="*/ 2185416 w 2185416"/>
                      <a:gd name="connsiteY2" fmla="*/ 307777 h 307777"/>
                      <a:gd name="connsiteX3" fmla="*/ 0 w 2185416"/>
                      <a:gd name="connsiteY3" fmla="*/ 307777 h 307777"/>
                      <a:gd name="connsiteX4" fmla="*/ 0 w 2185416"/>
                      <a:gd name="connsiteY4" fmla="*/ 0 h 307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416" h="307777" extrusionOk="0">
                        <a:moveTo>
                          <a:pt x="0" y="0"/>
                        </a:moveTo>
                        <a:cubicBezTo>
                          <a:pt x="271460" y="118645"/>
                          <a:pt x="1744822" y="116012"/>
                          <a:pt x="2185416" y="0"/>
                        </a:cubicBezTo>
                        <a:cubicBezTo>
                          <a:pt x="2193108" y="56473"/>
                          <a:pt x="2203123" y="233743"/>
                          <a:pt x="2185416" y="307777"/>
                        </a:cubicBezTo>
                        <a:cubicBezTo>
                          <a:pt x="1693401" y="442377"/>
                          <a:pt x="524301" y="150581"/>
                          <a:pt x="0" y="307777"/>
                        </a:cubicBezTo>
                        <a:cubicBezTo>
                          <a:pt x="25340" y="200698"/>
                          <a:pt x="-1999" y="43378"/>
                          <a:pt x="0" y="0"/>
                        </a:cubicBezTo>
                        <a:close/>
                      </a:path>
                    </a:pathLst>
                  </a:custGeom>
                  <ask:type>
                    <ask:lineSketchNone/>
                  </ask:type>
                </ask:lineSketchStyleProps>
              </a:ext>
            </a:extLst>
          </a:ln>
        </p:spPr>
        <p:txBody>
          <a:bodyPr wrap="square" rtlCol="0" anchor="b">
            <a:spAutoFit/>
          </a:bodyPr>
          <a:lstStyle/>
          <a:p>
            <a:pPr algn="ctr"/>
            <a:r>
              <a:rPr lang="fr-FR" sz="1400" b="1" dirty="0">
                <a:solidFill>
                  <a:schemeClr val="bg1"/>
                </a:solidFill>
              </a:rPr>
              <a:t>La disponibilité alimentaire</a:t>
            </a:r>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Méthodologie de l’analyse</a:t>
            </a:r>
            <a:endParaRPr sz="3200"/>
          </a:p>
        </p:txBody>
      </p:sp>
      <p:sp>
        <p:nvSpPr>
          <p:cNvPr id="2" name="ZoneTexte 1">
            <a:extLst>
              <a:ext uri="{FF2B5EF4-FFF2-40B4-BE49-F238E27FC236}">
                <a16:creationId xmlns:a16="http://schemas.microsoft.com/office/drawing/2014/main" id="{927FC3BC-10B5-BA32-7283-2F2CBEDAEC5E}"/>
              </a:ext>
            </a:extLst>
          </p:cNvPr>
          <p:cNvSpPr txBox="1"/>
          <p:nvPr/>
        </p:nvSpPr>
        <p:spPr>
          <a:xfrm>
            <a:off x="875032" y="2338688"/>
            <a:ext cx="10441933" cy="2769989"/>
          </a:xfrm>
          <a:prstGeom prst="rect">
            <a:avLst/>
          </a:prstGeom>
          <a:noFill/>
        </p:spPr>
        <p:txBody>
          <a:bodyPr wrap="square" rtlCol="0">
            <a:spAutoFit/>
          </a:bodyPr>
          <a:lstStyle/>
          <a:p>
            <a:r>
              <a:rPr lang="fr-FR" sz="1600" dirty="0">
                <a:solidFill>
                  <a:schemeClr val="bg1"/>
                </a:solidFill>
                <a:latin typeface="Century Gothic" panose="020B0502020202020204" pitchFamily="34" charset="0"/>
              </a:rPr>
              <a:t>J’ai débuté mon projet en prenant connaissance des 4 fichiers sur Excel, pour avoir un premier aperçu des données</a:t>
            </a:r>
          </a:p>
          <a:p>
            <a:endParaRPr lang="fr-FR" sz="1600" dirty="0">
              <a:solidFill>
                <a:schemeClr val="bg1"/>
              </a:solidFill>
              <a:latin typeface="Century Gothic" panose="020B0502020202020204" pitchFamily="34" charset="0"/>
            </a:endParaRPr>
          </a:p>
          <a:p>
            <a:r>
              <a:rPr lang="fr-FR" sz="1600" dirty="0">
                <a:solidFill>
                  <a:schemeClr val="bg1"/>
                </a:solidFill>
                <a:latin typeface="Century Gothic" panose="020B0502020202020204" pitchFamily="34" charset="0"/>
              </a:rPr>
              <a:t>Puis, j’ai poursuivi en utilisant Python pour procéder à l’analyse dans son ensemble selon plusieurs étapes :</a:t>
            </a:r>
          </a:p>
          <a:p>
            <a:endParaRPr lang="fr-FR" sz="1600" dirty="0">
              <a:solidFill>
                <a:schemeClr val="bg1"/>
              </a:solidFill>
              <a:latin typeface="Century Gothic" panose="020B0502020202020204" pitchFamily="34" charset="0"/>
            </a:endParaRPr>
          </a:p>
          <a:p>
            <a:pPr marL="285750" indent="-285750">
              <a:buClr>
                <a:schemeClr val="bg1"/>
              </a:buClr>
              <a:buFont typeface="Wingdings" panose="05000000000000000000" pitchFamily="2" charset="2"/>
              <a:buChar char="q"/>
            </a:pPr>
            <a:r>
              <a:rPr lang="fr-FR" sz="1600" dirty="0">
                <a:solidFill>
                  <a:schemeClr val="bg1"/>
                </a:solidFill>
                <a:latin typeface="Century Gothic" panose="020B0502020202020204" pitchFamily="34" charset="0"/>
              </a:rPr>
              <a:t>	import des fichiers</a:t>
            </a:r>
          </a:p>
          <a:p>
            <a:pPr marL="285750" indent="-285750">
              <a:buClr>
                <a:schemeClr val="bg1"/>
              </a:buClr>
              <a:buFont typeface="Wingdings" panose="05000000000000000000" pitchFamily="2" charset="2"/>
              <a:buChar char="q"/>
            </a:pPr>
            <a:r>
              <a:rPr lang="fr-FR" sz="1600" dirty="0">
                <a:solidFill>
                  <a:schemeClr val="bg1"/>
                </a:solidFill>
                <a:latin typeface="Century Gothic" panose="020B0502020202020204" pitchFamily="34" charset="0"/>
              </a:rPr>
              <a:t>	catégorisation des données (type de donnés, nombre de valeurs)</a:t>
            </a:r>
          </a:p>
          <a:p>
            <a:pPr marL="285750" indent="-285750">
              <a:buClr>
                <a:schemeClr val="bg1"/>
              </a:buClr>
              <a:buFont typeface="Wingdings" panose="05000000000000000000" pitchFamily="2" charset="2"/>
              <a:buChar char="q"/>
            </a:pPr>
            <a:r>
              <a:rPr lang="fr-FR" sz="1600" dirty="0">
                <a:solidFill>
                  <a:schemeClr val="bg1"/>
                </a:solidFill>
                <a:latin typeface="Century Gothic" panose="020B0502020202020204" pitchFamily="34" charset="0"/>
              </a:rPr>
              <a:t>	uniformisation des données (certains noms de pays, Swaziland / Eswatini)</a:t>
            </a:r>
          </a:p>
          <a:p>
            <a:pPr marL="285750" indent="-285750">
              <a:buClr>
                <a:schemeClr val="bg1"/>
              </a:buClr>
              <a:buFont typeface="Wingdings" panose="05000000000000000000" pitchFamily="2" charset="2"/>
              <a:buChar char="q"/>
            </a:pPr>
            <a:r>
              <a:rPr lang="fr-FR" sz="1600" dirty="0">
                <a:solidFill>
                  <a:schemeClr val="bg1"/>
                </a:solidFill>
                <a:latin typeface="Century Gothic" panose="020B0502020202020204" pitchFamily="34" charset="0"/>
              </a:rPr>
              <a:t>	remplissage des données manquantes</a:t>
            </a:r>
          </a:p>
          <a:p>
            <a:endParaRPr lang="fr-FR" sz="1200" dirty="0">
              <a:solidFill>
                <a:schemeClr val="bg1"/>
              </a:solidFill>
              <a:latin typeface="Century Gothic" panose="020B0502020202020204" pitchFamily="34" charset="0"/>
            </a:endParaRPr>
          </a:p>
        </p:txBody>
      </p:sp>
      <p:sp>
        <p:nvSpPr>
          <p:cNvPr id="6" name="ZoneTexte 5">
            <a:extLst>
              <a:ext uri="{FF2B5EF4-FFF2-40B4-BE49-F238E27FC236}">
                <a16:creationId xmlns:a16="http://schemas.microsoft.com/office/drawing/2014/main" id="{E8AA8469-CA3E-7FCA-8BF3-93FA3960E5C1}"/>
              </a:ext>
            </a:extLst>
          </p:cNvPr>
          <p:cNvSpPr txBox="1"/>
          <p:nvPr/>
        </p:nvSpPr>
        <p:spPr>
          <a:xfrm>
            <a:off x="810000" y="5321808"/>
            <a:ext cx="10571998" cy="1323439"/>
          </a:xfrm>
          <a:prstGeom prst="rect">
            <a:avLst/>
          </a:prstGeom>
          <a:noFill/>
        </p:spPr>
        <p:txBody>
          <a:bodyPr wrap="square" rtlCol="0">
            <a:spAutoFit/>
          </a:bodyPr>
          <a:lstStyle/>
          <a:p>
            <a:pPr lvl="0" indent="-228600" algn="l" rtl="0">
              <a:lnSpc>
                <a:spcPct val="100000"/>
              </a:lnSpc>
              <a:spcBef>
                <a:spcPts val="0"/>
              </a:spcBef>
              <a:spcAft>
                <a:spcPts val="0"/>
              </a:spcAft>
              <a:buSzPts val="1800"/>
              <a:buNone/>
            </a:pPr>
            <a:r>
              <a:rPr lang="fr-FR" sz="1600" dirty="0">
                <a:solidFill>
                  <a:schemeClr val="bg1"/>
                </a:solidFill>
                <a:latin typeface="Century Gothic" panose="020B0502020202020204" pitchFamily="34" charset="0"/>
              </a:rPr>
              <a:t>Toutes les données présentées sont librement accessibles sur le site de la FAO et peuvent être exploitées librement </a:t>
            </a:r>
          </a:p>
          <a:p>
            <a:pPr marL="342900" lvl="0" indent="-228600" algn="l" rtl="0">
              <a:lnSpc>
                <a:spcPct val="100000"/>
              </a:lnSpc>
              <a:spcBef>
                <a:spcPts val="0"/>
              </a:spcBef>
              <a:spcAft>
                <a:spcPts val="0"/>
              </a:spcAft>
              <a:buSzPts val="1800"/>
              <a:buNone/>
            </a:pPr>
            <a:endParaRPr lang="fr-FR" sz="1600" dirty="0">
              <a:solidFill>
                <a:schemeClr val="bg1"/>
              </a:solidFill>
              <a:latin typeface="Century Gothic" panose="020B0502020202020204" pitchFamily="34" charset="0"/>
            </a:endParaRPr>
          </a:p>
          <a:p>
            <a:pPr lvl="0" algn="l" rtl="0">
              <a:lnSpc>
                <a:spcPct val="100000"/>
              </a:lnSpc>
              <a:spcBef>
                <a:spcPts val="0"/>
              </a:spcBef>
              <a:spcAft>
                <a:spcPts val="0"/>
              </a:spcAft>
              <a:buSzPts val="1800"/>
              <a:buNone/>
            </a:pPr>
            <a:r>
              <a:rPr lang="fr-FR" sz="1600" dirty="0">
                <a:solidFill>
                  <a:schemeClr val="bg1"/>
                </a:solidFill>
                <a:latin typeface="Century Gothic" panose="020B0502020202020204" pitchFamily="34" charset="0"/>
              </a:rPr>
              <a:t>https://www.fao.org/faostat/fr/#data</a:t>
            </a:r>
          </a:p>
          <a:p>
            <a:endParaRPr lang="fr-FR" sz="1600" dirty="0">
              <a:solidFill>
                <a:schemeClr val="bg1"/>
              </a:solidFill>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 Proportion de personnes en état de sous-nutrition en 2017</a:t>
            </a:r>
            <a:endParaRPr sz="3200"/>
          </a:p>
        </p:txBody>
      </p:sp>
      <p:sp>
        <p:nvSpPr>
          <p:cNvPr id="146" name="Google Shape;146;p4"/>
          <p:cNvSpPr txBox="1">
            <a:spLocks noGrp="1"/>
          </p:cNvSpPr>
          <p:nvPr>
            <p:ph type="body" idx="1"/>
          </p:nvPr>
        </p:nvSpPr>
        <p:spPr>
          <a:xfrm>
            <a:off x="801286" y="2530295"/>
            <a:ext cx="10554574" cy="3687625"/>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sz="1600" dirty="0"/>
              <a:t>Nous possédons des données sur la malnutrition pour 84 pays. Ces derniers totalisent  une population de 4,2 milliards d’habitants en 2017.</a:t>
            </a:r>
          </a:p>
          <a:p>
            <a:pPr marL="0" lvl="0" indent="0" algn="l" rtl="0">
              <a:lnSpc>
                <a:spcPct val="100000"/>
              </a:lnSpc>
              <a:spcBef>
                <a:spcPts val="0"/>
              </a:spcBef>
              <a:spcAft>
                <a:spcPts val="0"/>
              </a:spcAft>
              <a:buSzPts val="1800"/>
              <a:buNone/>
            </a:pPr>
            <a:endParaRPr lang="fr-FR" sz="1600" dirty="0"/>
          </a:p>
          <a:p>
            <a:pPr marL="0" lvl="0" indent="0" algn="l" rtl="0">
              <a:lnSpc>
                <a:spcPct val="100000"/>
              </a:lnSpc>
              <a:spcBef>
                <a:spcPts val="0"/>
              </a:spcBef>
              <a:spcAft>
                <a:spcPts val="0"/>
              </a:spcAft>
              <a:buSzPts val="1800"/>
              <a:buNone/>
            </a:pPr>
            <a:endParaRPr lang="fr-FR" sz="1600" dirty="0"/>
          </a:p>
          <a:p>
            <a:pPr marL="0" lvl="0" indent="0" algn="l" rtl="0">
              <a:lnSpc>
                <a:spcPct val="100000"/>
              </a:lnSpc>
              <a:spcBef>
                <a:spcPts val="0"/>
              </a:spcBef>
              <a:spcAft>
                <a:spcPts val="0"/>
              </a:spcAft>
              <a:buSzPts val="1800"/>
              <a:buNone/>
            </a:pPr>
            <a:r>
              <a:rPr lang="fr-FR" sz="1600" dirty="0"/>
              <a:t>Les chiffres de la population en sous-nutrition s’élèvent à </a:t>
            </a:r>
            <a:r>
              <a:rPr lang="fr-FR" sz="1600" b="1" dirty="0"/>
              <a:t>535, 7 millions</a:t>
            </a:r>
            <a:r>
              <a:rPr lang="fr-FR" sz="1600" dirty="0"/>
              <a:t> de personnes en 2017. La part des personnes en état de sous-nutrition dans ces 84 Etats est de </a:t>
            </a:r>
            <a:r>
              <a:rPr lang="fr-FR" sz="1600" b="1" dirty="0"/>
              <a:t>12,9 %.</a:t>
            </a:r>
          </a:p>
          <a:p>
            <a:pPr marL="0" lvl="0" indent="0" algn="l" rtl="0">
              <a:lnSpc>
                <a:spcPct val="100000"/>
              </a:lnSpc>
              <a:spcBef>
                <a:spcPts val="0"/>
              </a:spcBef>
              <a:spcAft>
                <a:spcPts val="0"/>
              </a:spcAft>
              <a:buSzPts val="1800"/>
              <a:buNone/>
            </a:pPr>
            <a:endParaRPr lang="fr-FR" sz="1600" b="1" dirty="0"/>
          </a:p>
          <a:p>
            <a:pPr marL="0" lvl="0" indent="0" algn="l" rtl="0">
              <a:lnSpc>
                <a:spcPct val="100000"/>
              </a:lnSpc>
              <a:spcBef>
                <a:spcPts val="0"/>
              </a:spcBef>
              <a:spcAft>
                <a:spcPts val="0"/>
              </a:spcAft>
              <a:buSzPts val="1800"/>
              <a:buNone/>
            </a:pPr>
            <a:endParaRPr lang="fr-FR" sz="1600" b="1" dirty="0"/>
          </a:p>
          <a:p>
            <a:pPr marL="0" lvl="0" indent="0" algn="l" rtl="0">
              <a:lnSpc>
                <a:spcPct val="100000"/>
              </a:lnSpc>
              <a:spcBef>
                <a:spcPts val="0"/>
              </a:spcBef>
              <a:spcAft>
                <a:spcPts val="0"/>
              </a:spcAft>
              <a:buSzPts val="1800"/>
              <a:buNone/>
            </a:pPr>
            <a:r>
              <a:rPr lang="fr-FR" sz="1600" dirty="0"/>
              <a:t>La population mondiale est plus importante en 2017, aux alentours de 7,5 milliards d’</a:t>
            </a:r>
            <a:r>
              <a:rPr lang="fr-FR" sz="1600" dirty="0" err="1"/>
              <a:t>habitans</a:t>
            </a:r>
            <a:r>
              <a:rPr lang="fr-FR" sz="1600" dirty="0"/>
              <a:t>. Comparé à cette population globale, la part des personnes victime de malnutrition passe à 7,1%,</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a:t>
            </a:r>
            <a:endParaRPr sz="3200"/>
          </a:p>
        </p:txBody>
      </p:sp>
      <p:sp>
        <p:nvSpPr>
          <p:cNvPr id="153" name="Google Shape;153;p5"/>
          <p:cNvSpPr txBox="1">
            <a:spLocks noGrp="1"/>
          </p:cNvSpPr>
          <p:nvPr>
            <p:ph type="body" idx="1"/>
          </p:nvPr>
        </p:nvSpPr>
        <p:spPr>
          <a:xfrm>
            <a:off x="810000" y="2121704"/>
            <a:ext cx="10554574" cy="218608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sz="1600" dirty="0"/>
              <a:t>Il faut d’abord préciser ce que signifie nourrir une personne et comment le calculer. Je retiens le seuil minimal de </a:t>
            </a:r>
            <a:r>
              <a:rPr lang="fr-FR" sz="1600" b="1" u="sng" dirty="0"/>
              <a:t>2100 Kcal/jour par personne</a:t>
            </a:r>
            <a:r>
              <a:rPr lang="fr-FR" sz="1600" dirty="0"/>
              <a:t>, seuil retenu par les Nations Unies dans ces différentes études et publications.</a:t>
            </a:r>
          </a:p>
          <a:p>
            <a:pPr marL="0" lvl="0" indent="0" algn="l" rtl="0">
              <a:lnSpc>
                <a:spcPct val="100000"/>
              </a:lnSpc>
              <a:spcBef>
                <a:spcPts val="0"/>
              </a:spcBef>
              <a:spcAft>
                <a:spcPts val="0"/>
              </a:spcAft>
              <a:buSzPts val="1800"/>
              <a:buNone/>
            </a:pPr>
            <a:endParaRPr lang="fr-FR" sz="1600" dirty="0"/>
          </a:p>
          <a:p>
            <a:pPr marL="0" lvl="0" indent="0" algn="l" rtl="0">
              <a:lnSpc>
                <a:spcPct val="100000"/>
              </a:lnSpc>
              <a:spcBef>
                <a:spcPts val="0"/>
              </a:spcBef>
              <a:spcAft>
                <a:spcPts val="0"/>
              </a:spcAft>
              <a:buSzPts val="1800"/>
              <a:buNone/>
            </a:pPr>
            <a:r>
              <a:rPr lang="fr-FR" sz="1600" dirty="0"/>
              <a:t>La disponibilité alimentaire total par pays est obtenu par l’addition des disponibilités alimentaires de chaque produit. Elle permet ainsi de calculer le nombre de personnes pouvant être nourris par pays et donc la disponibilité alimentaire mondiale.</a:t>
            </a:r>
            <a:endParaRPr sz="1600" dirty="0"/>
          </a:p>
        </p:txBody>
      </p:sp>
      <p:pic>
        <p:nvPicPr>
          <p:cNvPr id="3" name="Image 2" descr="Une image contenant texte, capture d’écran, Police, ligne&#10;&#10;Le contenu généré par l’IA peut être incorrect.">
            <a:extLst>
              <a:ext uri="{FF2B5EF4-FFF2-40B4-BE49-F238E27FC236}">
                <a16:creationId xmlns:a16="http://schemas.microsoft.com/office/drawing/2014/main" id="{360E7DA2-2515-E5AE-4854-7CE9C468B4BB}"/>
              </a:ext>
            </a:extLst>
          </p:cNvPr>
          <p:cNvPicPr>
            <a:picLocks noChangeAspect="1"/>
          </p:cNvPicPr>
          <p:nvPr/>
        </p:nvPicPr>
        <p:blipFill>
          <a:blip r:embed="rId3"/>
          <a:stretch>
            <a:fillRect/>
          </a:stretch>
        </p:blipFill>
        <p:spPr>
          <a:xfrm>
            <a:off x="691128" y="4848024"/>
            <a:ext cx="6019800" cy="1238250"/>
          </a:xfrm>
          <a:prstGeom prst="rect">
            <a:avLst/>
          </a:prstGeom>
        </p:spPr>
      </p:pic>
      <p:sp>
        <p:nvSpPr>
          <p:cNvPr id="2" name="ZoneTexte 1">
            <a:extLst>
              <a:ext uri="{FF2B5EF4-FFF2-40B4-BE49-F238E27FC236}">
                <a16:creationId xmlns:a16="http://schemas.microsoft.com/office/drawing/2014/main" id="{8B75BF1B-3E0F-BDA9-F6E5-8655E7A9C475}"/>
              </a:ext>
            </a:extLst>
          </p:cNvPr>
          <p:cNvSpPr txBox="1"/>
          <p:nvPr/>
        </p:nvSpPr>
        <p:spPr>
          <a:xfrm>
            <a:off x="7095744" y="4559208"/>
            <a:ext cx="4544568" cy="1815882"/>
          </a:xfrm>
          <a:prstGeom prst="rect">
            <a:avLst/>
          </a:prstGeom>
          <a:noFill/>
        </p:spPr>
        <p:txBody>
          <a:bodyPr wrap="square" rtlCol="0">
            <a:spAutoFit/>
          </a:bodyPr>
          <a:lstStyle/>
          <a:p>
            <a:r>
              <a:rPr lang="fr-FR" sz="1600" dirty="0">
                <a:solidFill>
                  <a:schemeClr val="bg1"/>
                </a:solidFill>
                <a:latin typeface="Century Gothic" panose="020B0502020202020204" pitchFamily="34" charset="0"/>
              </a:rPr>
              <a:t>Au regard de la disponibilité alimentaire mondiale, le nombre de personnes qui pourraient être nourries en 2017 est de plus de 10 milliards de personnes.</a:t>
            </a:r>
          </a:p>
          <a:p>
            <a:endParaRPr lang="fr-FR" sz="1600" dirty="0">
              <a:solidFill>
                <a:schemeClr val="bg1"/>
              </a:solidFill>
              <a:latin typeface="Century Gothic" panose="020B0502020202020204" pitchFamily="34" charset="0"/>
            </a:endParaRPr>
          </a:p>
          <a:p>
            <a:r>
              <a:rPr lang="fr-FR" sz="1600" dirty="0">
                <a:solidFill>
                  <a:schemeClr val="bg1"/>
                </a:solidFill>
                <a:latin typeface="Century Gothic" panose="020B0502020202020204" pitchFamily="34" charset="0"/>
              </a:rPr>
              <a:t>Pour rappel, la population mondiale en 2017 s’élève à 7,4 milliards de personnes.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3) Nombre théorique de personnes qui pourraient être nourries uniquement avec les végétaux en 2017</a:t>
            </a:r>
            <a:endParaRPr/>
          </a:p>
        </p:txBody>
      </p:sp>
      <p:sp>
        <p:nvSpPr>
          <p:cNvPr id="2" name="Google Shape;153;p5">
            <a:extLst>
              <a:ext uri="{FF2B5EF4-FFF2-40B4-BE49-F238E27FC236}">
                <a16:creationId xmlns:a16="http://schemas.microsoft.com/office/drawing/2014/main" id="{B76B25F0-1704-7B62-5CD5-891D8F63206F}"/>
              </a:ext>
            </a:extLst>
          </p:cNvPr>
          <p:cNvSpPr txBox="1">
            <a:spLocks noGrp="1"/>
          </p:cNvSpPr>
          <p:nvPr>
            <p:ph type="body" idx="1"/>
          </p:nvPr>
        </p:nvSpPr>
        <p:spPr>
          <a:xfrm>
            <a:off x="810000" y="2121704"/>
            <a:ext cx="10554574" cy="218608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sz="1600" dirty="0"/>
              <a:t>Il est intéressant de faire le même calcul mais avec les produits alimentaires d’origine végétale uniquement, moins consommateur de ressources naturelles pour leur production, donc plus facile à produire.</a:t>
            </a:r>
          </a:p>
          <a:p>
            <a:pPr marL="0" lvl="0" indent="0" algn="l" rtl="0">
              <a:lnSpc>
                <a:spcPct val="100000"/>
              </a:lnSpc>
              <a:spcBef>
                <a:spcPts val="0"/>
              </a:spcBef>
              <a:spcAft>
                <a:spcPts val="0"/>
              </a:spcAft>
              <a:buSzPts val="1800"/>
              <a:buNone/>
            </a:pPr>
            <a:r>
              <a:rPr lang="fr-FR" sz="1600" dirty="0"/>
              <a:t>Le calcul est le même, on ne prend en compte que les ressources végétales, la disponibilité alimentaire de chaque pays diminue.</a:t>
            </a:r>
          </a:p>
          <a:p>
            <a:pPr marL="0" lvl="0" indent="0" algn="l" rtl="0">
              <a:lnSpc>
                <a:spcPct val="100000"/>
              </a:lnSpc>
              <a:spcBef>
                <a:spcPts val="0"/>
              </a:spcBef>
              <a:spcAft>
                <a:spcPts val="0"/>
              </a:spcAft>
              <a:buSzPts val="1800"/>
              <a:buNone/>
            </a:pPr>
            <a:endParaRPr lang="fr-FR" sz="1600" dirty="0"/>
          </a:p>
        </p:txBody>
      </p:sp>
      <p:pic>
        <p:nvPicPr>
          <p:cNvPr id="4" name="Image 3" descr="Une image contenant texte, capture d’écran, Police, ligne&#10;&#10;Le contenu généré par l’IA peut être incorrect.">
            <a:extLst>
              <a:ext uri="{FF2B5EF4-FFF2-40B4-BE49-F238E27FC236}">
                <a16:creationId xmlns:a16="http://schemas.microsoft.com/office/drawing/2014/main" id="{0D11364D-C20B-F2E6-AE70-E293FEB88328}"/>
              </a:ext>
            </a:extLst>
          </p:cNvPr>
          <p:cNvPicPr>
            <a:picLocks noChangeAspect="1"/>
          </p:cNvPicPr>
          <p:nvPr/>
        </p:nvPicPr>
        <p:blipFill>
          <a:blip r:embed="rId3"/>
          <a:stretch>
            <a:fillRect/>
          </a:stretch>
        </p:blipFill>
        <p:spPr>
          <a:xfrm>
            <a:off x="827426" y="3932326"/>
            <a:ext cx="6019800" cy="1238250"/>
          </a:xfrm>
          <a:prstGeom prst="rect">
            <a:avLst/>
          </a:prstGeom>
        </p:spPr>
      </p:pic>
      <p:sp>
        <p:nvSpPr>
          <p:cNvPr id="5" name="Google Shape;153;p5">
            <a:extLst>
              <a:ext uri="{FF2B5EF4-FFF2-40B4-BE49-F238E27FC236}">
                <a16:creationId xmlns:a16="http://schemas.microsoft.com/office/drawing/2014/main" id="{4BA8A016-A1C0-36B5-1340-727D80AF590B}"/>
              </a:ext>
            </a:extLst>
          </p:cNvPr>
          <p:cNvSpPr txBox="1">
            <a:spLocks/>
          </p:cNvSpPr>
          <p:nvPr/>
        </p:nvSpPr>
        <p:spPr>
          <a:xfrm>
            <a:off x="810000" y="5170576"/>
            <a:ext cx="10554574" cy="1493178"/>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marL="0" indent="0">
              <a:spcBef>
                <a:spcPts val="0"/>
              </a:spcBef>
              <a:buFont typeface="Noto Sans Symbols"/>
              <a:buNone/>
            </a:pPr>
            <a:r>
              <a:rPr lang="fr-FR" sz="1600" dirty="0"/>
              <a:t>Le nombre de personnes pouvant être nourries grâce aux produits végétaux est de 8, 3 milliards de personne, soit une capacité supérieure à la population mondiale.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4) Répartition de la disponibilité intérieure</a:t>
            </a:r>
            <a:endParaRPr/>
          </a:p>
        </p:txBody>
      </p:sp>
      <p:sp>
        <p:nvSpPr>
          <p:cNvPr id="167" name="Google Shape;167;p7"/>
          <p:cNvSpPr txBox="1">
            <a:spLocks noGrp="1"/>
          </p:cNvSpPr>
          <p:nvPr>
            <p:ph type="body" idx="1"/>
          </p:nvPr>
        </p:nvSpPr>
        <p:spPr>
          <a:xfrm>
            <a:off x="818712" y="2222287"/>
            <a:ext cx="10554574" cy="72208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00000"/>
              </a:buClr>
              <a:buSzPts val="1800"/>
              <a:buFont typeface="Arial"/>
              <a:buNone/>
            </a:pPr>
            <a:r>
              <a:rPr lang="fr-FR" sz="1600" dirty="0"/>
              <a:t>La disponibilité intérieure est une valeur calculée de notre tableau, elle se décompose comme telle :  </a:t>
            </a:r>
            <a:endParaRPr sz="1600" dirty="0"/>
          </a:p>
        </p:txBody>
      </p:sp>
      <p:pic>
        <p:nvPicPr>
          <p:cNvPr id="3" name="Image 2">
            <a:extLst>
              <a:ext uri="{FF2B5EF4-FFF2-40B4-BE49-F238E27FC236}">
                <a16:creationId xmlns:a16="http://schemas.microsoft.com/office/drawing/2014/main" id="{702FAD30-E6BF-A308-4037-720369BE268F}"/>
              </a:ext>
            </a:extLst>
          </p:cNvPr>
          <p:cNvPicPr>
            <a:picLocks noChangeAspect="1"/>
          </p:cNvPicPr>
          <p:nvPr/>
        </p:nvPicPr>
        <p:blipFill>
          <a:blip r:embed="rId3"/>
          <a:stretch>
            <a:fillRect/>
          </a:stretch>
        </p:blipFill>
        <p:spPr>
          <a:xfrm>
            <a:off x="1527558" y="2903780"/>
            <a:ext cx="8905875" cy="295275"/>
          </a:xfrm>
          <a:prstGeom prst="rect">
            <a:avLst/>
          </a:prstGeom>
        </p:spPr>
      </p:pic>
      <p:sp>
        <p:nvSpPr>
          <p:cNvPr id="4" name="Google Shape;167;p7">
            <a:extLst>
              <a:ext uri="{FF2B5EF4-FFF2-40B4-BE49-F238E27FC236}">
                <a16:creationId xmlns:a16="http://schemas.microsoft.com/office/drawing/2014/main" id="{A6E5FD94-6FCC-3E3F-534C-C19CDAFCDBD1}"/>
              </a:ext>
            </a:extLst>
          </p:cNvPr>
          <p:cNvSpPr txBox="1">
            <a:spLocks/>
          </p:cNvSpPr>
          <p:nvPr/>
        </p:nvSpPr>
        <p:spPr>
          <a:xfrm>
            <a:off x="478056" y="3625861"/>
            <a:ext cx="5985436" cy="274320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marL="0" indent="0">
              <a:spcBef>
                <a:spcPts val="0"/>
              </a:spcBef>
              <a:buClr>
                <a:srgbClr val="000000"/>
              </a:buClr>
              <a:buFont typeface="Arial"/>
              <a:buNone/>
            </a:pPr>
            <a:r>
              <a:rPr lang="fr-FR" sz="1600" dirty="0"/>
              <a:t>Nous allons nous concentrer sur trois valeurs : la nourriture (alimentation humaine), les aliments pour animaux et les pertes.</a:t>
            </a:r>
          </a:p>
          <a:p>
            <a:pPr marL="0" indent="0">
              <a:spcBef>
                <a:spcPts val="0"/>
              </a:spcBef>
              <a:buClr>
                <a:srgbClr val="000000"/>
              </a:buClr>
              <a:buFont typeface="Arial"/>
              <a:buNone/>
            </a:pPr>
            <a:endParaRPr lang="fr-FR" sz="1600" dirty="0"/>
          </a:p>
          <a:p>
            <a:pPr marL="0" indent="0">
              <a:spcBef>
                <a:spcPts val="0"/>
              </a:spcBef>
              <a:buClr>
                <a:srgbClr val="000000"/>
              </a:buClr>
              <a:buFont typeface="Arial"/>
              <a:buNone/>
            </a:pPr>
            <a:r>
              <a:rPr lang="fr-FR" sz="1600" dirty="0"/>
              <a:t>Au sein de la disponibilité alimentaire, voici les parts que représentent ces différents postes :</a:t>
            </a:r>
          </a:p>
          <a:p>
            <a:pPr marL="0" indent="0">
              <a:spcBef>
                <a:spcPts val="0"/>
              </a:spcBef>
              <a:buClr>
                <a:srgbClr val="000000"/>
              </a:buClr>
              <a:buFont typeface="Arial"/>
              <a:buNone/>
            </a:pPr>
            <a:endParaRPr lang="fr-FR" sz="1600" dirty="0"/>
          </a:p>
          <a:p>
            <a:pPr marL="285750" indent="-285750">
              <a:spcBef>
                <a:spcPts val="0"/>
              </a:spcBef>
              <a:buClr>
                <a:schemeClr val="bg1"/>
              </a:buClr>
              <a:buFont typeface="Wingdings" panose="05000000000000000000" pitchFamily="2" charset="2"/>
              <a:buChar char="q"/>
            </a:pPr>
            <a:r>
              <a:rPr lang="fr-FR" sz="1600" dirty="0"/>
              <a:t>la nourriture : 			57,5%</a:t>
            </a:r>
          </a:p>
          <a:p>
            <a:pPr marL="285750" indent="-285750">
              <a:spcBef>
                <a:spcPts val="0"/>
              </a:spcBef>
              <a:buClr>
                <a:schemeClr val="bg1"/>
              </a:buClr>
              <a:buFont typeface="Wingdings" panose="05000000000000000000" pitchFamily="2" charset="2"/>
              <a:buChar char="q"/>
            </a:pPr>
            <a:r>
              <a:rPr lang="fr-FR" sz="1600" dirty="0"/>
              <a:t>les aliments pour animaux : 	12,0 %</a:t>
            </a:r>
          </a:p>
          <a:p>
            <a:pPr marL="285750" indent="-285750">
              <a:spcBef>
                <a:spcPts val="0"/>
              </a:spcBef>
              <a:buClr>
                <a:schemeClr val="bg1"/>
              </a:buClr>
              <a:buFont typeface="Wingdings" panose="05000000000000000000" pitchFamily="2" charset="2"/>
              <a:buChar char="q"/>
            </a:pPr>
            <a:r>
              <a:rPr lang="fr-FR" sz="1600" dirty="0"/>
              <a:t>les pertes : 			4,6 %</a:t>
            </a:r>
          </a:p>
          <a:p>
            <a:pPr marL="0" indent="0">
              <a:spcBef>
                <a:spcPts val="0"/>
              </a:spcBef>
              <a:buClr>
                <a:srgbClr val="000000"/>
              </a:buClr>
              <a:buFont typeface="Arial"/>
              <a:buNone/>
            </a:pPr>
            <a:r>
              <a:rPr lang="fr-FR" dirty="0"/>
              <a:t>  </a:t>
            </a:r>
          </a:p>
        </p:txBody>
      </p:sp>
      <p:graphicFrame>
        <p:nvGraphicFramePr>
          <p:cNvPr id="2" name="Graphique 1">
            <a:extLst>
              <a:ext uri="{FF2B5EF4-FFF2-40B4-BE49-F238E27FC236}">
                <a16:creationId xmlns:a16="http://schemas.microsoft.com/office/drawing/2014/main" id="{836EF614-9885-14A4-AC9C-A3C8B0EE4758}"/>
              </a:ext>
            </a:extLst>
          </p:cNvPr>
          <p:cNvGraphicFramePr>
            <a:graphicFrameLocks/>
          </p:cNvGraphicFramePr>
          <p:nvPr>
            <p:extLst>
              <p:ext uri="{D42A27DB-BD31-4B8C-83A1-F6EECF244321}">
                <p14:modId xmlns:p14="http://schemas.microsoft.com/office/powerpoint/2010/main" val="773501481"/>
              </p:ext>
            </p:extLst>
          </p:nvPr>
        </p:nvGraphicFramePr>
        <p:xfrm>
          <a:off x="6809997" y="3749017"/>
          <a:ext cx="4903947"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5) Part de l’utilisation des principales céréales entre l’alimentation humaine et animale</a:t>
            </a:r>
            <a:endParaRPr/>
          </a:p>
        </p:txBody>
      </p:sp>
      <p:sp>
        <p:nvSpPr>
          <p:cNvPr id="175" name="Google Shape;175;p8"/>
          <p:cNvSpPr txBox="1">
            <a:spLocks noGrp="1"/>
          </p:cNvSpPr>
          <p:nvPr>
            <p:ph type="body" idx="1"/>
          </p:nvPr>
        </p:nvSpPr>
        <p:spPr>
          <a:xfrm>
            <a:off x="471240" y="2140179"/>
            <a:ext cx="10554574" cy="511769"/>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sz="1600" dirty="0"/>
              <a:t>Nous disposons de données sur l’utilisation de 9 types de céréales que sont :</a:t>
            </a:r>
            <a:endParaRPr sz="1600" dirty="0"/>
          </a:p>
        </p:txBody>
      </p:sp>
      <p:sp>
        <p:nvSpPr>
          <p:cNvPr id="3" name="ZoneTexte 2">
            <a:extLst>
              <a:ext uri="{FF2B5EF4-FFF2-40B4-BE49-F238E27FC236}">
                <a16:creationId xmlns:a16="http://schemas.microsoft.com/office/drawing/2014/main" id="{CAE34A02-DAFE-215E-5D2A-121D9839EA41}"/>
              </a:ext>
            </a:extLst>
          </p:cNvPr>
          <p:cNvSpPr txBox="1"/>
          <p:nvPr/>
        </p:nvSpPr>
        <p:spPr>
          <a:xfrm>
            <a:off x="2195557" y="2674239"/>
            <a:ext cx="2518416" cy="954107"/>
          </a:xfrm>
          <a:prstGeom prst="rect">
            <a:avLst/>
          </a:prstGeom>
          <a:noFill/>
        </p:spPr>
        <p:txBody>
          <a:bodyPr wrap="square" rtlCol="0">
            <a:spAutoFit/>
          </a:bodyPr>
          <a:lstStyle/>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Maïs</a:t>
            </a:r>
            <a:endParaRPr lang="fr-FR" sz="1100" b="0" i="0" u="none" strike="noStrike" cap="none" dirty="0">
              <a:solidFill>
                <a:schemeClr val="bg1"/>
              </a:solidFill>
              <a:latin typeface="Arial"/>
              <a:ea typeface="Arial"/>
              <a:cs typeface="Arial"/>
              <a:sym typeface="Arial"/>
            </a:endParaRPr>
          </a:p>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Seigle</a:t>
            </a:r>
            <a:endParaRPr lang="fr-FR" sz="1100" b="0" i="0" u="none" strike="noStrike" cap="none" dirty="0">
              <a:solidFill>
                <a:schemeClr val="bg1"/>
              </a:solidFill>
              <a:latin typeface="Arial"/>
              <a:ea typeface="Arial"/>
              <a:cs typeface="Arial"/>
              <a:sym typeface="Arial"/>
            </a:endParaRPr>
          </a:p>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Avoine</a:t>
            </a:r>
            <a:endParaRPr lang="fr-FR" sz="1100" b="0" i="0" u="none" strike="noStrike" cap="none" dirty="0">
              <a:solidFill>
                <a:schemeClr val="bg1"/>
              </a:solidFill>
              <a:latin typeface="Arial"/>
              <a:ea typeface="Arial"/>
              <a:cs typeface="Arial"/>
              <a:sym typeface="Arial"/>
            </a:endParaRPr>
          </a:p>
          <a:p>
            <a:endParaRPr lang="fr-FR" dirty="0"/>
          </a:p>
        </p:txBody>
      </p:sp>
      <p:sp>
        <p:nvSpPr>
          <p:cNvPr id="4" name="ZoneTexte 3">
            <a:extLst>
              <a:ext uri="{FF2B5EF4-FFF2-40B4-BE49-F238E27FC236}">
                <a16:creationId xmlns:a16="http://schemas.microsoft.com/office/drawing/2014/main" id="{6B7F9CC1-B0A4-8857-D7FF-3F4442BB947E}"/>
              </a:ext>
            </a:extLst>
          </p:cNvPr>
          <p:cNvSpPr txBox="1"/>
          <p:nvPr/>
        </p:nvSpPr>
        <p:spPr>
          <a:xfrm>
            <a:off x="3454765" y="2674237"/>
            <a:ext cx="2941658" cy="954107"/>
          </a:xfrm>
          <a:prstGeom prst="rect">
            <a:avLst/>
          </a:prstGeom>
          <a:noFill/>
        </p:spPr>
        <p:txBody>
          <a:bodyPr wrap="square" rtlCol="0">
            <a:spAutoFit/>
          </a:bodyPr>
          <a:lstStyle/>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Millet</a:t>
            </a:r>
            <a:endParaRPr lang="fr-FR" sz="1100" b="0" i="0" u="none" strike="noStrike" cap="none" dirty="0">
              <a:solidFill>
                <a:schemeClr val="bg1"/>
              </a:solidFill>
              <a:latin typeface="Arial"/>
              <a:ea typeface="Arial"/>
              <a:cs typeface="Arial"/>
              <a:sym typeface="Arial"/>
            </a:endParaRPr>
          </a:p>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Sorgho</a:t>
            </a:r>
            <a:endParaRPr lang="fr-FR" sz="1100" b="0" i="0" u="none" strike="noStrike" cap="none" dirty="0">
              <a:solidFill>
                <a:schemeClr val="bg1"/>
              </a:solidFill>
              <a:latin typeface="Arial"/>
              <a:ea typeface="Arial"/>
              <a:cs typeface="Arial"/>
              <a:sym typeface="Arial"/>
            </a:endParaRPr>
          </a:p>
          <a:p>
            <a:pPr marL="285750" indent="-285750">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Autres céréales </a:t>
            </a:r>
          </a:p>
          <a:p>
            <a:endParaRPr lang="fr-FR" dirty="0"/>
          </a:p>
        </p:txBody>
      </p:sp>
      <p:sp>
        <p:nvSpPr>
          <p:cNvPr id="5" name="ZoneTexte 4">
            <a:extLst>
              <a:ext uri="{FF2B5EF4-FFF2-40B4-BE49-F238E27FC236}">
                <a16:creationId xmlns:a16="http://schemas.microsoft.com/office/drawing/2014/main" id="{E070FDB6-8D3F-DBAB-0744-3308BD29DFDD}"/>
              </a:ext>
            </a:extLst>
          </p:cNvPr>
          <p:cNvSpPr txBox="1"/>
          <p:nvPr/>
        </p:nvSpPr>
        <p:spPr>
          <a:xfrm>
            <a:off x="471240" y="2674241"/>
            <a:ext cx="2518416" cy="954107"/>
          </a:xfrm>
          <a:prstGeom prst="rect">
            <a:avLst/>
          </a:prstGeom>
          <a:noFill/>
        </p:spPr>
        <p:txBody>
          <a:bodyPr wrap="square" rtlCol="0">
            <a:spAutoFit/>
          </a:bodyPr>
          <a:lstStyle/>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Blé</a:t>
            </a:r>
            <a:endParaRPr lang="fr-FR" sz="1100" b="0" i="0" u="none" strike="noStrike" cap="none" dirty="0">
              <a:solidFill>
                <a:schemeClr val="bg1"/>
              </a:solidFill>
              <a:latin typeface="Arial"/>
              <a:ea typeface="Arial"/>
              <a:cs typeface="Arial"/>
              <a:sym typeface="Arial"/>
            </a:endParaRPr>
          </a:p>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Riz (Eq Blanchi)</a:t>
            </a:r>
            <a:endParaRPr lang="fr-FR" sz="1100" b="0" i="0" u="none" strike="noStrike" cap="none" dirty="0">
              <a:solidFill>
                <a:schemeClr val="bg1"/>
              </a:solidFill>
              <a:latin typeface="Arial"/>
              <a:ea typeface="Arial"/>
              <a:cs typeface="Arial"/>
              <a:sym typeface="Arial"/>
            </a:endParaRPr>
          </a:p>
          <a:p>
            <a:pPr marL="285750" marR="0" lvl="0" indent="-285750" rtl="0">
              <a:lnSpc>
                <a:spcPct val="100000"/>
              </a:lnSpc>
              <a:spcBef>
                <a:spcPts val="0"/>
              </a:spcBef>
              <a:spcAft>
                <a:spcPts val="0"/>
              </a:spcAft>
              <a:buClr>
                <a:schemeClr val="bg1"/>
              </a:buClr>
              <a:buSzPts val="1800"/>
              <a:buFont typeface="Wingdings" panose="05000000000000000000" pitchFamily="2" charset="2"/>
              <a:buChar char="q"/>
            </a:pPr>
            <a:r>
              <a:rPr lang="fr-FR" sz="1400" b="0" i="0" u="none" strike="noStrike" cap="none" dirty="0">
                <a:solidFill>
                  <a:schemeClr val="bg1"/>
                </a:solidFill>
                <a:latin typeface="Century Gothic"/>
                <a:ea typeface="Century Gothic"/>
                <a:cs typeface="Century Gothic"/>
                <a:sym typeface="Century Gothic"/>
              </a:rPr>
              <a:t>Orge</a:t>
            </a:r>
          </a:p>
          <a:p>
            <a:endParaRPr lang="fr-FR" dirty="0"/>
          </a:p>
        </p:txBody>
      </p:sp>
      <p:graphicFrame>
        <p:nvGraphicFramePr>
          <p:cNvPr id="6" name="Tableau 5">
            <a:extLst>
              <a:ext uri="{FF2B5EF4-FFF2-40B4-BE49-F238E27FC236}">
                <a16:creationId xmlns:a16="http://schemas.microsoft.com/office/drawing/2014/main" id="{C135A4CB-0B6C-143D-4AAD-1F2C5FFEF404}"/>
              </a:ext>
            </a:extLst>
          </p:cNvPr>
          <p:cNvGraphicFramePr>
            <a:graphicFrameLocks noGrp="1"/>
          </p:cNvGraphicFramePr>
          <p:nvPr>
            <p:extLst>
              <p:ext uri="{D42A27DB-BD31-4B8C-83A1-F6EECF244321}">
                <p14:modId xmlns:p14="http://schemas.microsoft.com/office/powerpoint/2010/main" val="219011302"/>
              </p:ext>
            </p:extLst>
          </p:nvPr>
        </p:nvGraphicFramePr>
        <p:xfrm>
          <a:off x="2195557" y="4206053"/>
          <a:ext cx="8127999" cy="889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19314724"/>
                    </a:ext>
                  </a:extLst>
                </a:gridCol>
                <a:gridCol w="2709333">
                  <a:extLst>
                    <a:ext uri="{9D8B030D-6E8A-4147-A177-3AD203B41FA5}">
                      <a16:colId xmlns:a16="http://schemas.microsoft.com/office/drawing/2014/main" val="760128130"/>
                    </a:ext>
                  </a:extLst>
                </a:gridCol>
                <a:gridCol w="2709333">
                  <a:extLst>
                    <a:ext uri="{9D8B030D-6E8A-4147-A177-3AD203B41FA5}">
                      <a16:colId xmlns:a16="http://schemas.microsoft.com/office/drawing/2014/main" val="3483198752"/>
                    </a:ext>
                  </a:extLst>
                </a:gridCol>
              </a:tblGrid>
              <a:tr h="370840">
                <a:tc>
                  <a:txBody>
                    <a:bodyPr/>
                    <a:lstStyle/>
                    <a:p>
                      <a:pPr algn="ctr"/>
                      <a:endParaRPr lang="fr-FR"/>
                    </a:p>
                  </a:txBody>
                  <a:tcPr/>
                </a:tc>
                <a:tc>
                  <a:txBody>
                    <a:bodyPr/>
                    <a:lstStyle/>
                    <a:p>
                      <a:pPr algn="ctr"/>
                      <a:r>
                        <a:rPr lang="fr-FR" dirty="0"/>
                        <a:t>Alimentation Humaine</a:t>
                      </a:r>
                    </a:p>
                  </a:txBody>
                  <a:tcPr/>
                </a:tc>
                <a:tc>
                  <a:txBody>
                    <a:bodyPr/>
                    <a:lstStyle/>
                    <a:p>
                      <a:pPr algn="ctr"/>
                      <a:r>
                        <a:rPr lang="fr-FR" dirty="0"/>
                        <a:t>Alimentation animale</a:t>
                      </a:r>
                    </a:p>
                  </a:txBody>
                  <a:tcPr/>
                </a:tc>
                <a:extLst>
                  <a:ext uri="{0D108BD9-81ED-4DB2-BD59-A6C34878D82A}">
                    <a16:rowId xmlns:a16="http://schemas.microsoft.com/office/drawing/2014/main" val="1357262534"/>
                  </a:ext>
                </a:extLst>
              </a:tr>
              <a:tr h="370840">
                <a:tc>
                  <a:txBody>
                    <a:bodyPr/>
                    <a:lstStyle/>
                    <a:p>
                      <a:pPr algn="ctr"/>
                      <a:r>
                        <a:rPr lang="fr-FR" dirty="0"/>
                        <a:t>Part mondiale de l’utilisation des céréales</a:t>
                      </a:r>
                    </a:p>
                  </a:txBody>
                  <a:tcPr/>
                </a:tc>
                <a:tc>
                  <a:txBody>
                    <a:bodyPr/>
                    <a:lstStyle/>
                    <a:p>
                      <a:pPr algn="ctr"/>
                      <a:r>
                        <a:rPr lang="fr-FR" dirty="0"/>
                        <a:t>43 %</a:t>
                      </a:r>
                    </a:p>
                  </a:txBody>
                  <a:tcPr anchor="ctr"/>
                </a:tc>
                <a:tc>
                  <a:txBody>
                    <a:bodyPr/>
                    <a:lstStyle/>
                    <a:p>
                      <a:pPr algn="ctr"/>
                      <a:r>
                        <a:rPr lang="fr-FR" dirty="0"/>
                        <a:t>35,9 %</a:t>
                      </a:r>
                    </a:p>
                  </a:txBody>
                  <a:tcPr anchor="ctr"/>
                </a:tc>
                <a:extLst>
                  <a:ext uri="{0D108BD9-81ED-4DB2-BD59-A6C34878D82A}">
                    <a16:rowId xmlns:a16="http://schemas.microsoft.com/office/drawing/2014/main" val="76677991"/>
                  </a:ext>
                </a:extLst>
              </a:tr>
            </a:tbl>
          </a:graphicData>
        </a:graphic>
      </p:graphicFrame>
      <p:sp>
        <p:nvSpPr>
          <p:cNvPr id="7" name="ZoneTexte 6">
            <a:extLst>
              <a:ext uri="{FF2B5EF4-FFF2-40B4-BE49-F238E27FC236}">
                <a16:creationId xmlns:a16="http://schemas.microsoft.com/office/drawing/2014/main" id="{AFE06EB4-317B-30C1-FE7C-2EEBB035DB8D}"/>
              </a:ext>
            </a:extLst>
          </p:cNvPr>
          <p:cNvSpPr txBox="1"/>
          <p:nvPr/>
        </p:nvSpPr>
        <p:spPr>
          <a:xfrm>
            <a:off x="2073521" y="5502225"/>
            <a:ext cx="9970010" cy="830997"/>
          </a:xfrm>
          <a:prstGeom prst="rect">
            <a:avLst/>
          </a:prstGeom>
          <a:noFill/>
        </p:spPr>
        <p:txBody>
          <a:bodyPr wrap="square" rtlCol="0">
            <a:spAutoFit/>
          </a:bodyPr>
          <a:lstStyle/>
          <a:p>
            <a:r>
              <a:rPr lang="fr-FR" sz="1600" dirty="0">
                <a:solidFill>
                  <a:schemeClr val="bg1"/>
                </a:solidFill>
                <a:latin typeface="Century Gothic" panose="020B0502020202020204" pitchFamily="34" charset="0"/>
              </a:rPr>
              <a:t>Il y a de grandes disparités entre les pays, à titre d’exemple le Danemark va consacrer 82,1 % de ses ressources en céréales à l’alimentation animale. Au contraire d’autres Etats, comme Djibouti, va consacrer 94,2 % de ses céréales à l’alimentation humaine.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la plus forte en </a:t>
            </a:r>
            <a:r>
              <a:rPr lang="fr-FR" sz="3200">
                <a:solidFill>
                  <a:schemeClr val="lt1"/>
                </a:solidFill>
              </a:rPr>
              <a:t>2017</a:t>
            </a:r>
            <a:endParaRPr/>
          </a:p>
        </p:txBody>
      </p:sp>
      <p:pic>
        <p:nvPicPr>
          <p:cNvPr id="3" name="Image 2">
            <a:extLst>
              <a:ext uri="{FF2B5EF4-FFF2-40B4-BE49-F238E27FC236}">
                <a16:creationId xmlns:a16="http://schemas.microsoft.com/office/drawing/2014/main" id="{75BEB42B-98F6-EE9A-817D-D5A2BD2F2FF1}"/>
              </a:ext>
            </a:extLst>
          </p:cNvPr>
          <p:cNvPicPr>
            <a:picLocks noChangeAspect="1"/>
          </p:cNvPicPr>
          <p:nvPr/>
        </p:nvPicPr>
        <p:blipFill>
          <a:blip r:embed="rId3"/>
          <a:stretch>
            <a:fillRect/>
          </a:stretch>
        </p:blipFill>
        <p:spPr>
          <a:xfrm>
            <a:off x="810000" y="2674588"/>
            <a:ext cx="6449325" cy="3191320"/>
          </a:xfrm>
          <a:prstGeom prst="rect">
            <a:avLst/>
          </a:prstGeom>
        </p:spPr>
      </p:pic>
      <p:sp>
        <p:nvSpPr>
          <p:cNvPr id="4" name="ZoneTexte 3">
            <a:extLst>
              <a:ext uri="{FF2B5EF4-FFF2-40B4-BE49-F238E27FC236}">
                <a16:creationId xmlns:a16="http://schemas.microsoft.com/office/drawing/2014/main" id="{9B6689EA-C3AC-FFB2-0D22-9A5A687C5B05}"/>
              </a:ext>
            </a:extLst>
          </p:cNvPr>
          <p:cNvSpPr txBox="1"/>
          <p:nvPr/>
        </p:nvSpPr>
        <p:spPr>
          <a:xfrm>
            <a:off x="7754112" y="3395504"/>
            <a:ext cx="3627886" cy="1477328"/>
          </a:xfrm>
          <a:prstGeom prst="rect">
            <a:avLst/>
          </a:prstGeom>
          <a:noFill/>
        </p:spPr>
        <p:txBody>
          <a:bodyPr wrap="square" rtlCol="0">
            <a:spAutoFit/>
          </a:bodyPr>
          <a:lstStyle/>
          <a:p>
            <a:r>
              <a:rPr lang="fr-FR" sz="1800" dirty="0">
                <a:solidFill>
                  <a:schemeClr val="bg1"/>
                </a:solidFill>
                <a:latin typeface="Century Gothic" panose="020B0502020202020204" pitchFamily="34" charset="0"/>
              </a:rPr>
              <a:t>Le pays dont les habitants souffrent le plus de sous-nutrition est Haïti, cela concerne près de la moitié de sa population.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7) Liste des 10 pays qui ont le plus bénéficié de l’aide alimentaire entre 2013 et 2016</a:t>
            </a:r>
            <a:endParaRPr/>
          </a:p>
        </p:txBody>
      </p:sp>
      <p:pic>
        <p:nvPicPr>
          <p:cNvPr id="5" name="Image 4">
            <a:extLst>
              <a:ext uri="{FF2B5EF4-FFF2-40B4-BE49-F238E27FC236}">
                <a16:creationId xmlns:a16="http://schemas.microsoft.com/office/drawing/2014/main" id="{B180E6FE-2176-4B09-381F-3A91B98E82BF}"/>
              </a:ext>
            </a:extLst>
          </p:cNvPr>
          <p:cNvPicPr>
            <a:picLocks noChangeAspect="1"/>
          </p:cNvPicPr>
          <p:nvPr/>
        </p:nvPicPr>
        <p:blipFill>
          <a:blip r:embed="rId3"/>
          <a:stretch>
            <a:fillRect/>
          </a:stretch>
        </p:blipFill>
        <p:spPr>
          <a:xfrm>
            <a:off x="924075" y="2388365"/>
            <a:ext cx="2886478" cy="3486637"/>
          </a:xfrm>
          <a:prstGeom prst="rect">
            <a:avLst/>
          </a:prstGeom>
        </p:spPr>
      </p:pic>
      <p:sp>
        <p:nvSpPr>
          <p:cNvPr id="6" name="ZoneTexte 5">
            <a:extLst>
              <a:ext uri="{FF2B5EF4-FFF2-40B4-BE49-F238E27FC236}">
                <a16:creationId xmlns:a16="http://schemas.microsoft.com/office/drawing/2014/main" id="{2C874A1B-B94C-EE2B-65C1-0C6B3BB69C46}"/>
              </a:ext>
            </a:extLst>
          </p:cNvPr>
          <p:cNvSpPr txBox="1"/>
          <p:nvPr/>
        </p:nvSpPr>
        <p:spPr>
          <a:xfrm>
            <a:off x="4562856" y="3254520"/>
            <a:ext cx="5824728" cy="1754326"/>
          </a:xfrm>
          <a:prstGeom prst="rect">
            <a:avLst/>
          </a:prstGeom>
          <a:noFill/>
        </p:spPr>
        <p:txBody>
          <a:bodyPr wrap="square" rtlCol="0">
            <a:spAutoFit/>
          </a:bodyPr>
          <a:lstStyle/>
          <a:p>
            <a:r>
              <a:rPr lang="fr-FR" sz="1800" dirty="0">
                <a:solidFill>
                  <a:schemeClr val="bg1"/>
                </a:solidFill>
                <a:latin typeface="Century Gothic" panose="020B0502020202020204" pitchFamily="34" charset="0"/>
              </a:rPr>
              <a:t>Les chiffres de l’aide alimentaire sont exprimés en millions de tonnes de nourriture, cumulés sur les 4 années entre 2013 et 2016. </a:t>
            </a:r>
          </a:p>
          <a:p>
            <a:endParaRPr lang="fr-FR" sz="1800" dirty="0">
              <a:solidFill>
                <a:schemeClr val="bg1"/>
              </a:solidFill>
              <a:latin typeface="Century Gothic" panose="020B0502020202020204" pitchFamily="34" charset="0"/>
            </a:endParaRPr>
          </a:p>
          <a:p>
            <a:r>
              <a:rPr lang="fr-FR" sz="1800" dirty="0">
                <a:solidFill>
                  <a:schemeClr val="bg1"/>
                </a:solidFill>
                <a:latin typeface="Century Gothic" panose="020B0502020202020204" pitchFamily="34" charset="0"/>
              </a:rPr>
              <a:t>L’aide versée aux trois pays en ayant reçu le plus représente 40 % de l’aide totale mondiale.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233f607d43_0_0"/>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8) Évolution de l’aide alimentaire pour les 5 pays qui en ont le plus bénéficié entre 2013 et 2016</a:t>
            </a:r>
            <a:endParaRPr/>
          </a:p>
        </p:txBody>
      </p:sp>
      <p:sp>
        <p:nvSpPr>
          <p:cNvPr id="4" name="ZoneTexte 3">
            <a:extLst>
              <a:ext uri="{FF2B5EF4-FFF2-40B4-BE49-F238E27FC236}">
                <a16:creationId xmlns:a16="http://schemas.microsoft.com/office/drawing/2014/main" id="{D182F609-9F82-41C4-6399-9BC605968E10}"/>
              </a:ext>
            </a:extLst>
          </p:cNvPr>
          <p:cNvSpPr txBox="1"/>
          <p:nvPr/>
        </p:nvSpPr>
        <p:spPr>
          <a:xfrm>
            <a:off x="7900416" y="2670048"/>
            <a:ext cx="4069080" cy="923330"/>
          </a:xfrm>
          <a:prstGeom prst="rect">
            <a:avLst/>
          </a:prstGeom>
          <a:noFill/>
        </p:spPr>
        <p:txBody>
          <a:bodyPr wrap="square" rtlCol="0">
            <a:spAutoFit/>
          </a:bodyPr>
          <a:lstStyle/>
          <a:p>
            <a:r>
              <a:rPr lang="fr-FR" sz="1800" dirty="0">
                <a:solidFill>
                  <a:schemeClr val="bg1"/>
                </a:solidFill>
                <a:latin typeface="Century Gothic" panose="020B0502020202020204" pitchFamily="34" charset="0"/>
              </a:rPr>
              <a:t>Pour trois des pays l’aide s’arrête en 2016 : l’Ethiopie, le Soudan et le Soudan du Sud.</a:t>
            </a:r>
          </a:p>
        </p:txBody>
      </p:sp>
      <p:pic>
        <p:nvPicPr>
          <p:cNvPr id="7" name="Image 6" descr="Une image contenant texte, ligne, diagramme, Tracé&#10;&#10;Le contenu généré par l’IA peut être incorrect.">
            <a:extLst>
              <a:ext uri="{FF2B5EF4-FFF2-40B4-BE49-F238E27FC236}">
                <a16:creationId xmlns:a16="http://schemas.microsoft.com/office/drawing/2014/main" id="{5C4DFDC1-3E35-0CEA-A886-1462D729AA93}"/>
              </a:ext>
            </a:extLst>
          </p:cNvPr>
          <p:cNvPicPr>
            <a:picLocks noChangeAspect="1"/>
          </p:cNvPicPr>
          <p:nvPr/>
        </p:nvPicPr>
        <p:blipFill>
          <a:blip r:embed="rId3"/>
          <a:stretch>
            <a:fillRect/>
          </a:stretch>
        </p:blipFill>
        <p:spPr>
          <a:xfrm>
            <a:off x="490717" y="2485643"/>
            <a:ext cx="7281683" cy="36408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9) Liste des 10 pays qui ont la plus forte disponibilité alimentaire par habitant</a:t>
            </a:r>
            <a:endParaRPr sz="3200" dirty="0"/>
          </a:p>
        </p:txBody>
      </p:sp>
      <p:sp>
        <p:nvSpPr>
          <p:cNvPr id="203" name="Google Shape;203;p11"/>
          <p:cNvSpPr txBox="1">
            <a:spLocks noGrp="1"/>
          </p:cNvSpPr>
          <p:nvPr>
            <p:ph type="body" idx="1"/>
          </p:nvPr>
        </p:nvSpPr>
        <p:spPr>
          <a:xfrm>
            <a:off x="5303520" y="2222287"/>
            <a:ext cx="6069766"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dirty="0"/>
              <a:t>On retrouve essentiellement dans ce top 10 des pays européens (6).</a:t>
            </a:r>
            <a:endParaRPr dirty="0"/>
          </a:p>
        </p:txBody>
      </p:sp>
      <p:pic>
        <p:nvPicPr>
          <p:cNvPr id="3" name="Image 2">
            <a:extLst>
              <a:ext uri="{FF2B5EF4-FFF2-40B4-BE49-F238E27FC236}">
                <a16:creationId xmlns:a16="http://schemas.microsoft.com/office/drawing/2014/main" id="{6BAA843F-7EA2-64B9-14BD-B805C6ED6135}"/>
              </a:ext>
            </a:extLst>
          </p:cNvPr>
          <p:cNvPicPr>
            <a:picLocks noChangeAspect="1"/>
          </p:cNvPicPr>
          <p:nvPr/>
        </p:nvPicPr>
        <p:blipFill>
          <a:blip r:embed="rId3"/>
          <a:stretch>
            <a:fillRect/>
          </a:stretch>
        </p:blipFill>
        <p:spPr>
          <a:xfrm>
            <a:off x="365760" y="2222286"/>
            <a:ext cx="4824307" cy="39316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9) Liste des 10 pays qui ont la plus faible disponibilité alimentaire par habitant</a:t>
            </a:r>
            <a:endParaRPr dirty="0"/>
          </a:p>
        </p:txBody>
      </p:sp>
      <p:sp>
        <p:nvSpPr>
          <p:cNvPr id="210" name="Google Shape;210;p12"/>
          <p:cNvSpPr txBox="1">
            <a:spLocks noGrp="1"/>
          </p:cNvSpPr>
          <p:nvPr>
            <p:ph type="body" idx="1"/>
          </p:nvPr>
        </p:nvSpPr>
        <p:spPr>
          <a:xfrm>
            <a:off x="6656832" y="2222287"/>
            <a:ext cx="471645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dirty="0"/>
              <a:t>La majorité d’entre eux sont des pays du continent africain (6). </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Entre le pays ayant la plus faible disponibilité alimentaire, la République Centrafricaine et celui ayant la plus élevée, l’Autriche, il y a un rapport de un pour deux.</a:t>
            </a:r>
            <a:endParaRPr dirty="0"/>
          </a:p>
        </p:txBody>
      </p:sp>
      <p:pic>
        <p:nvPicPr>
          <p:cNvPr id="3" name="Image 2">
            <a:extLst>
              <a:ext uri="{FF2B5EF4-FFF2-40B4-BE49-F238E27FC236}">
                <a16:creationId xmlns:a16="http://schemas.microsoft.com/office/drawing/2014/main" id="{7647536D-6BFB-CAB3-483E-3D98F36E48CF}"/>
              </a:ext>
            </a:extLst>
          </p:cNvPr>
          <p:cNvPicPr>
            <a:picLocks noChangeAspect="1"/>
          </p:cNvPicPr>
          <p:nvPr/>
        </p:nvPicPr>
        <p:blipFill>
          <a:blip r:embed="rId3"/>
          <a:stretch>
            <a:fillRect/>
          </a:stretch>
        </p:blipFill>
        <p:spPr>
          <a:xfrm>
            <a:off x="619301" y="2353109"/>
            <a:ext cx="5668166" cy="35056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3"/>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10) Étude sur le manioc en Thaïlande</a:t>
            </a:r>
            <a:endParaRPr/>
          </a:p>
        </p:txBody>
      </p:sp>
      <p:sp>
        <p:nvSpPr>
          <p:cNvPr id="2" name="Espace réservé du texte 1">
            <a:extLst>
              <a:ext uri="{FF2B5EF4-FFF2-40B4-BE49-F238E27FC236}">
                <a16:creationId xmlns:a16="http://schemas.microsoft.com/office/drawing/2014/main" id="{842A65D0-91B0-E77D-CD1A-A9246FA47BD1}"/>
              </a:ext>
            </a:extLst>
          </p:cNvPr>
          <p:cNvSpPr>
            <a:spLocks noGrp="1" noChangeArrowheads="1"/>
          </p:cNvSpPr>
          <p:nvPr>
            <p:ph type="body" idx="1"/>
          </p:nvPr>
        </p:nvSpPr>
        <p:spPr bwMode="auto">
          <a:xfrm>
            <a:off x="810000" y="2269639"/>
            <a:ext cx="1089836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bg1"/>
                </a:solidFill>
                <a:effectLst/>
                <a:latin typeface="Century Gothic" panose="020B0502020202020204" pitchFamily="34" charset="0"/>
              </a:rPr>
              <a:t>La population en état de sous-nutrition en Thaïlande est de 6 200 000 personnes, soit 9.0 % de sa population. </a:t>
            </a:r>
          </a:p>
          <a:p>
            <a:pPr marL="0" marR="0" lvl="0" indent="0" algn="l" defTabSz="914400" rtl="0" eaLnBrk="0" fontAlgn="base" latinLnBrk="0" hangingPunct="0">
              <a:lnSpc>
                <a:spcPct val="100000"/>
              </a:lnSpc>
              <a:spcBef>
                <a:spcPct val="0"/>
              </a:spcBef>
              <a:spcAft>
                <a:spcPct val="0"/>
              </a:spcAft>
              <a:buClrTx/>
              <a:buSzTx/>
              <a:buFontTx/>
              <a:buNone/>
              <a:tabLst/>
            </a:pPr>
            <a:r>
              <a:rPr lang="fr-FR" altLang="fr-FR" dirty="0">
                <a:solidFill>
                  <a:schemeClr val="bg1"/>
                </a:solidFill>
                <a:latin typeface="Century Gothic" panose="020B0502020202020204" pitchFamily="34" charset="0"/>
                <a:cs typeface="Arial" panose="020B0604020202020204" pitchFamily="34" charset="0"/>
              </a:rPr>
              <a:t>Il est intéressant de regarder plus en détails les données concernant le manioc :</a:t>
            </a:r>
          </a:p>
        </p:txBody>
      </p:sp>
      <p:sp>
        <p:nvSpPr>
          <p:cNvPr id="3" name="ZoneTexte 2">
            <a:extLst>
              <a:ext uri="{FF2B5EF4-FFF2-40B4-BE49-F238E27FC236}">
                <a16:creationId xmlns:a16="http://schemas.microsoft.com/office/drawing/2014/main" id="{B90EFCA6-F556-EB0F-7720-1FA84D6742A6}"/>
              </a:ext>
            </a:extLst>
          </p:cNvPr>
          <p:cNvSpPr txBox="1"/>
          <p:nvPr/>
        </p:nvSpPr>
        <p:spPr>
          <a:xfrm>
            <a:off x="810000" y="3429000"/>
            <a:ext cx="2353824" cy="1200329"/>
          </a:xfrm>
          <a:custGeom>
            <a:avLst/>
            <a:gdLst>
              <a:gd name="connsiteX0" fmla="*/ 0 w 2353824"/>
              <a:gd name="connsiteY0" fmla="*/ 0 h 1200329"/>
              <a:gd name="connsiteX1" fmla="*/ 2353824 w 2353824"/>
              <a:gd name="connsiteY1" fmla="*/ 0 h 1200329"/>
              <a:gd name="connsiteX2" fmla="*/ 2353824 w 2353824"/>
              <a:gd name="connsiteY2" fmla="*/ 1200329 h 1200329"/>
              <a:gd name="connsiteX3" fmla="*/ 0 w 2353824"/>
              <a:gd name="connsiteY3" fmla="*/ 1200329 h 1200329"/>
              <a:gd name="connsiteX4" fmla="*/ 0 w 2353824"/>
              <a:gd name="connsiteY4" fmla="*/ 0 h 1200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3824" h="1200329" extrusionOk="0">
                <a:moveTo>
                  <a:pt x="0" y="0"/>
                </a:moveTo>
                <a:cubicBezTo>
                  <a:pt x="905496" y="-5264"/>
                  <a:pt x="1699648" y="84467"/>
                  <a:pt x="2353824" y="0"/>
                </a:cubicBezTo>
                <a:cubicBezTo>
                  <a:pt x="2316897" y="393021"/>
                  <a:pt x="2321781" y="1014765"/>
                  <a:pt x="2353824" y="1200329"/>
                </a:cubicBezTo>
                <a:cubicBezTo>
                  <a:pt x="1475070" y="1306649"/>
                  <a:pt x="429886" y="1192680"/>
                  <a:pt x="0" y="1200329"/>
                </a:cubicBezTo>
                <a:cubicBezTo>
                  <a:pt x="-39762" y="727104"/>
                  <a:pt x="103026" y="164741"/>
                  <a:pt x="0" y="0"/>
                </a:cubicBezTo>
                <a:close/>
              </a:path>
            </a:pathLst>
          </a:custGeom>
          <a:noFill/>
          <a:ln>
            <a:solidFill>
              <a:schemeClr val="bg1"/>
            </a:solidFill>
            <a:extLst>
              <a:ext uri="{C807C97D-BFC1-408E-A445-0C87EB9F89A2}">
                <ask:lineSketchStyleProps xmlns:ask="http://schemas.microsoft.com/office/drawing/2018/sketchyshapes" sd="2650216993">
                  <a:prstGeom prst="rect">
                    <a:avLst/>
                  </a:prstGeom>
                  <ask:type>
                    <ask:lineSketchCurved/>
                  </ask:type>
                </ask:lineSketchStyleProps>
              </a:ext>
            </a:extLst>
          </a:ln>
        </p:spPr>
        <p:txBody>
          <a:bodyPr wrap="square" rtlCol="0">
            <a:spAutoFit/>
          </a:bodyPr>
          <a:lstStyle/>
          <a:p>
            <a:r>
              <a:rPr lang="fr-FR" sz="1800" dirty="0">
                <a:solidFill>
                  <a:schemeClr val="bg1"/>
                </a:solidFill>
                <a:latin typeface="Century Gothic" panose="020B0502020202020204" pitchFamily="34" charset="0"/>
              </a:rPr>
              <a:t>La production de manioc s’élève à 30,2 millions de tonnes </a:t>
            </a:r>
          </a:p>
        </p:txBody>
      </p:sp>
      <p:sp>
        <p:nvSpPr>
          <p:cNvPr id="4" name="ZoneTexte 3">
            <a:extLst>
              <a:ext uri="{FF2B5EF4-FFF2-40B4-BE49-F238E27FC236}">
                <a16:creationId xmlns:a16="http://schemas.microsoft.com/office/drawing/2014/main" id="{F8D71000-B459-CB06-FA2B-D563E5767E22}"/>
              </a:ext>
            </a:extLst>
          </p:cNvPr>
          <p:cNvSpPr txBox="1"/>
          <p:nvPr/>
        </p:nvSpPr>
        <p:spPr>
          <a:xfrm>
            <a:off x="6259184" y="3567499"/>
            <a:ext cx="2732093" cy="923330"/>
          </a:xfrm>
          <a:custGeom>
            <a:avLst/>
            <a:gdLst>
              <a:gd name="connsiteX0" fmla="*/ 0 w 2732093"/>
              <a:gd name="connsiteY0" fmla="*/ 0 h 923330"/>
              <a:gd name="connsiteX1" fmla="*/ 2732093 w 2732093"/>
              <a:gd name="connsiteY1" fmla="*/ 0 h 923330"/>
              <a:gd name="connsiteX2" fmla="*/ 2732093 w 2732093"/>
              <a:gd name="connsiteY2" fmla="*/ 923330 h 923330"/>
              <a:gd name="connsiteX3" fmla="*/ 0 w 2732093"/>
              <a:gd name="connsiteY3" fmla="*/ 923330 h 923330"/>
              <a:gd name="connsiteX4" fmla="*/ 0 w 2732093"/>
              <a:gd name="connsiteY4" fmla="*/ 0 h 923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093" h="923330" extrusionOk="0">
                <a:moveTo>
                  <a:pt x="0" y="0"/>
                </a:moveTo>
                <a:cubicBezTo>
                  <a:pt x="280366" y="-42219"/>
                  <a:pt x="1517265" y="63140"/>
                  <a:pt x="2732093" y="0"/>
                </a:cubicBezTo>
                <a:cubicBezTo>
                  <a:pt x="2738355" y="426707"/>
                  <a:pt x="2752517" y="497304"/>
                  <a:pt x="2732093" y="923330"/>
                </a:cubicBezTo>
                <a:cubicBezTo>
                  <a:pt x="2012985" y="1016985"/>
                  <a:pt x="1300454" y="857528"/>
                  <a:pt x="0" y="923330"/>
                </a:cubicBezTo>
                <a:cubicBezTo>
                  <a:pt x="-81653" y="613831"/>
                  <a:pt x="-8350" y="240007"/>
                  <a:pt x="0" y="0"/>
                </a:cubicBezTo>
                <a:close/>
              </a:path>
            </a:pathLst>
          </a:custGeom>
          <a:noFill/>
          <a:ln>
            <a:solidFill>
              <a:schemeClr val="bg1"/>
            </a:solidFill>
            <a:extLst>
              <a:ext uri="{C807C97D-BFC1-408E-A445-0C87EB9F89A2}">
                <ask:lineSketchStyleProps xmlns:ask="http://schemas.microsoft.com/office/drawing/2018/sketchyshapes" sd="879248734">
                  <a:prstGeom prst="rect">
                    <a:avLst/>
                  </a:prstGeom>
                  <ask:type>
                    <ask:lineSketchCurved/>
                  </ask:type>
                </ask:lineSketchStyleProps>
              </a:ext>
            </a:extLst>
          </a:ln>
        </p:spPr>
        <p:txBody>
          <a:bodyPr wrap="square" rtlCol="0">
            <a:spAutoFit/>
          </a:bodyPr>
          <a:lstStyle/>
          <a:p>
            <a:r>
              <a:rPr lang="fr-FR" sz="1800" dirty="0">
                <a:solidFill>
                  <a:schemeClr val="bg1"/>
                </a:solidFill>
                <a:latin typeface="Century Gothic" panose="020B0502020202020204" pitchFamily="34" charset="0"/>
              </a:rPr>
              <a:t>Mais la Thaïlande exporte 83,4 % de sa production</a:t>
            </a:r>
          </a:p>
        </p:txBody>
      </p:sp>
      <p:sp>
        <p:nvSpPr>
          <p:cNvPr id="5" name="ZoneTexte 4">
            <a:extLst>
              <a:ext uri="{FF2B5EF4-FFF2-40B4-BE49-F238E27FC236}">
                <a16:creationId xmlns:a16="http://schemas.microsoft.com/office/drawing/2014/main" id="{90ECAA72-0B8B-0084-9B3D-920627390270}"/>
              </a:ext>
            </a:extLst>
          </p:cNvPr>
          <p:cNvSpPr txBox="1"/>
          <p:nvPr/>
        </p:nvSpPr>
        <p:spPr>
          <a:xfrm>
            <a:off x="3345457" y="3844498"/>
            <a:ext cx="2732093" cy="369332"/>
          </a:xfrm>
          <a:custGeom>
            <a:avLst/>
            <a:gdLst>
              <a:gd name="connsiteX0" fmla="*/ 0 w 2732093"/>
              <a:gd name="connsiteY0" fmla="*/ 0 h 369332"/>
              <a:gd name="connsiteX1" fmla="*/ 2732093 w 2732093"/>
              <a:gd name="connsiteY1" fmla="*/ 0 h 369332"/>
              <a:gd name="connsiteX2" fmla="*/ 2732093 w 2732093"/>
              <a:gd name="connsiteY2" fmla="*/ 369332 h 369332"/>
              <a:gd name="connsiteX3" fmla="*/ 0 w 2732093"/>
              <a:gd name="connsiteY3" fmla="*/ 369332 h 369332"/>
              <a:gd name="connsiteX4" fmla="*/ 0 w 2732093"/>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093" h="369332" extrusionOk="0">
                <a:moveTo>
                  <a:pt x="0" y="0"/>
                </a:moveTo>
                <a:cubicBezTo>
                  <a:pt x="280366" y="-42219"/>
                  <a:pt x="1517265" y="63140"/>
                  <a:pt x="2732093" y="0"/>
                </a:cubicBezTo>
                <a:cubicBezTo>
                  <a:pt x="2754975" y="67242"/>
                  <a:pt x="2735897" y="289100"/>
                  <a:pt x="2732093" y="369332"/>
                </a:cubicBezTo>
                <a:cubicBezTo>
                  <a:pt x="2012985" y="462987"/>
                  <a:pt x="1300454" y="303530"/>
                  <a:pt x="0" y="369332"/>
                </a:cubicBezTo>
                <a:cubicBezTo>
                  <a:pt x="1447" y="279602"/>
                  <a:pt x="8270" y="54078"/>
                  <a:pt x="0" y="0"/>
                </a:cubicBezTo>
                <a:close/>
              </a:path>
            </a:pathLst>
          </a:custGeom>
          <a:noFill/>
          <a:ln>
            <a:solidFill>
              <a:schemeClr val="bg1"/>
            </a:solidFill>
            <a:extLst>
              <a:ext uri="{C807C97D-BFC1-408E-A445-0C87EB9F89A2}">
                <ask:lineSketchStyleProps xmlns:ask="http://schemas.microsoft.com/office/drawing/2018/sketchyshapes" sd="879248734">
                  <a:prstGeom prst="rect">
                    <a:avLst/>
                  </a:prstGeom>
                  <ask:type>
                    <ask:lineSketchCurved/>
                  </ask:type>
                </ask:lineSketchStyleProps>
              </a:ext>
            </a:extLst>
          </a:ln>
        </p:spPr>
        <p:txBody>
          <a:bodyPr wrap="square" rtlCol="0">
            <a:spAutoFit/>
          </a:bodyPr>
          <a:lstStyle/>
          <a:p>
            <a:r>
              <a:rPr lang="fr-FR" sz="1800" dirty="0">
                <a:solidFill>
                  <a:schemeClr val="bg1"/>
                </a:solidFill>
                <a:latin typeface="Century Gothic" panose="020B0502020202020204" pitchFamily="34" charset="0"/>
              </a:rPr>
              <a:t>MAIS ….</a:t>
            </a:r>
          </a:p>
        </p:txBody>
      </p:sp>
      <p:sp>
        <p:nvSpPr>
          <p:cNvPr id="6" name="ZoneTexte 5">
            <a:extLst>
              <a:ext uri="{FF2B5EF4-FFF2-40B4-BE49-F238E27FC236}">
                <a16:creationId xmlns:a16="http://schemas.microsoft.com/office/drawing/2014/main" id="{5475653E-5AF7-4A0D-A64F-7A3D9EF6C7DB}"/>
              </a:ext>
            </a:extLst>
          </p:cNvPr>
          <p:cNvSpPr txBox="1"/>
          <p:nvPr/>
        </p:nvSpPr>
        <p:spPr>
          <a:xfrm>
            <a:off x="810000" y="4743057"/>
            <a:ext cx="9358128" cy="1754326"/>
          </a:xfrm>
          <a:prstGeom prst="rect">
            <a:avLst/>
          </a:prstGeom>
          <a:noFill/>
        </p:spPr>
        <p:txBody>
          <a:bodyPr wrap="square" rtlCol="0">
            <a:spAutoFit/>
          </a:bodyPr>
          <a:lstStyle/>
          <a:p>
            <a:r>
              <a:rPr lang="fr-FR" sz="1800" dirty="0">
                <a:solidFill>
                  <a:schemeClr val="bg1"/>
                </a:solidFill>
                <a:latin typeface="Century Gothic" panose="020B0502020202020204" pitchFamily="34" charset="0"/>
              </a:rPr>
              <a:t>Même si ce chiffre paraît étonnant, il y a différents éléments d’explications : </a:t>
            </a:r>
          </a:p>
          <a:p>
            <a:endParaRPr lang="fr-FR" sz="1800" dirty="0">
              <a:solidFill>
                <a:schemeClr val="bg1"/>
              </a:solidFill>
              <a:latin typeface="Century Gothic" panose="020B0502020202020204" pitchFamily="34" charset="0"/>
            </a:endParaRPr>
          </a:p>
          <a:p>
            <a:pPr marL="285750" indent="-285750">
              <a:buClr>
                <a:schemeClr val="bg1"/>
              </a:buClr>
              <a:buFont typeface="Wingdings" panose="05000000000000000000" pitchFamily="2" charset="2"/>
              <a:buChar char="q"/>
            </a:pPr>
            <a:r>
              <a:rPr lang="fr-FR" sz="1800" dirty="0">
                <a:solidFill>
                  <a:schemeClr val="bg1"/>
                </a:solidFill>
                <a:latin typeface="Century Gothic" panose="020B0502020202020204" pitchFamily="34" charset="0"/>
              </a:rPr>
              <a:t>L’amidon est exporté à des fins de transformation et non pour la consommation</a:t>
            </a:r>
          </a:p>
          <a:p>
            <a:pPr marL="285750" indent="-285750">
              <a:buClr>
                <a:schemeClr val="bg1"/>
              </a:buClr>
              <a:buFont typeface="Wingdings" panose="05000000000000000000" pitchFamily="2" charset="2"/>
              <a:buChar char="q"/>
            </a:pPr>
            <a:r>
              <a:rPr lang="fr-FR" sz="1800" dirty="0">
                <a:solidFill>
                  <a:schemeClr val="bg1"/>
                </a:solidFill>
                <a:latin typeface="Century Gothic" panose="020B0502020202020204" pitchFamily="34" charset="0"/>
              </a:rPr>
              <a:t>Le manioc est un des fers de lance de la politique commerciale de son pays. Il est le premier pays exportateur au monde en 2022, cela représente 1,52 milliard d’euros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11) Analyses complémentaires</a:t>
            </a:r>
            <a:endParaRPr sz="3200" dirty="0"/>
          </a:p>
        </p:txBody>
      </p:sp>
      <p:pic>
        <p:nvPicPr>
          <p:cNvPr id="3" name="Image 2">
            <a:extLst>
              <a:ext uri="{FF2B5EF4-FFF2-40B4-BE49-F238E27FC236}">
                <a16:creationId xmlns:a16="http://schemas.microsoft.com/office/drawing/2014/main" id="{FEF75564-C026-0B3C-A013-82A359144D48}"/>
              </a:ext>
            </a:extLst>
          </p:cNvPr>
          <p:cNvPicPr>
            <a:picLocks noChangeAspect="1"/>
          </p:cNvPicPr>
          <p:nvPr/>
        </p:nvPicPr>
        <p:blipFill>
          <a:blip r:embed="rId3"/>
          <a:stretch>
            <a:fillRect/>
          </a:stretch>
        </p:blipFill>
        <p:spPr>
          <a:xfrm>
            <a:off x="1944271" y="2262914"/>
            <a:ext cx="5249008" cy="1991003"/>
          </a:xfrm>
          <a:prstGeom prst="rect">
            <a:avLst/>
          </a:prstGeom>
        </p:spPr>
      </p:pic>
      <p:pic>
        <p:nvPicPr>
          <p:cNvPr id="5" name="Image 4">
            <a:extLst>
              <a:ext uri="{FF2B5EF4-FFF2-40B4-BE49-F238E27FC236}">
                <a16:creationId xmlns:a16="http://schemas.microsoft.com/office/drawing/2014/main" id="{ECC40566-28FB-8F52-69E5-3CE5F943B476}"/>
              </a:ext>
            </a:extLst>
          </p:cNvPr>
          <p:cNvPicPr>
            <a:picLocks noChangeAspect="1"/>
          </p:cNvPicPr>
          <p:nvPr/>
        </p:nvPicPr>
        <p:blipFill>
          <a:blip r:embed="rId4"/>
          <a:stretch>
            <a:fillRect/>
          </a:stretch>
        </p:blipFill>
        <p:spPr>
          <a:xfrm>
            <a:off x="1944271" y="4419809"/>
            <a:ext cx="5249008" cy="1991003"/>
          </a:xfrm>
          <a:prstGeom prst="rect">
            <a:avLst/>
          </a:prstGeom>
        </p:spPr>
      </p:pic>
      <p:sp>
        <p:nvSpPr>
          <p:cNvPr id="6" name="ZoneTexte 5">
            <a:extLst>
              <a:ext uri="{FF2B5EF4-FFF2-40B4-BE49-F238E27FC236}">
                <a16:creationId xmlns:a16="http://schemas.microsoft.com/office/drawing/2014/main" id="{965132F2-674C-7B1E-A756-4285DF4280BA}"/>
              </a:ext>
            </a:extLst>
          </p:cNvPr>
          <p:cNvSpPr txBox="1"/>
          <p:nvPr/>
        </p:nvSpPr>
        <p:spPr>
          <a:xfrm>
            <a:off x="183636" y="2309847"/>
            <a:ext cx="1654308" cy="1323439"/>
          </a:xfrm>
          <a:prstGeom prst="rect">
            <a:avLst/>
          </a:prstGeom>
          <a:noFill/>
        </p:spPr>
        <p:txBody>
          <a:bodyPr wrap="square" rtlCol="0">
            <a:spAutoFit/>
          </a:bodyPr>
          <a:lstStyle/>
          <a:p>
            <a:r>
              <a:rPr lang="fr-FR" sz="1600" dirty="0">
                <a:solidFill>
                  <a:schemeClr val="bg1"/>
                </a:solidFill>
                <a:latin typeface="Century Gothic" panose="020B0502020202020204" pitchFamily="34" charset="0"/>
              </a:rPr>
              <a:t>Le classement des pays en fonction de l’aide reçue par habitant</a:t>
            </a:r>
          </a:p>
        </p:txBody>
      </p:sp>
      <p:sp>
        <p:nvSpPr>
          <p:cNvPr id="7" name="ZoneTexte 6">
            <a:extLst>
              <a:ext uri="{FF2B5EF4-FFF2-40B4-BE49-F238E27FC236}">
                <a16:creationId xmlns:a16="http://schemas.microsoft.com/office/drawing/2014/main" id="{74BFCC38-019D-A73A-AACC-69BBCF8A2804}"/>
              </a:ext>
            </a:extLst>
          </p:cNvPr>
          <p:cNvSpPr txBox="1"/>
          <p:nvPr/>
        </p:nvSpPr>
        <p:spPr>
          <a:xfrm>
            <a:off x="7587228" y="2474893"/>
            <a:ext cx="3794770" cy="4216539"/>
          </a:xfrm>
          <a:prstGeom prst="rect">
            <a:avLst/>
          </a:prstGeom>
          <a:noFill/>
        </p:spPr>
        <p:txBody>
          <a:bodyPr wrap="square" rtlCol="0">
            <a:spAutoFit/>
          </a:bodyPr>
          <a:lstStyle/>
          <a:p>
            <a:r>
              <a:rPr lang="fr-FR" sz="1600" dirty="0">
                <a:solidFill>
                  <a:schemeClr val="bg1"/>
                </a:solidFill>
                <a:latin typeface="Century Gothic" panose="020B0502020202020204" pitchFamily="34" charset="0"/>
              </a:rPr>
              <a:t>On voit que l’aide varie grandement d’un pays à l’autre.</a:t>
            </a:r>
          </a:p>
          <a:p>
            <a:r>
              <a:rPr lang="fr-FR" sz="1600" dirty="0">
                <a:solidFill>
                  <a:schemeClr val="bg1"/>
                </a:solidFill>
                <a:latin typeface="Century Gothic" panose="020B0502020202020204" pitchFamily="34" charset="0"/>
              </a:rPr>
              <a:t>On peut supposer que le contexte géopolitique affecte grandement le montant de ces aides.</a:t>
            </a:r>
          </a:p>
          <a:p>
            <a:endParaRPr lang="fr-FR" sz="1600" dirty="0">
              <a:solidFill>
                <a:schemeClr val="bg1"/>
              </a:solidFill>
              <a:latin typeface="Century Gothic" panose="020B0502020202020204" pitchFamily="34" charset="0"/>
            </a:endParaRPr>
          </a:p>
          <a:p>
            <a:br>
              <a:rPr lang="fr-FR" sz="1600" dirty="0">
                <a:solidFill>
                  <a:schemeClr val="bg1"/>
                </a:solidFill>
                <a:latin typeface="Century Gothic" panose="020B0502020202020204" pitchFamily="34" charset="0"/>
              </a:rPr>
            </a:br>
            <a:r>
              <a:rPr lang="fr-FR" sz="1600" dirty="0">
                <a:solidFill>
                  <a:schemeClr val="bg1"/>
                </a:solidFill>
                <a:latin typeface="Century Gothic" panose="020B0502020202020204" pitchFamily="34" charset="0"/>
              </a:rPr>
              <a:t>Même si cet indicateur est imparfait au regard de la variété des sources (FAOSTAT, World </a:t>
            </a:r>
            <a:r>
              <a:rPr lang="fr-FR" sz="1600" dirty="0" err="1">
                <a:solidFill>
                  <a:schemeClr val="bg1"/>
                </a:solidFill>
                <a:latin typeface="Century Gothic" panose="020B0502020202020204" pitchFamily="34" charset="0"/>
              </a:rPr>
              <a:t>food</a:t>
            </a:r>
            <a:r>
              <a:rPr lang="fr-FR" sz="1600" dirty="0">
                <a:solidFill>
                  <a:schemeClr val="bg1"/>
                </a:solidFill>
                <a:latin typeface="Century Gothic" panose="020B0502020202020204" pitchFamily="34" charset="0"/>
              </a:rPr>
              <a:t> Program), il permet de mettre en avant l’effort de solidarité internationale.</a:t>
            </a:r>
          </a:p>
          <a:p>
            <a:r>
              <a:rPr lang="fr-FR" sz="1600" dirty="0">
                <a:solidFill>
                  <a:schemeClr val="bg1"/>
                </a:solidFill>
                <a:latin typeface="Century Gothic" panose="020B0502020202020204" pitchFamily="34" charset="0"/>
              </a:rPr>
              <a:t>Il serait intéressant également d’avoir des données sur les pays donateurs.</a:t>
            </a:r>
          </a:p>
          <a:p>
            <a:endParaRPr lang="fr-FR" dirty="0">
              <a:solidFill>
                <a:schemeClr val="bg1"/>
              </a:solidFill>
            </a:endParaRPr>
          </a:p>
          <a:p>
            <a:endParaRPr lang="fr-FR"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a:t>Conclusion</a:t>
            </a:r>
            <a:endParaRPr/>
          </a:p>
        </p:txBody>
      </p:sp>
      <p:sp>
        <p:nvSpPr>
          <p:cNvPr id="231" name="Google Shape;231;p15"/>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fr-FR" dirty="0"/>
              <a:t>La mesure et le suivi de ces différents indicateurs au sujet de l’alimentation mondiale sont essentiels. Elles permettent d’éclairer les décideurs et d’influence les politiques d’aides internationale.</a:t>
            </a:r>
          </a:p>
          <a:p>
            <a:pPr marL="0" lvl="0" indent="0" algn="l" rtl="0">
              <a:lnSpc>
                <a:spcPct val="100000"/>
              </a:lnSpc>
              <a:spcBef>
                <a:spcPts val="0"/>
              </a:spcBef>
              <a:spcAft>
                <a:spcPts val="0"/>
              </a:spcAft>
              <a:buSzPts val="1800"/>
              <a:buNone/>
            </a:pPr>
            <a:r>
              <a:rPr lang="fr-FR" dirty="0"/>
              <a:t>Les données montrent que la malnutrition reste un sujet d’actualité aujourd’hui. Ces statistiques permettent de mesurer les progrès réalisés et d’accentuer encore les efforts dans un contexte de réchauffement climatique et de nécessaire préservation des ressources.</a:t>
            </a:r>
          </a:p>
          <a:p>
            <a:pPr marL="0" lvl="0" indent="0" algn="l" rtl="0">
              <a:lnSpc>
                <a:spcPct val="100000"/>
              </a:lnSpc>
              <a:spcBef>
                <a:spcPts val="0"/>
              </a:spcBef>
              <a:spcAft>
                <a:spcPts val="0"/>
              </a:spcAft>
              <a:buSzPts val="1800"/>
              <a:buNone/>
            </a:pPr>
            <a:endParaRPr lang="fr-FR" dirty="0"/>
          </a:p>
          <a:p>
            <a:pPr marL="0" lvl="0" indent="0" algn="l" rtl="0">
              <a:lnSpc>
                <a:spcPct val="100000"/>
              </a:lnSpc>
              <a:spcBef>
                <a:spcPts val="0"/>
              </a:spcBef>
              <a:spcAft>
                <a:spcPts val="0"/>
              </a:spcAft>
              <a:buSzPts val="1800"/>
              <a:buNone/>
            </a:pPr>
            <a:r>
              <a:rPr lang="fr-FR" dirty="0"/>
              <a:t>Un chiffre pour rappel et en guise de 7,1 % de la population mondiale souffre de sous-nutrition,</a:t>
            </a:r>
            <a:endParaRPr dirty="0"/>
          </a:p>
        </p:txBody>
      </p:sp>
    </p:spTree>
  </p:cSld>
  <p:clrMapOvr>
    <a:masterClrMapping/>
  </p:clrMapOvr>
</p:sld>
</file>

<file path=ppt/theme/theme1.xml><?xml version="1.0" encoding="utf-8"?>
<a:theme xmlns:a="http://schemas.openxmlformats.org/drawingml/2006/main" name="Entre guillemets">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1084</TotalTime>
  <Words>1230</Words>
  <Application>Microsoft Office PowerPoint</Application>
  <PresentationFormat>Grand écran</PresentationFormat>
  <Paragraphs>114</Paragraphs>
  <Slides>16</Slides>
  <Notes>16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Noto Sans Symbols</vt:lpstr>
      <vt:lpstr>Wingdings</vt:lpstr>
      <vt:lpstr>Arial</vt:lpstr>
      <vt:lpstr>Century Gothic</vt:lpstr>
      <vt:lpstr>Calibri</vt:lpstr>
      <vt:lpstr>Entre guillemets</vt:lpstr>
      <vt:lpstr>Étude sur l’alimentation dans le monde</vt:lpstr>
      <vt:lpstr>Contexte et spécification des données</vt:lpstr>
      <vt:lpstr>Méthodologie de l’analyse</vt:lpstr>
      <vt:lpstr>1) Proportion de personnes en état de sous-nutrition en 2017</vt:lpstr>
      <vt:lpstr>2) Nombre théorique de personnes qui pourraient être nourries en 2017</vt:lpstr>
      <vt:lpstr>3) Nombre théorique de personnes qui pourraient être nourries uniquement avec les végétaux en 2017</vt:lpstr>
      <vt:lpstr>4) Répartition de la disponibilité intérieure</vt:lpstr>
      <vt:lpstr>5) Part de l’utilisation des principales céréales entre l’alimentation humaine et animale</vt:lpstr>
      <vt:lpstr>6) Liste des 10 pays où la proportion de personnes en état de sous-nutrition est la plus forte en 2017</vt:lpstr>
      <vt:lpstr>7) Liste des 10 pays qui ont le plus bénéficié de l’aide alimentaire entre 2013 et 2016</vt:lpstr>
      <vt:lpstr>8) Évolution de l’aide alimentaire pour les 5 pays qui en ont le plus bénéficié entre 2013 et 2016</vt:lpstr>
      <vt:lpstr>9) Liste des 10 pays qui ont la plus forte disponibilité alimentaire par habitant</vt:lpstr>
      <vt:lpstr>9) Liste des 10 pays qui ont la plus faible disponibilité alimentaire par habitant</vt:lpstr>
      <vt:lpstr>10) Étude sur le manioc en Thaïlande</vt:lpstr>
      <vt:lpstr>11) Analyses complémentaires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JeY jEy</dc:creator>
  <cp:lastModifiedBy>Anthony Leray</cp:lastModifiedBy>
  <cp:revision>10</cp:revision>
  <dcterms:created xsi:type="dcterms:W3CDTF">2023-03-17T20:58:30Z</dcterms:created>
  <dcterms:modified xsi:type="dcterms:W3CDTF">2025-06-13T09:42:36Z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