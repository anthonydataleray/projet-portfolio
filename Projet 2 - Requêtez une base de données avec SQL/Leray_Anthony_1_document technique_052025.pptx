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1" r:id="rId6"/>
    <p:sldId id="263" r:id="rId7"/>
    <p:sldId id="260" r:id="rId8"/>
    <p:sldId id="259" r:id="rId9"/>
    <p:sldId id="266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CF1EE5-6A52-47A9-BD10-0A7C438416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BAA427C-A647-455F-A4B6-916E7DF88E2B}">
      <dgm:prSet phldrT="[Texte]" custT="1"/>
      <dgm:spPr/>
      <dgm:t>
        <a:bodyPr/>
        <a:lstStyle/>
        <a:p>
          <a:pPr>
            <a:buNone/>
          </a:pPr>
          <a:r>
            <a:rPr lang="fr-FR" sz="2000" cap="none" dirty="0">
              <a:latin typeface="Abadi" panose="020B0604020104020204" pitchFamily="34" charset="0"/>
            </a:rPr>
            <a:t>Avant d’entamer le module, j’ai suivi les 3 cours recommandés :</a:t>
          </a:r>
        </a:p>
      </dgm:t>
    </dgm:pt>
    <dgm:pt modelId="{30CB8018-6240-438A-9AC6-B472352E70FF}" type="parTrans" cxnId="{8B9253D3-5F2A-48BE-B4B9-36EDD87037E3}">
      <dgm:prSet/>
      <dgm:spPr/>
      <dgm:t>
        <a:bodyPr/>
        <a:lstStyle/>
        <a:p>
          <a:endParaRPr lang="fr-FR"/>
        </a:p>
      </dgm:t>
    </dgm:pt>
    <dgm:pt modelId="{7DBF4E37-6188-4A5D-892A-27C19E575CEA}" type="sibTrans" cxnId="{8B9253D3-5F2A-48BE-B4B9-36EDD87037E3}">
      <dgm:prSet/>
      <dgm:spPr/>
      <dgm:t>
        <a:bodyPr/>
        <a:lstStyle/>
        <a:p>
          <a:endParaRPr lang="fr-FR"/>
        </a:p>
      </dgm:t>
    </dgm:pt>
    <dgm:pt modelId="{EA970C1E-180C-4F11-8A13-49C14E5CA0B9}">
      <dgm:prSet phldrT="[Texte]" custT="1"/>
      <dgm:spPr/>
      <dgm:t>
        <a:bodyPr/>
        <a:lstStyle/>
        <a:p>
          <a:pPr>
            <a:buNone/>
          </a:pPr>
          <a:endParaRPr lang="fr-FR" sz="2400" dirty="0"/>
        </a:p>
      </dgm:t>
    </dgm:pt>
    <dgm:pt modelId="{7E74B0D0-09DA-46E3-A1A5-DCBD27255FED}" type="parTrans" cxnId="{71A09117-1D9A-4C42-A562-8ECFD2B8E6D2}">
      <dgm:prSet/>
      <dgm:spPr/>
      <dgm:t>
        <a:bodyPr/>
        <a:lstStyle/>
        <a:p>
          <a:endParaRPr lang="fr-FR"/>
        </a:p>
      </dgm:t>
    </dgm:pt>
    <dgm:pt modelId="{FCEDC88C-27FF-47CC-A4BF-5C12733EE320}" type="sibTrans" cxnId="{71A09117-1D9A-4C42-A562-8ECFD2B8E6D2}">
      <dgm:prSet/>
      <dgm:spPr/>
      <dgm:t>
        <a:bodyPr/>
        <a:lstStyle/>
        <a:p>
          <a:endParaRPr lang="fr-FR"/>
        </a:p>
      </dgm:t>
    </dgm:pt>
    <dgm:pt modelId="{B510B07E-2092-4138-AF26-8C9758E27BBA}">
      <dgm:prSet phldrT="[Texte]" custT="1"/>
      <dgm:spPr/>
      <dgm:t>
        <a:bodyPr/>
        <a:lstStyle/>
        <a:p>
          <a:pPr>
            <a:buNone/>
          </a:pPr>
          <a:r>
            <a:rPr lang="fr-FR" sz="2400" cap="none" dirty="0">
              <a:latin typeface="Abadi" panose="020B0604020104020204" pitchFamily="34" charset="0"/>
            </a:rPr>
            <a:t>- Requêtez une base de données SQL</a:t>
          </a:r>
          <a:endParaRPr lang="fr-FR" sz="2400" dirty="0"/>
        </a:p>
      </dgm:t>
    </dgm:pt>
    <dgm:pt modelId="{BD25DB17-1847-4DE6-866B-A51EB3555340}" type="parTrans" cxnId="{A461FE6E-D097-4AF8-9964-96FA6D7B5FB6}">
      <dgm:prSet/>
      <dgm:spPr/>
      <dgm:t>
        <a:bodyPr/>
        <a:lstStyle/>
        <a:p>
          <a:endParaRPr lang="fr-FR"/>
        </a:p>
      </dgm:t>
    </dgm:pt>
    <dgm:pt modelId="{7A9B385A-745F-468C-84A1-C26118ABE5CD}" type="sibTrans" cxnId="{A461FE6E-D097-4AF8-9964-96FA6D7B5FB6}">
      <dgm:prSet/>
      <dgm:spPr/>
      <dgm:t>
        <a:bodyPr/>
        <a:lstStyle/>
        <a:p>
          <a:endParaRPr lang="fr-FR"/>
        </a:p>
      </dgm:t>
    </dgm:pt>
    <dgm:pt modelId="{878463D5-B016-41F2-B97B-164188B7994C}">
      <dgm:prSet phldrT="[Texte]" custT="1"/>
      <dgm:spPr/>
      <dgm:t>
        <a:bodyPr/>
        <a:lstStyle/>
        <a:p>
          <a:pPr>
            <a:buNone/>
          </a:pPr>
          <a:r>
            <a:rPr lang="fr-FR" sz="2400" cap="none" dirty="0">
              <a:latin typeface="Abadi" panose="020B0604020104020204" pitchFamily="34" charset="0"/>
            </a:rPr>
            <a:t>- Modélisez vos bases de données </a:t>
          </a:r>
          <a:endParaRPr lang="fr-FR" sz="2400" dirty="0"/>
        </a:p>
      </dgm:t>
    </dgm:pt>
    <dgm:pt modelId="{F143A290-0141-40CD-B7F1-C1D416F7DA1F}" type="parTrans" cxnId="{6161F1E2-82F1-473C-94F0-7BD15A5661AB}">
      <dgm:prSet/>
      <dgm:spPr/>
      <dgm:t>
        <a:bodyPr/>
        <a:lstStyle/>
        <a:p>
          <a:endParaRPr lang="fr-FR"/>
        </a:p>
      </dgm:t>
    </dgm:pt>
    <dgm:pt modelId="{332653EE-0A75-4F13-8EA6-27390C9FF7B4}" type="sibTrans" cxnId="{6161F1E2-82F1-473C-94F0-7BD15A5661AB}">
      <dgm:prSet/>
      <dgm:spPr/>
      <dgm:t>
        <a:bodyPr/>
        <a:lstStyle/>
        <a:p>
          <a:endParaRPr lang="fr-FR"/>
        </a:p>
      </dgm:t>
    </dgm:pt>
    <dgm:pt modelId="{465AB527-0CB2-4856-8A0D-97EBD3642B93}">
      <dgm:prSet phldrT="[Texte]" custT="1"/>
      <dgm:spPr/>
      <dgm:t>
        <a:bodyPr/>
        <a:lstStyle/>
        <a:p>
          <a:pPr>
            <a:buNone/>
          </a:pPr>
          <a:r>
            <a:rPr lang="fr-FR" sz="2400" cap="none" dirty="0">
              <a:latin typeface="Abadi" panose="020B0604020104020204" pitchFamily="34" charset="0"/>
            </a:rPr>
            <a:t>- Développez votre culture des données</a:t>
          </a:r>
          <a:endParaRPr lang="fr-FR" sz="2400" dirty="0"/>
        </a:p>
      </dgm:t>
    </dgm:pt>
    <dgm:pt modelId="{6BBDF0EC-9D1C-4D4C-B6E5-8A20DE087CF0}" type="parTrans" cxnId="{9DBA191C-C184-47B2-BB8B-6373781A8925}">
      <dgm:prSet/>
      <dgm:spPr/>
      <dgm:t>
        <a:bodyPr/>
        <a:lstStyle/>
        <a:p>
          <a:endParaRPr lang="fr-FR"/>
        </a:p>
      </dgm:t>
    </dgm:pt>
    <dgm:pt modelId="{CE100A1B-A3FB-4F71-81DD-08F9252379A3}" type="sibTrans" cxnId="{9DBA191C-C184-47B2-BB8B-6373781A8925}">
      <dgm:prSet/>
      <dgm:spPr/>
      <dgm:t>
        <a:bodyPr/>
        <a:lstStyle/>
        <a:p>
          <a:endParaRPr lang="fr-FR"/>
        </a:p>
      </dgm:t>
    </dgm:pt>
    <dgm:pt modelId="{A3D2FD39-2770-4C55-8DF4-4F30EBB771DC}" type="pres">
      <dgm:prSet presAssocID="{3ECF1EE5-6A52-47A9-BD10-0A7C43841672}" presName="linear" presStyleCnt="0">
        <dgm:presLayoutVars>
          <dgm:animLvl val="lvl"/>
          <dgm:resizeHandles val="exact"/>
        </dgm:presLayoutVars>
      </dgm:prSet>
      <dgm:spPr/>
    </dgm:pt>
    <dgm:pt modelId="{D6E5488C-ADEF-4415-B748-8D0CAD613D13}" type="pres">
      <dgm:prSet presAssocID="{9BAA427C-A647-455F-A4B6-916E7DF88E2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F6CAABF1-42BA-4FE7-88E3-4FCE69D6F193}" type="pres">
      <dgm:prSet presAssocID="{9BAA427C-A647-455F-A4B6-916E7DF88E2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D1DFF06-0155-44A9-A630-883D4A3E0AE2}" type="presOf" srcId="{465AB527-0CB2-4856-8A0D-97EBD3642B93}" destId="{F6CAABF1-42BA-4FE7-88E3-4FCE69D6F193}" srcOrd="0" destOrd="1" presId="urn:microsoft.com/office/officeart/2005/8/layout/vList2"/>
    <dgm:cxn modelId="{CBC4370C-F8EB-4154-A44B-16E91D61220C}" type="presOf" srcId="{3ECF1EE5-6A52-47A9-BD10-0A7C43841672}" destId="{A3D2FD39-2770-4C55-8DF4-4F30EBB771DC}" srcOrd="0" destOrd="0" presId="urn:microsoft.com/office/officeart/2005/8/layout/vList2"/>
    <dgm:cxn modelId="{71A09117-1D9A-4C42-A562-8ECFD2B8E6D2}" srcId="{9BAA427C-A647-455F-A4B6-916E7DF88E2B}" destId="{EA970C1E-180C-4F11-8A13-49C14E5CA0B9}" srcOrd="0" destOrd="0" parTransId="{7E74B0D0-09DA-46E3-A1A5-DCBD27255FED}" sibTransId="{FCEDC88C-27FF-47CC-A4BF-5C12733EE320}"/>
    <dgm:cxn modelId="{9DBA191C-C184-47B2-BB8B-6373781A8925}" srcId="{9BAA427C-A647-455F-A4B6-916E7DF88E2B}" destId="{465AB527-0CB2-4856-8A0D-97EBD3642B93}" srcOrd="1" destOrd="0" parTransId="{6BBDF0EC-9D1C-4D4C-B6E5-8A20DE087CF0}" sibTransId="{CE100A1B-A3FB-4F71-81DD-08F9252379A3}"/>
    <dgm:cxn modelId="{889D312C-11BE-426D-ABBA-A7F0B1E4B19A}" type="presOf" srcId="{878463D5-B016-41F2-B97B-164188B7994C}" destId="{F6CAABF1-42BA-4FE7-88E3-4FCE69D6F193}" srcOrd="0" destOrd="3" presId="urn:microsoft.com/office/officeart/2005/8/layout/vList2"/>
    <dgm:cxn modelId="{C92D0E30-DEC6-4792-9F4F-162F17D942F0}" type="presOf" srcId="{B510B07E-2092-4138-AF26-8C9758E27BBA}" destId="{F6CAABF1-42BA-4FE7-88E3-4FCE69D6F193}" srcOrd="0" destOrd="2" presId="urn:microsoft.com/office/officeart/2005/8/layout/vList2"/>
    <dgm:cxn modelId="{A461FE6E-D097-4AF8-9964-96FA6D7B5FB6}" srcId="{9BAA427C-A647-455F-A4B6-916E7DF88E2B}" destId="{B510B07E-2092-4138-AF26-8C9758E27BBA}" srcOrd="2" destOrd="0" parTransId="{BD25DB17-1847-4DE6-866B-A51EB3555340}" sibTransId="{7A9B385A-745F-468C-84A1-C26118ABE5CD}"/>
    <dgm:cxn modelId="{0A281C57-A6B1-4AF2-BC00-53EADDF978A5}" type="presOf" srcId="{EA970C1E-180C-4F11-8A13-49C14E5CA0B9}" destId="{F6CAABF1-42BA-4FE7-88E3-4FCE69D6F193}" srcOrd="0" destOrd="0" presId="urn:microsoft.com/office/officeart/2005/8/layout/vList2"/>
    <dgm:cxn modelId="{64CC02BF-DA31-4D78-ADA4-8F99DBC424E2}" type="presOf" srcId="{9BAA427C-A647-455F-A4B6-916E7DF88E2B}" destId="{D6E5488C-ADEF-4415-B748-8D0CAD613D13}" srcOrd="0" destOrd="0" presId="urn:microsoft.com/office/officeart/2005/8/layout/vList2"/>
    <dgm:cxn modelId="{8B9253D3-5F2A-48BE-B4B9-36EDD87037E3}" srcId="{3ECF1EE5-6A52-47A9-BD10-0A7C43841672}" destId="{9BAA427C-A647-455F-A4B6-916E7DF88E2B}" srcOrd="0" destOrd="0" parTransId="{30CB8018-6240-438A-9AC6-B472352E70FF}" sibTransId="{7DBF4E37-6188-4A5D-892A-27C19E575CEA}"/>
    <dgm:cxn modelId="{6161F1E2-82F1-473C-94F0-7BD15A5661AB}" srcId="{9BAA427C-A647-455F-A4B6-916E7DF88E2B}" destId="{878463D5-B016-41F2-B97B-164188B7994C}" srcOrd="3" destOrd="0" parTransId="{F143A290-0141-40CD-B7F1-C1D416F7DA1F}" sibTransId="{332653EE-0A75-4F13-8EA6-27390C9FF7B4}"/>
    <dgm:cxn modelId="{1E0D06D5-BA5C-4E44-8E7B-9C9A0DA65855}" type="presParOf" srcId="{A3D2FD39-2770-4C55-8DF4-4F30EBB771DC}" destId="{D6E5488C-ADEF-4415-B748-8D0CAD613D13}" srcOrd="0" destOrd="0" presId="urn:microsoft.com/office/officeart/2005/8/layout/vList2"/>
    <dgm:cxn modelId="{435D6F40-6998-4C54-B1BE-5F9CDD052DB5}" type="presParOf" srcId="{A3D2FD39-2770-4C55-8DF4-4F30EBB771DC}" destId="{F6CAABF1-42BA-4FE7-88E3-4FCE69D6F19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b="1" dirty="0">
              <a:solidFill>
                <a:schemeClr val="tx1">
                  <a:lumMod val="75000"/>
                  <a:lumOff val="25000"/>
                </a:schemeClr>
              </a:solidFill>
            </a:rPr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endParaRPr lang="fr-FR" dirty="0"/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endParaRPr lang="fr-FR" dirty="0"/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b="1" dirty="0">
              <a:solidFill>
                <a:schemeClr val="tx1">
                  <a:lumMod val="75000"/>
                  <a:lumOff val="25000"/>
                </a:schemeClr>
              </a:solidFill>
            </a:rPr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endParaRPr lang="fr-FR" dirty="0"/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endParaRPr lang="fr-FR" dirty="0"/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b="0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b="0" dirty="0">
              <a:solidFill>
                <a:schemeClr val="tx1">
                  <a:lumMod val="75000"/>
                  <a:lumOff val="25000"/>
                </a:schemeClr>
              </a:solidFill>
            </a:rPr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endParaRPr lang="fr-FR" dirty="0"/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b="0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b="0" dirty="0">
              <a:solidFill>
                <a:schemeClr val="tx1">
                  <a:lumMod val="75000"/>
                  <a:lumOff val="25000"/>
                </a:schemeClr>
              </a:solidFill>
            </a:rPr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endParaRPr lang="fr-FR" dirty="0"/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r>
            <a:rPr lang="fr-FR" dirty="0"/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</a:rPr>
            <a:t>Création de la Base de Données</a:t>
          </a:r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r>
            <a:rPr lang="fr-FR" dirty="0"/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</a:rPr>
            <a:t>Création de la Base de Données</a:t>
          </a:r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/>
      <dgm:t>
        <a:bodyPr/>
        <a:lstStyle/>
        <a:p>
          <a:endParaRPr lang="fr-FR" dirty="0"/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r>
            <a:rPr lang="fr-FR" dirty="0"/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r>
            <a:rPr lang="fr-FR" dirty="0"/>
            <a:t>Création de la Base de Données</a:t>
          </a:r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r>
            <a:rPr lang="fr-FR" dirty="0"/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r>
            <a:rPr lang="fr-FR" dirty="0"/>
            <a:t>Création de la Base de Données</a:t>
          </a:r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D003241-DD1E-43F4-BD94-E1232A855CB2}" type="doc">
      <dgm:prSet loTypeId="urn:microsoft.com/office/officeart/2005/8/layout/chevron1" loCatId="process" qsTypeId="urn:microsoft.com/office/officeart/2005/8/quickstyle/3d1" qsCatId="3D" csTypeId="urn:microsoft.com/office/officeart/2005/8/colors/accent1_2" csCatId="accent1" phldr="1"/>
      <dgm:spPr/>
    </dgm:pt>
    <dgm:pt modelId="{1D08F062-6E34-408A-AE95-6BC90ED3A801}">
      <dgm:prSet phldrT="[Texte]"/>
      <dgm:spPr/>
      <dgm:t>
        <a:bodyPr/>
        <a:lstStyle/>
        <a:p>
          <a:r>
            <a:rPr lang="fr-FR" dirty="0"/>
            <a:t>Rédaction du dictionnaire des données</a:t>
          </a:r>
        </a:p>
      </dgm:t>
    </dgm:pt>
    <dgm:pt modelId="{0CE01707-0274-4F8E-8868-435E6918AFAE}" type="parTrans" cxnId="{7E20FA56-B37D-42A5-8DD1-661F512C4F47}">
      <dgm:prSet/>
      <dgm:spPr/>
      <dgm:t>
        <a:bodyPr/>
        <a:lstStyle/>
        <a:p>
          <a:endParaRPr lang="fr-FR"/>
        </a:p>
      </dgm:t>
    </dgm:pt>
    <dgm:pt modelId="{15AD1D77-43A2-47E6-AC06-8A38EA4DD448}" type="sibTrans" cxnId="{7E20FA56-B37D-42A5-8DD1-661F512C4F47}">
      <dgm:prSet/>
      <dgm:spPr/>
      <dgm:t>
        <a:bodyPr/>
        <a:lstStyle/>
        <a:p>
          <a:endParaRPr lang="fr-FR"/>
        </a:p>
      </dgm:t>
    </dgm:pt>
    <dgm:pt modelId="{AB4A076B-5116-4C1A-B09F-284E3C69D9A0}">
      <dgm:prSet phldrT="[Texte]"/>
      <dgm:spPr/>
      <dgm:t>
        <a:bodyPr/>
        <a:lstStyle/>
        <a:p>
          <a:r>
            <a:rPr lang="fr-FR" dirty="0"/>
            <a:t>Création du schéma relationnel</a:t>
          </a:r>
        </a:p>
      </dgm:t>
    </dgm:pt>
    <dgm:pt modelId="{27977C26-EFB1-4312-B72B-E901A5701C99}" type="parTrans" cxnId="{AB9B5A51-A882-4944-806D-5AA65EE9159B}">
      <dgm:prSet/>
      <dgm:spPr/>
      <dgm:t>
        <a:bodyPr/>
        <a:lstStyle/>
        <a:p>
          <a:endParaRPr lang="fr-FR"/>
        </a:p>
      </dgm:t>
    </dgm:pt>
    <dgm:pt modelId="{213C06CE-15DD-4624-8D59-CB534D3CD9FF}" type="sibTrans" cxnId="{AB9B5A51-A882-4944-806D-5AA65EE9159B}">
      <dgm:prSet/>
      <dgm:spPr/>
      <dgm:t>
        <a:bodyPr/>
        <a:lstStyle/>
        <a:p>
          <a:endParaRPr lang="fr-FR"/>
        </a:p>
      </dgm:t>
    </dgm:pt>
    <dgm:pt modelId="{4DE295EA-27A5-4781-B40A-034F33B9D60A}">
      <dgm:prSet phldrT="[Texte]"/>
      <dgm:spPr/>
      <dgm:t>
        <a:bodyPr/>
        <a:lstStyle/>
        <a:p>
          <a:r>
            <a:rPr lang="fr-FR" dirty="0"/>
            <a:t>Création de la Base de Données</a:t>
          </a:r>
        </a:p>
      </dgm:t>
    </dgm:pt>
    <dgm:pt modelId="{DD3A3FCB-36AB-4BE4-8D6D-5E2E334C3D13}" type="parTrans" cxnId="{70B503E1-6A18-4C8D-A65D-C759969C9DC3}">
      <dgm:prSet/>
      <dgm:spPr/>
      <dgm:t>
        <a:bodyPr/>
        <a:lstStyle/>
        <a:p>
          <a:endParaRPr lang="fr-FR"/>
        </a:p>
      </dgm:t>
    </dgm:pt>
    <dgm:pt modelId="{3D9C797F-AC2A-43E6-8F4E-DD09A899D849}" type="sibTrans" cxnId="{70B503E1-6A18-4C8D-A65D-C759969C9DC3}">
      <dgm:prSet/>
      <dgm:spPr/>
      <dgm:t>
        <a:bodyPr/>
        <a:lstStyle/>
        <a:p>
          <a:endParaRPr lang="fr-FR"/>
        </a:p>
      </dgm:t>
    </dgm:pt>
    <dgm:pt modelId="{3EE78CA7-C348-46F4-99B6-A20BD4954F25}">
      <dgm:prSet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gm:t>
    </dgm:pt>
    <dgm:pt modelId="{A9629B6C-3AFD-4780-8A53-A7656D701D9A}" type="parTrans" cxnId="{6ABB1DD0-95A5-40F5-BA77-F5A96353CC78}">
      <dgm:prSet/>
      <dgm:spPr/>
      <dgm:t>
        <a:bodyPr/>
        <a:lstStyle/>
        <a:p>
          <a:endParaRPr lang="fr-FR"/>
        </a:p>
      </dgm:t>
    </dgm:pt>
    <dgm:pt modelId="{68266D9B-1BDB-4C73-B83B-54A7BD6F5A1E}" type="sibTrans" cxnId="{6ABB1DD0-95A5-40F5-BA77-F5A96353CC78}">
      <dgm:prSet/>
      <dgm:spPr/>
      <dgm:t>
        <a:bodyPr/>
        <a:lstStyle/>
        <a:p>
          <a:endParaRPr lang="fr-FR"/>
        </a:p>
      </dgm:t>
    </dgm:pt>
    <dgm:pt modelId="{A81DB469-093D-4987-A610-47137D8951F8}" type="pres">
      <dgm:prSet presAssocID="{DD003241-DD1E-43F4-BD94-E1232A855CB2}" presName="Name0" presStyleCnt="0">
        <dgm:presLayoutVars>
          <dgm:dir/>
          <dgm:animLvl val="lvl"/>
          <dgm:resizeHandles val="exact"/>
        </dgm:presLayoutVars>
      </dgm:prSet>
      <dgm:spPr/>
    </dgm:pt>
    <dgm:pt modelId="{C0A697AF-D16B-439A-9727-F833A3676B4D}" type="pres">
      <dgm:prSet presAssocID="{1D08F062-6E34-408A-AE95-6BC90ED3A801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308090-94A1-4ABF-9BDE-7E6052D8D80C}" type="pres">
      <dgm:prSet presAssocID="{15AD1D77-43A2-47E6-AC06-8A38EA4DD448}" presName="parTxOnlySpace" presStyleCnt="0"/>
      <dgm:spPr/>
    </dgm:pt>
    <dgm:pt modelId="{4742044D-D7AC-4352-8F15-5368707AEBEA}" type="pres">
      <dgm:prSet presAssocID="{AB4A076B-5116-4C1A-B09F-284E3C69D9A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91D397-EDD9-4813-97B3-263920F0E0F0}" type="pres">
      <dgm:prSet presAssocID="{213C06CE-15DD-4624-8D59-CB534D3CD9FF}" presName="parTxOnlySpace" presStyleCnt="0"/>
      <dgm:spPr/>
    </dgm:pt>
    <dgm:pt modelId="{3D293AAE-67D4-49D6-AF0F-994621153D07}" type="pres">
      <dgm:prSet presAssocID="{4DE295EA-27A5-4781-B40A-034F33B9D60A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514DE54-94EB-4824-B0BD-71E7B31DE9D7}" type="pres">
      <dgm:prSet presAssocID="{3D9C797F-AC2A-43E6-8F4E-DD09A899D849}" presName="parTxOnlySpace" presStyleCnt="0"/>
      <dgm:spPr/>
    </dgm:pt>
    <dgm:pt modelId="{BBD4F8B0-C245-4ABC-8C98-2C415B63EB44}" type="pres">
      <dgm:prSet presAssocID="{3EE78CA7-C348-46F4-99B6-A20BD4954F2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748D21-A75D-4896-93FC-7CF29CEE8F31}" type="presOf" srcId="{1D08F062-6E34-408A-AE95-6BC90ED3A801}" destId="{C0A697AF-D16B-439A-9727-F833A3676B4D}" srcOrd="0" destOrd="0" presId="urn:microsoft.com/office/officeart/2005/8/layout/chevron1"/>
    <dgm:cxn modelId="{AB9B5A51-A882-4944-806D-5AA65EE9159B}" srcId="{DD003241-DD1E-43F4-BD94-E1232A855CB2}" destId="{AB4A076B-5116-4C1A-B09F-284E3C69D9A0}" srcOrd="1" destOrd="0" parTransId="{27977C26-EFB1-4312-B72B-E901A5701C99}" sibTransId="{213C06CE-15DD-4624-8D59-CB534D3CD9FF}"/>
    <dgm:cxn modelId="{7E20FA56-B37D-42A5-8DD1-661F512C4F47}" srcId="{DD003241-DD1E-43F4-BD94-E1232A855CB2}" destId="{1D08F062-6E34-408A-AE95-6BC90ED3A801}" srcOrd="0" destOrd="0" parTransId="{0CE01707-0274-4F8E-8868-435E6918AFAE}" sibTransId="{15AD1D77-43A2-47E6-AC06-8A38EA4DD448}"/>
    <dgm:cxn modelId="{5D137EB2-9D87-47D8-B682-5609FF60F985}" type="presOf" srcId="{3EE78CA7-C348-46F4-99B6-A20BD4954F25}" destId="{BBD4F8B0-C245-4ABC-8C98-2C415B63EB44}" srcOrd="0" destOrd="0" presId="urn:microsoft.com/office/officeart/2005/8/layout/chevron1"/>
    <dgm:cxn modelId="{F1D10CCB-E282-4F18-8362-9EE6C3B4F8B4}" type="presOf" srcId="{AB4A076B-5116-4C1A-B09F-284E3C69D9A0}" destId="{4742044D-D7AC-4352-8F15-5368707AEBEA}" srcOrd="0" destOrd="0" presId="urn:microsoft.com/office/officeart/2005/8/layout/chevron1"/>
    <dgm:cxn modelId="{B4F4EACD-A847-4BEE-90AD-77FC67D30829}" type="presOf" srcId="{DD003241-DD1E-43F4-BD94-E1232A855CB2}" destId="{A81DB469-093D-4987-A610-47137D8951F8}" srcOrd="0" destOrd="0" presId="urn:microsoft.com/office/officeart/2005/8/layout/chevron1"/>
    <dgm:cxn modelId="{6ABB1DD0-95A5-40F5-BA77-F5A96353CC78}" srcId="{DD003241-DD1E-43F4-BD94-E1232A855CB2}" destId="{3EE78CA7-C348-46F4-99B6-A20BD4954F25}" srcOrd="3" destOrd="0" parTransId="{A9629B6C-3AFD-4780-8A53-A7656D701D9A}" sibTransId="{68266D9B-1BDB-4C73-B83B-54A7BD6F5A1E}"/>
    <dgm:cxn modelId="{E9CF2BD8-3272-4E92-BEE3-356EB8A3845C}" type="presOf" srcId="{4DE295EA-27A5-4781-B40A-034F33B9D60A}" destId="{3D293AAE-67D4-49D6-AF0F-994621153D07}" srcOrd="0" destOrd="0" presId="urn:microsoft.com/office/officeart/2005/8/layout/chevron1"/>
    <dgm:cxn modelId="{70B503E1-6A18-4C8D-A65D-C759969C9DC3}" srcId="{DD003241-DD1E-43F4-BD94-E1232A855CB2}" destId="{4DE295EA-27A5-4781-B40A-034F33B9D60A}" srcOrd="2" destOrd="0" parTransId="{DD3A3FCB-36AB-4BE4-8D6D-5E2E334C3D13}" sibTransId="{3D9C797F-AC2A-43E6-8F4E-DD09A899D849}"/>
    <dgm:cxn modelId="{D7521421-0E67-4742-973A-1864A7149601}" type="presParOf" srcId="{A81DB469-093D-4987-A610-47137D8951F8}" destId="{C0A697AF-D16B-439A-9727-F833A3676B4D}" srcOrd="0" destOrd="0" presId="urn:microsoft.com/office/officeart/2005/8/layout/chevron1"/>
    <dgm:cxn modelId="{398F3FB4-668B-4F2D-BF05-FF579FDE7023}" type="presParOf" srcId="{A81DB469-093D-4987-A610-47137D8951F8}" destId="{54308090-94A1-4ABF-9BDE-7E6052D8D80C}" srcOrd="1" destOrd="0" presId="urn:microsoft.com/office/officeart/2005/8/layout/chevron1"/>
    <dgm:cxn modelId="{3EB267FD-A09E-4143-B6C4-E3E37C019B12}" type="presParOf" srcId="{A81DB469-093D-4987-A610-47137D8951F8}" destId="{4742044D-D7AC-4352-8F15-5368707AEBEA}" srcOrd="2" destOrd="0" presId="urn:microsoft.com/office/officeart/2005/8/layout/chevron1"/>
    <dgm:cxn modelId="{2A90A397-D05C-4C2A-A30A-73BE491DB89A}" type="presParOf" srcId="{A81DB469-093D-4987-A610-47137D8951F8}" destId="{1291D397-EDD9-4813-97B3-263920F0E0F0}" srcOrd="3" destOrd="0" presId="urn:microsoft.com/office/officeart/2005/8/layout/chevron1"/>
    <dgm:cxn modelId="{F543FC53-EF45-4C69-9490-E8C8C2933AFF}" type="presParOf" srcId="{A81DB469-093D-4987-A610-47137D8951F8}" destId="{3D293AAE-67D4-49D6-AF0F-994621153D07}" srcOrd="4" destOrd="0" presId="urn:microsoft.com/office/officeart/2005/8/layout/chevron1"/>
    <dgm:cxn modelId="{6C8E01F6-3811-46A3-B910-FEE04C5A5A83}" type="presParOf" srcId="{A81DB469-093D-4987-A610-47137D8951F8}" destId="{8514DE54-94EB-4824-B0BD-71E7B31DE9D7}" srcOrd="5" destOrd="0" presId="urn:microsoft.com/office/officeart/2005/8/layout/chevron1"/>
    <dgm:cxn modelId="{5DF19AE8-3584-4A77-B47D-515F095DDD82}" type="presParOf" srcId="{A81DB469-093D-4987-A610-47137D8951F8}" destId="{BBD4F8B0-C245-4ABC-8C98-2C415B63EB44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5488C-ADEF-4415-B748-8D0CAD613D13}">
      <dsp:nvSpPr>
        <dsp:cNvPr id="0" name=""/>
        <dsp:cNvSpPr/>
      </dsp:nvSpPr>
      <dsp:spPr>
        <a:xfrm>
          <a:off x="0" y="1113372"/>
          <a:ext cx="60452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cap="none" dirty="0">
              <a:latin typeface="Abadi" panose="020B0604020104020204" pitchFamily="34" charset="0"/>
            </a:rPr>
            <a:t>Avant d’entamer le module, j’ai suivi les 3 cours recommandés :</a:t>
          </a:r>
        </a:p>
      </dsp:txBody>
      <dsp:txXfrm>
        <a:off x="59399" y="1172771"/>
        <a:ext cx="5926402" cy="1098002"/>
      </dsp:txXfrm>
    </dsp:sp>
    <dsp:sp modelId="{F6CAABF1-42BA-4FE7-88E3-4FCE69D6F193}">
      <dsp:nvSpPr>
        <dsp:cNvPr id="0" name=""/>
        <dsp:cNvSpPr/>
      </dsp:nvSpPr>
      <dsp:spPr>
        <a:xfrm>
          <a:off x="0" y="2330172"/>
          <a:ext cx="6045200" cy="1513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935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fr-F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FR" sz="2400" kern="1200" cap="none" dirty="0">
              <a:latin typeface="Abadi" panose="020B0604020104020204" pitchFamily="34" charset="0"/>
            </a:rPr>
            <a:t>- Développez votre culture des données</a:t>
          </a:r>
          <a:endParaRPr lang="fr-F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FR" sz="2400" kern="1200" cap="none" dirty="0">
              <a:latin typeface="Abadi" panose="020B0604020104020204" pitchFamily="34" charset="0"/>
            </a:rPr>
            <a:t>- Requêtez une base de données SQL</a:t>
          </a:r>
          <a:endParaRPr lang="fr-F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FR" sz="2400" kern="1200" cap="none" dirty="0">
              <a:latin typeface="Abadi" panose="020B0604020104020204" pitchFamily="34" charset="0"/>
            </a:rPr>
            <a:t>- Modélisez vos bases de données </a:t>
          </a:r>
          <a:endParaRPr lang="fr-FR" sz="2400" kern="1200" dirty="0"/>
        </a:p>
      </dsp:txBody>
      <dsp:txXfrm>
        <a:off x="0" y="2330172"/>
        <a:ext cx="6045200" cy="15136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986" y="0"/>
          <a:ext cx="2902684" cy="111861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Rédaction du dictionnaire des données</a:t>
          </a:r>
        </a:p>
      </dsp:txBody>
      <dsp:txXfrm>
        <a:off x="564294" y="0"/>
        <a:ext cx="1784068" cy="1118616"/>
      </dsp:txXfrm>
    </dsp:sp>
    <dsp:sp modelId="{4742044D-D7AC-4352-8F15-5368707AEBEA}">
      <dsp:nvSpPr>
        <dsp:cNvPr id="0" name=""/>
        <dsp:cNvSpPr/>
      </dsp:nvSpPr>
      <dsp:spPr>
        <a:xfrm>
          <a:off x="2617402" y="0"/>
          <a:ext cx="2902684" cy="111861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 dirty="0"/>
        </a:p>
      </dsp:txBody>
      <dsp:txXfrm>
        <a:off x="3176710" y="0"/>
        <a:ext cx="1784068" cy="1118616"/>
      </dsp:txXfrm>
    </dsp:sp>
    <dsp:sp modelId="{3D293AAE-67D4-49D6-AF0F-994621153D07}">
      <dsp:nvSpPr>
        <dsp:cNvPr id="0" name=""/>
        <dsp:cNvSpPr/>
      </dsp:nvSpPr>
      <dsp:spPr>
        <a:xfrm>
          <a:off x="5229818" y="0"/>
          <a:ext cx="2902684" cy="111861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 dirty="0"/>
        </a:p>
      </dsp:txBody>
      <dsp:txXfrm>
        <a:off x="5789126" y="0"/>
        <a:ext cx="1784068" cy="1118616"/>
      </dsp:txXfrm>
    </dsp:sp>
    <dsp:sp modelId="{BBD4F8B0-C245-4ABC-8C98-2C415B63EB44}">
      <dsp:nvSpPr>
        <dsp:cNvPr id="0" name=""/>
        <dsp:cNvSpPr/>
      </dsp:nvSpPr>
      <dsp:spPr>
        <a:xfrm>
          <a:off x="7842234" y="0"/>
          <a:ext cx="2902684" cy="111861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 dirty="0"/>
        </a:p>
      </dsp:txBody>
      <dsp:txXfrm>
        <a:off x="8401542" y="0"/>
        <a:ext cx="1784068" cy="1118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763" y="0"/>
          <a:ext cx="2772752" cy="77880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 dirty="0">
              <a:solidFill>
                <a:schemeClr val="tx1">
                  <a:lumMod val="75000"/>
                  <a:lumOff val="25000"/>
                </a:schemeClr>
              </a:solidFill>
            </a:rPr>
            <a:t>Rédaction du dictionnaire des données</a:t>
          </a:r>
        </a:p>
      </dsp:txBody>
      <dsp:txXfrm>
        <a:off x="394166" y="0"/>
        <a:ext cx="1993946" cy="778806"/>
      </dsp:txXfrm>
    </dsp:sp>
    <dsp:sp modelId="{4742044D-D7AC-4352-8F15-5368707AEBEA}">
      <dsp:nvSpPr>
        <dsp:cNvPr id="0" name=""/>
        <dsp:cNvSpPr/>
      </dsp:nvSpPr>
      <dsp:spPr>
        <a:xfrm>
          <a:off x="2500240" y="0"/>
          <a:ext cx="2772752" cy="77880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 dirty="0"/>
        </a:p>
      </dsp:txBody>
      <dsp:txXfrm>
        <a:off x="2889643" y="0"/>
        <a:ext cx="1993946" cy="778806"/>
      </dsp:txXfrm>
    </dsp:sp>
    <dsp:sp modelId="{3D293AAE-67D4-49D6-AF0F-994621153D07}">
      <dsp:nvSpPr>
        <dsp:cNvPr id="0" name=""/>
        <dsp:cNvSpPr/>
      </dsp:nvSpPr>
      <dsp:spPr>
        <a:xfrm>
          <a:off x="4995718" y="0"/>
          <a:ext cx="2772752" cy="77880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 dirty="0"/>
        </a:p>
      </dsp:txBody>
      <dsp:txXfrm>
        <a:off x="5385121" y="0"/>
        <a:ext cx="1993946" cy="778806"/>
      </dsp:txXfrm>
    </dsp:sp>
    <dsp:sp modelId="{BBD4F8B0-C245-4ABC-8C98-2C415B63EB44}">
      <dsp:nvSpPr>
        <dsp:cNvPr id="0" name=""/>
        <dsp:cNvSpPr/>
      </dsp:nvSpPr>
      <dsp:spPr>
        <a:xfrm>
          <a:off x="7491195" y="0"/>
          <a:ext cx="2772752" cy="778806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900" kern="1200" dirty="0"/>
        </a:p>
      </dsp:txBody>
      <dsp:txXfrm>
        <a:off x="7880598" y="0"/>
        <a:ext cx="1993946" cy="7788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0" kern="1200" dirty="0"/>
            <a:t>Rédaction du dictionnaire des données</a:t>
          </a:r>
        </a:p>
      </dsp:txBody>
      <dsp:txXfrm>
        <a:off x="564528" y="493363"/>
        <a:ext cx="1679163" cy="1119441"/>
      </dsp:txXfrm>
    </dsp:sp>
    <dsp:sp modelId="{4742044D-D7AC-4352-8F15-5368707AEBEA}">
      <dsp:nvSpPr>
        <dsp:cNvPr id="0" name=""/>
        <dsp:cNvSpPr/>
      </dsp:nvSpPr>
      <dsp:spPr>
        <a:xfrm>
          <a:off x="2523551" y="493363"/>
          <a:ext cx="2798604" cy="1119441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0" kern="1200" dirty="0">
              <a:solidFill>
                <a:schemeClr val="tx1">
                  <a:lumMod val="75000"/>
                  <a:lumOff val="25000"/>
                </a:schemeClr>
              </a:solidFill>
            </a:rPr>
            <a:t>Création du schéma relationnel</a:t>
          </a:r>
        </a:p>
      </dsp:txBody>
      <dsp:txXfrm>
        <a:off x="3083272" y="493363"/>
        <a:ext cx="1679163" cy="1119441"/>
      </dsp:txXfrm>
    </dsp:sp>
    <dsp:sp modelId="{3D293AAE-67D4-49D6-AF0F-994621153D07}">
      <dsp:nvSpPr>
        <dsp:cNvPr id="0" name=""/>
        <dsp:cNvSpPr/>
      </dsp:nvSpPr>
      <dsp:spPr>
        <a:xfrm>
          <a:off x="5042295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 dirty="0"/>
        </a:p>
      </dsp:txBody>
      <dsp:txXfrm>
        <a:off x="5602016" y="493363"/>
        <a:ext cx="1679163" cy="1119441"/>
      </dsp:txXfrm>
    </dsp:sp>
    <dsp:sp modelId="{BBD4F8B0-C245-4ABC-8C98-2C415B63EB44}">
      <dsp:nvSpPr>
        <dsp:cNvPr id="0" name=""/>
        <dsp:cNvSpPr/>
      </dsp:nvSpPr>
      <dsp:spPr>
        <a:xfrm>
          <a:off x="7561039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 dirty="0"/>
        </a:p>
      </dsp:txBody>
      <dsp:txXfrm>
        <a:off x="8120760" y="493363"/>
        <a:ext cx="1679163" cy="11194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5011" y="158994"/>
          <a:ext cx="2916950" cy="11667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kern="1200" dirty="0"/>
            <a:t>Rédaction du dictionnaire des données</a:t>
          </a:r>
        </a:p>
      </dsp:txBody>
      <dsp:txXfrm>
        <a:off x="588401" y="158994"/>
        <a:ext cx="1750170" cy="1166780"/>
      </dsp:txXfrm>
    </dsp:sp>
    <dsp:sp modelId="{4742044D-D7AC-4352-8F15-5368707AEBEA}">
      <dsp:nvSpPr>
        <dsp:cNvPr id="0" name=""/>
        <dsp:cNvSpPr/>
      </dsp:nvSpPr>
      <dsp:spPr>
        <a:xfrm>
          <a:off x="2630266" y="158994"/>
          <a:ext cx="2916950" cy="116678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kern="1200" dirty="0">
              <a:solidFill>
                <a:schemeClr val="tx1">
                  <a:lumMod val="75000"/>
                  <a:lumOff val="25000"/>
                </a:schemeClr>
              </a:solidFill>
            </a:rPr>
            <a:t>Création du schéma relationnel</a:t>
          </a:r>
        </a:p>
      </dsp:txBody>
      <dsp:txXfrm>
        <a:off x="3213656" y="158994"/>
        <a:ext cx="1750170" cy="1166780"/>
      </dsp:txXfrm>
    </dsp:sp>
    <dsp:sp modelId="{3D293AAE-67D4-49D6-AF0F-994621153D07}">
      <dsp:nvSpPr>
        <dsp:cNvPr id="0" name=""/>
        <dsp:cNvSpPr/>
      </dsp:nvSpPr>
      <dsp:spPr>
        <a:xfrm>
          <a:off x="5255521" y="158994"/>
          <a:ext cx="2916950" cy="11667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 dirty="0"/>
        </a:p>
      </dsp:txBody>
      <dsp:txXfrm>
        <a:off x="5838911" y="158994"/>
        <a:ext cx="1750170" cy="1166780"/>
      </dsp:txXfrm>
    </dsp:sp>
    <dsp:sp modelId="{BBD4F8B0-C245-4ABC-8C98-2C415B63EB44}">
      <dsp:nvSpPr>
        <dsp:cNvPr id="0" name=""/>
        <dsp:cNvSpPr/>
      </dsp:nvSpPr>
      <dsp:spPr>
        <a:xfrm>
          <a:off x="7880776" y="158994"/>
          <a:ext cx="2916950" cy="11667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400" kern="1200" dirty="0"/>
        </a:p>
      </dsp:txBody>
      <dsp:txXfrm>
        <a:off x="8464166" y="158994"/>
        <a:ext cx="1750170" cy="11667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Rédaction du dictionnaire des données</a:t>
          </a:r>
        </a:p>
      </dsp:txBody>
      <dsp:txXfrm>
        <a:off x="564528" y="493363"/>
        <a:ext cx="1679163" cy="1119441"/>
      </dsp:txXfrm>
    </dsp:sp>
    <dsp:sp modelId="{4742044D-D7AC-4352-8F15-5368707AEBEA}">
      <dsp:nvSpPr>
        <dsp:cNvPr id="0" name=""/>
        <dsp:cNvSpPr/>
      </dsp:nvSpPr>
      <dsp:spPr>
        <a:xfrm>
          <a:off x="2523551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du schéma relationnel</a:t>
          </a:r>
        </a:p>
      </dsp:txBody>
      <dsp:txXfrm>
        <a:off x="3083272" y="493363"/>
        <a:ext cx="1679163" cy="1119441"/>
      </dsp:txXfrm>
    </dsp:sp>
    <dsp:sp modelId="{3D293AAE-67D4-49D6-AF0F-994621153D07}">
      <dsp:nvSpPr>
        <dsp:cNvPr id="0" name=""/>
        <dsp:cNvSpPr/>
      </dsp:nvSpPr>
      <dsp:spPr>
        <a:xfrm>
          <a:off x="5042295" y="493363"/>
          <a:ext cx="2798604" cy="1119441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>
              <a:solidFill>
                <a:schemeClr val="tx1">
                  <a:lumMod val="75000"/>
                  <a:lumOff val="25000"/>
                </a:schemeClr>
              </a:solidFill>
            </a:rPr>
            <a:t>Création de la Base de Données</a:t>
          </a:r>
        </a:p>
      </dsp:txBody>
      <dsp:txXfrm>
        <a:off x="5602016" y="493363"/>
        <a:ext cx="1679163" cy="1119441"/>
      </dsp:txXfrm>
    </dsp:sp>
    <dsp:sp modelId="{BBD4F8B0-C245-4ABC-8C98-2C415B63EB44}">
      <dsp:nvSpPr>
        <dsp:cNvPr id="0" name=""/>
        <dsp:cNvSpPr/>
      </dsp:nvSpPr>
      <dsp:spPr>
        <a:xfrm>
          <a:off x="7561039" y="49336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 dirty="0"/>
        </a:p>
      </dsp:txBody>
      <dsp:txXfrm>
        <a:off x="8120760" y="493363"/>
        <a:ext cx="1679163" cy="111944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36382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Rédaction du dictionnaire des données</a:t>
          </a:r>
        </a:p>
      </dsp:txBody>
      <dsp:txXfrm>
        <a:off x="564528" y="363823"/>
        <a:ext cx="1679163" cy="1119441"/>
      </dsp:txXfrm>
    </dsp:sp>
    <dsp:sp modelId="{4742044D-D7AC-4352-8F15-5368707AEBEA}">
      <dsp:nvSpPr>
        <dsp:cNvPr id="0" name=""/>
        <dsp:cNvSpPr/>
      </dsp:nvSpPr>
      <dsp:spPr>
        <a:xfrm>
          <a:off x="2523551" y="36382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du schéma relationnel</a:t>
          </a:r>
        </a:p>
      </dsp:txBody>
      <dsp:txXfrm>
        <a:off x="3083272" y="363823"/>
        <a:ext cx="1679163" cy="1119441"/>
      </dsp:txXfrm>
    </dsp:sp>
    <dsp:sp modelId="{3D293AAE-67D4-49D6-AF0F-994621153D07}">
      <dsp:nvSpPr>
        <dsp:cNvPr id="0" name=""/>
        <dsp:cNvSpPr/>
      </dsp:nvSpPr>
      <dsp:spPr>
        <a:xfrm>
          <a:off x="5042295" y="363823"/>
          <a:ext cx="2798604" cy="1119441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>
              <a:solidFill>
                <a:schemeClr val="tx1">
                  <a:lumMod val="75000"/>
                  <a:lumOff val="25000"/>
                </a:schemeClr>
              </a:solidFill>
            </a:rPr>
            <a:t>Création de la Base de Données</a:t>
          </a:r>
        </a:p>
      </dsp:txBody>
      <dsp:txXfrm>
        <a:off x="5602016" y="363823"/>
        <a:ext cx="1679163" cy="1119441"/>
      </dsp:txXfrm>
    </dsp:sp>
    <dsp:sp modelId="{BBD4F8B0-C245-4ABC-8C98-2C415B63EB44}">
      <dsp:nvSpPr>
        <dsp:cNvPr id="0" name=""/>
        <dsp:cNvSpPr/>
      </dsp:nvSpPr>
      <dsp:spPr>
        <a:xfrm>
          <a:off x="7561039" y="363823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300" kern="1200" dirty="0"/>
        </a:p>
      </dsp:txBody>
      <dsp:txXfrm>
        <a:off x="8120760" y="363823"/>
        <a:ext cx="1679163" cy="11194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Rédaction du dictionnaire des données</a:t>
          </a:r>
        </a:p>
      </dsp:txBody>
      <dsp:txXfrm>
        <a:off x="564528" y="14225"/>
        <a:ext cx="1679163" cy="1119441"/>
      </dsp:txXfrm>
    </dsp:sp>
    <dsp:sp modelId="{4742044D-D7AC-4352-8F15-5368707AEBEA}">
      <dsp:nvSpPr>
        <dsp:cNvPr id="0" name=""/>
        <dsp:cNvSpPr/>
      </dsp:nvSpPr>
      <dsp:spPr>
        <a:xfrm>
          <a:off x="2523551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du schéma relationnel</a:t>
          </a:r>
        </a:p>
      </dsp:txBody>
      <dsp:txXfrm>
        <a:off x="3083272" y="14225"/>
        <a:ext cx="1679163" cy="1119441"/>
      </dsp:txXfrm>
    </dsp:sp>
    <dsp:sp modelId="{3D293AAE-67D4-49D6-AF0F-994621153D07}">
      <dsp:nvSpPr>
        <dsp:cNvPr id="0" name=""/>
        <dsp:cNvSpPr/>
      </dsp:nvSpPr>
      <dsp:spPr>
        <a:xfrm>
          <a:off x="5042295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de la Base de Données</a:t>
          </a:r>
        </a:p>
      </dsp:txBody>
      <dsp:txXfrm>
        <a:off x="5602016" y="14225"/>
        <a:ext cx="1679163" cy="1119441"/>
      </dsp:txXfrm>
    </dsp:sp>
    <dsp:sp modelId="{BBD4F8B0-C245-4ABC-8C98-2C415B63EB44}">
      <dsp:nvSpPr>
        <dsp:cNvPr id="0" name=""/>
        <dsp:cNvSpPr/>
      </dsp:nvSpPr>
      <dsp:spPr>
        <a:xfrm>
          <a:off x="7561039" y="14225"/>
          <a:ext cx="2798604" cy="1119441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sp:txBody>
      <dsp:txXfrm>
        <a:off x="8120760" y="14225"/>
        <a:ext cx="1679163" cy="1119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Rédaction du dictionnaire des données</a:t>
          </a:r>
        </a:p>
      </dsp:txBody>
      <dsp:txXfrm>
        <a:off x="564528" y="14225"/>
        <a:ext cx="1679163" cy="1119441"/>
      </dsp:txXfrm>
    </dsp:sp>
    <dsp:sp modelId="{4742044D-D7AC-4352-8F15-5368707AEBEA}">
      <dsp:nvSpPr>
        <dsp:cNvPr id="0" name=""/>
        <dsp:cNvSpPr/>
      </dsp:nvSpPr>
      <dsp:spPr>
        <a:xfrm>
          <a:off x="2523551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du schéma relationnel</a:t>
          </a:r>
        </a:p>
      </dsp:txBody>
      <dsp:txXfrm>
        <a:off x="3083272" y="14225"/>
        <a:ext cx="1679163" cy="1119441"/>
      </dsp:txXfrm>
    </dsp:sp>
    <dsp:sp modelId="{3D293AAE-67D4-49D6-AF0F-994621153D07}">
      <dsp:nvSpPr>
        <dsp:cNvPr id="0" name=""/>
        <dsp:cNvSpPr/>
      </dsp:nvSpPr>
      <dsp:spPr>
        <a:xfrm>
          <a:off x="5042295" y="14225"/>
          <a:ext cx="2798604" cy="111944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Création de la Base de Données</a:t>
          </a:r>
        </a:p>
      </dsp:txBody>
      <dsp:txXfrm>
        <a:off x="5602016" y="14225"/>
        <a:ext cx="1679163" cy="1119441"/>
      </dsp:txXfrm>
    </dsp:sp>
    <dsp:sp modelId="{BBD4F8B0-C245-4ABC-8C98-2C415B63EB44}">
      <dsp:nvSpPr>
        <dsp:cNvPr id="0" name=""/>
        <dsp:cNvSpPr/>
      </dsp:nvSpPr>
      <dsp:spPr>
        <a:xfrm>
          <a:off x="7561039" y="14225"/>
          <a:ext cx="2798604" cy="1119441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sp:txBody>
      <dsp:txXfrm>
        <a:off x="8120760" y="14225"/>
        <a:ext cx="1679163" cy="11194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A697AF-D16B-439A-9727-F833A3676B4D}">
      <dsp:nvSpPr>
        <dsp:cNvPr id="0" name=""/>
        <dsp:cNvSpPr/>
      </dsp:nvSpPr>
      <dsp:spPr>
        <a:xfrm>
          <a:off x="4807" y="0"/>
          <a:ext cx="2798604" cy="80709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Rédaction du dictionnaire des données</a:t>
          </a:r>
        </a:p>
      </dsp:txBody>
      <dsp:txXfrm>
        <a:off x="408354" y="0"/>
        <a:ext cx="1991510" cy="807094"/>
      </dsp:txXfrm>
    </dsp:sp>
    <dsp:sp modelId="{4742044D-D7AC-4352-8F15-5368707AEBEA}">
      <dsp:nvSpPr>
        <dsp:cNvPr id="0" name=""/>
        <dsp:cNvSpPr/>
      </dsp:nvSpPr>
      <dsp:spPr>
        <a:xfrm>
          <a:off x="2523551" y="0"/>
          <a:ext cx="2798604" cy="80709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Création du schéma relationnel</a:t>
          </a:r>
        </a:p>
      </dsp:txBody>
      <dsp:txXfrm>
        <a:off x="2927098" y="0"/>
        <a:ext cx="1991510" cy="807094"/>
      </dsp:txXfrm>
    </dsp:sp>
    <dsp:sp modelId="{3D293AAE-67D4-49D6-AF0F-994621153D07}">
      <dsp:nvSpPr>
        <dsp:cNvPr id="0" name=""/>
        <dsp:cNvSpPr/>
      </dsp:nvSpPr>
      <dsp:spPr>
        <a:xfrm>
          <a:off x="5042295" y="0"/>
          <a:ext cx="2798604" cy="807094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Création de la Base de Données</a:t>
          </a:r>
        </a:p>
      </dsp:txBody>
      <dsp:txXfrm>
        <a:off x="5445842" y="0"/>
        <a:ext cx="1991510" cy="807094"/>
      </dsp:txXfrm>
    </dsp:sp>
    <dsp:sp modelId="{BBD4F8B0-C245-4ABC-8C98-2C415B63EB44}">
      <dsp:nvSpPr>
        <dsp:cNvPr id="0" name=""/>
        <dsp:cNvSpPr/>
      </dsp:nvSpPr>
      <dsp:spPr>
        <a:xfrm>
          <a:off x="7561039" y="0"/>
          <a:ext cx="2798604" cy="807094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solidFill>
                <a:schemeClr val="tx1">
                  <a:lumMod val="75000"/>
                  <a:lumOff val="25000"/>
                </a:schemeClr>
              </a:solidFill>
            </a:rPr>
            <a:t>Requêtage</a:t>
          </a:r>
        </a:p>
      </dsp:txBody>
      <dsp:txXfrm>
        <a:off x="7964586" y="0"/>
        <a:ext cx="1991510" cy="807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16497-9E13-49D7-806D-94D168DD2A99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6B6C8-B32B-4DCA-83CD-77A240DD76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09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que m’ont apportés les cours :  J’ai appréhendé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6B6C8-B32B-4DCA-83CD-77A240DD765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437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Plus le AS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6B6C8-B32B-4DCA-83CD-77A240DD765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854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61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8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93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88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815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841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25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40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23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955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093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6775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9732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363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7624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729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24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A29E19A-C432-4172-A969-3BC45E4DC581}" type="datetimeFigureOut">
              <a:rPr lang="fr-FR" smtClean="0"/>
              <a:t>20/05/2025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728D98C-58BA-4A06-91C2-7CAF3DFB5C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66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.jp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925B6D-C7FB-2F54-ACEB-423BD13EA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FORMATION DATA ANALYST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module 3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338F57-518E-6E3A-A3D9-FD07112B96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b="1" dirty="0"/>
              <a:t>Requêtez une base de données avec SQL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300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4AF78-556F-F2FD-3FCD-8938260A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AC5C6B-BD02-5935-32CB-33C84C2044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FR" dirty="0"/>
              <a:t>PRISE en MAIN DE LA BASE DE DONNEES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Création du schéma relationnel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Construction de la base sur SQLite Studio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Import des données (CSV vers SQLite)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Rédaction des requêtes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CE que je retiens 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LES AXES DE PROGRESSION</a:t>
            </a:r>
          </a:p>
        </p:txBody>
      </p:sp>
    </p:spTree>
    <p:extLst>
      <p:ext uri="{BB962C8B-B14F-4D97-AF65-F5344CB8AC3E}">
        <p14:creationId xmlns:p14="http://schemas.microsoft.com/office/powerpoint/2010/main" val="360396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4AF78-556F-F2FD-3FCD-8938260A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447676"/>
          </a:xfrm>
        </p:spPr>
        <p:txBody>
          <a:bodyPr>
            <a:normAutofit fontScale="90000"/>
          </a:bodyPr>
          <a:lstStyle/>
          <a:p>
            <a:r>
              <a:rPr lang="fr-FR" dirty="0"/>
              <a:t>PRISE en MAIN DE LA BASE DE DONNEES</a:t>
            </a:r>
            <a:br>
              <a:rPr lang="fr-FR" dirty="0"/>
            </a:br>
            <a:endParaRPr lang="fr-FR" dirty="0"/>
          </a:p>
        </p:txBody>
      </p:sp>
      <p:sp>
        <p:nvSpPr>
          <p:cNvPr id="6" name="Espace réservé du contenu 4">
            <a:extLst>
              <a:ext uri="{FF2B5EF4-FFF2-40B4-BE49-F238E27FC236}">
                <a16:creationId xmlns:a16="http://schemas.microsoft.com/office/drawing/2014/main" id="{22D968E2-2BA7-1F7C-881E-4FE4B3997B74}"/>
              </a:ext>
            </a:extLst>
          </p:cNvPr>
          <p:cNvSpPr txBox="1">
            <a:spLocks/>
          </p:cNvSpPr>
          <p:nvPr/>
        </p:nvSpPr>
        <p:spPr>
          <a:xfrm>
            <a:off x="7062452" y="1543050"/>
            <a:ext cx="4886951" cy="3638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cap="none" dirty="0">
                <a:latin typeface="Abadi" panose="020B0604020104020204" pitchFamily="34" charset="0"/>
              </a:rPr>
              <a:t>Prise en main de la base de données : </a:t>
            </a:r>
          </a:p>
          <a:p>
            <a:pPr>
              <a:buFontTx/>
              <a:buChar char="-"/>
            </a:pPr>
            <a:r>
              <a:rPr lang="fr-FR" cap="none" dirty="0">
                <a:latin typeface="Abadi" panose="020B0604020104020204" pitchFamily="34" charset="0"/>
              </a:rPr>
              <a:t>Observation du nombre et de la nature des champs de chaque fichier</a:t>
            </a:r>
          </a:p>
          <a:p>
            <a:pPr>
              <a:buFontTx/>
              <a:buChar char="-"/>
            </a:pPr>
            <a:r>
              <a:rPr lang="fr-FR" cap="none" dirty="0">
                <a:latin typeface="Abadi" panose="020B0604020104020204" pitchFamily="34" charset="0"/>
              </a:rPr>
              <a:t>Lecture de la documentation associée (Data.gouv.fr)</a:t>
            </a:r>
          </a:p>
          <a:p>
            <a:pPr>
              <a:buFontTx/>
              <a:buChar char="-"/>
            </a:pPr>
            <a:r>
              <a:rPr lang="fr-FR" cap="none" dirty="0">
                <a:latin typeface="Abadi" panose="020B0604020104020204" pitchFamily="34" charset="0"/>
              </a:rPr>
              <a:t>Vérification des doublons et nettoyage</a:t>
            </a:r>
          </a:p>
          <a:p>
            <a:pPr>
              <a:buFontTx/>
              <a:buChar char="-"/>
            </a:pPr>
            <a:r>
              <a:rPr lang="fr-FR" cap="none" dirty="0">
                <a:latin typeface="Abadi" panose="020B0604020104020204" pitchFamily="34" charset="0"/>
              </a:rPr>
              <a:t>Qualification de la nature des variables</a:t>
            </a:r>
          </a:p>
          <a:p>
            <a:pPr>
              <a:buFontTx/>
              <a:buChar char="-"/>
            </a:pPr>
            <a:endParaRPr lang="fr-FR" cap="none" dirty="0">
              <a:latin typeface="Abadi" panose="020B0604020104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sz="1600" cap="none" dirty="0">
              <a:latin typeface="Abadi" panose="020B0604020104020204" pitchFamily="34" charset="0"/>
            </a:endParaRP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E8BD8897-C588-BBCD-2BF5-CA7D39AEB4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885431"/>
              </p:ext>
            </p:extLst>
          </p:nvPr>
        </p:nvGraphicFramePr>
        <p:xfrm>
          <a:off x="634374" y="391075"/>
          <a:ext cx="6045200" cy="495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Espace réservé du contenu 3">
            <a:extLst>
              <a:ext uri="{FF2B5EF4-FFF2-40B4-BE49-F238E27FC236}">
                <a16:creationId xmlns:a16="http://schemas.microsoft.com/office/drawing/2014/main" id="{C53FAF6A-2018-28C0-2DFC-9E2D35EA1C9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12298729"/>
              </p:ext>
            </p:extLst>
          </p:nvPr>
        </p:nvGraphicFramePr>
        <p:xfrm>
          <a:off x="634374" y="5448342"/>
          <a:ext cx="10749906" cy="1118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9710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B80C17-A69B-04CA-810F-AA0254471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234469"/>
            <a:ext cx="10364451" cy="707363"/>
          </a:xfrm>
        </p:spPr>
        <p:txBody>
          <a:bodyPr/>
          <a:lstStyle/>
          <a:p>
            <a:r>
              <a:rPr lang="fr-FR" dirty="0"/>
              <a:t>Le dictionnaire des données</a:t>
            </a:r>
          </a:p>
        </p:txBody>
      </p:sp>
      <p:graphicFrame>
        <p:nvGraphicFramePr>
          <p:cNvPr id="6" name="Espace réservé du contenu 3">
            <a:extLst>
              <a:ext uri="{FF2B5EF4-FFF2-40B4-BE49-F238E27FC236}">
                <a16:creationId xmlns:a16="http://schemas.microsoft.com/office/drawing/2014/main" id="{36CD384A-D992-903F-D16F-E30A5A5965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61565932"/>
              </p:ext>
            </p:extLst>
          </p:nvPr>
        </p:nvGraphicFramePr>
        <p:xfrm>
          <a:off x="1009512" y="5844725"/>
          <a:ext cx="10268712" cy="778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AA525437-02C8-52CD-1B62-B7E7024829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702" y="1061707"/>
            <a:ext cx="10888595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1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2735DC5-7ED1-84C9-08D9-DFE7EDAB051A}"/>
              </a:ext>
            </a:extLst>
          </p:cNvPr>
          <p:cNvSpPr txBox="1"/>
          <p:nvPr/>
        </p:nvSpPr>
        <p:spPr>
          <a:xfrm>
            <a:off x="1025281" y="3429000"/>
            <a:ext cx="2939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J’ai utilisé l’outil SQL Power Architect pour créer le schéma relationnel</a:t>
            </a:r>
          </a:p>
        </p:txBody>
      </p:sp>
      <p:pic>
        <p:nvPicPr>
          <p:cNvPr id="8" name="Image 7" descr="Une image contenant Graphique, symbole, cercle, logo&#10;&#10;Le contenu généré par l’IA peut être incorrect.">
            <a:extLst>
              <a:ext uri="{FF2B5EF4-FFF2-40B4-BE49-F238E27FC236}">
                <a16:creationId xmlns:a16="http://schemas.microsoft.com/office/drawing/2014/main" id="{54EFE492-0A79-9B30-D02E-200F9514D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34" y="1591599"/>
            <a:ext cx="1476375" cy="1476375"/>
          </a:xfrm>
          <a:prstGeom prst="rect">
            <a:avLst/>
          </a:prstGeom>
        </p:spPr>
      </p:pic>
      <p:graphicFrame>
        <p:nvGraphicFramePr>
          <p:cNvPr id="9" name="Espace réservé du contenu 3">
            <a:extLst>
              <a:ext uri="{FF2B5EF4-FFF2-40B4-BE49-F238E27FC236}">
                <a16:creationId xmlns:a16="http://schemas.microsoft.com/office/drawing/2014/main" id="{974F0245-214D-6588-3B9B-F3DB5292DBA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66343911"/>
              </p:ext>
            </p:extLst>
          </p:nvPr>
        </p:nvGraphicFramePr>
        <p:xfrm>
          <a:off x="913774" y="4736986"/>
          <a:ext cx="10364452" cy="210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D9F0C1E5-4C28-0C9D-594E-980FFDBF813C}"/>
              </a:ext>
            </a:extLst>
          </p:cNvPr>
          <p:cNvSpPr txBox="1"/>
          <p:nvPr/>
        </p:nvSpPr>
        <p:spPr>
          <a:xfrm>
            <a:off x="5643619" y="1743715"/>
            <a:ext cx="5705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étapes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Import de la nature des variables et des contraintes depuis le dictionnaire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Catégorisation de la relation entre les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Renseignements des clés</a:t>
            </a:r>
          </a:p>
        </p:txBody>
      </p:sp>
    </p:spTree>
    <p:extLst>
      <p:ext uri="{BB962C8B-B14F-4D97-AF65-F5344CB8AC3E}">
        <p14:creationId xmlns:p14="http://schemas.microsoft.com/office/powerpoint/2010/main" val="385767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F2BB0E1-7345-2BEB-4484-429ADD949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99" y="843118"/>
            <a:ext cx="9943201" cy="403102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36D3BAE-2F2A-E943-4676-822FA2E3FDD0}"/>
              </a:ext>
            </a:extLst>
          </p:cNvPr>
          <p:cNvSpPr txBox="1"/>
          <p:nvPr/>
        </p:nvSpPr>
        <p:spPr>
          <a:xfrm>
            <a:off x="2935224" y="466344"/>
            <a:ext cx="6702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schéma relationnel avec la méthode ULM</a:t>
            </a:r>
          </a:p>
        </p:txBody>
      </p:sp>
      <p:graphicFrame>
        <p:nvGraphicFramePr>
          <p:cNvPr id="5" name="Espace réservé du contenu 3">
            <a:extLst>
              <a:ext uri="{FF2B5EF4-FFF2-40B4-BE49-F238E27FC236}">
                <a16:creationId xmlns:a16="http://schemas.microsoft.com/office/drawing/2014/main" id="{5E793C30-7404-A92F-B20F-7367274845C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41615959"/>
              </p:ext>
            </p:extLst>
          </p:nvPr>
        </p:nvGraphicFramePr>
        <p:xfrm>
          <a:off x="566928" y="5272497"/>
          <a:ext cx="10802738" cy="1484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664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E376D34-33DB-88FD-20EF-94D296A09F5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0929958"/>
              </p:ext>
            </p:extLst>
          </p:nvPr>
        </p:nvGraphicFramePr>
        <p:xfrm>
          <a:off x="913775" y="4751832"/>
          <a:ext cx="10364452" cy="210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A46C4005-4FF9-AD59-DF80-684C6F40C5E3}"/>
              </a:ext>
            </a:extLst>
          </p:cNvPr>
          <p:cNvSpPr txBox="1"/>
          <p:nvPr/>
        </p:nvSpPr>
        <p:spPr>
          <a:xfrm>
            <a:off x="1025283" y="3790026"/>
            <a:ext cx="2939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/>
              <a:t>J’ai utilisé le </a:t>
            </a:r>
            <a:r>
              <a:rPr lang="fr-FR" dirty="0" err="1"/>
              <a:t>logiel</a:t>
            </a:r>
            <a:r>
              <a:rPr lang="fr-FR" dirty="0"/>
              <a:t> </a:t>
            </a:r>
            <a:r>
              <a:rPr lang="fr-FR" dirty="0" err="1"/>
              <a:t>SQLiteStudio</a:t>
            </a:r>
            <a:r>
              <a:rPr lang="fr-FR" dirty="0"/>
              <a:t> pour créer ma base de données</a:t>
            </a:r>
          </a:p>
        </p:txBody>
      </p:sp>
      <p:pic>
        <p:nvPicPr>
          <p:cNvPr id="7" name="Image 6" descr="Une image contenant cylindre, conception">
            <a:extLst>
              <a:ext uri="{FF2B5EF4-FFF2-40B4-BE49-F238E27FC236}">
                <a16:creationId xmlns:a16="http://schemas.microsoft.com/office/drawing/2014/main" id="{BB12F779-AB50-9B81-06F6-9DB8C92ECA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47" y="1914525"/>
            <a:ext cx="3028950" cy="151447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EFBF028-0C6A-287E-1D01-C05065B5722D}"/>
              </a:ext>
            </a:extLst>
          </p:cNvPr>
          <p:cNvSpPr txBox="1"/>
          <p:nvPr/>
        </p:nvSpPr>
        <p:spPr>
          <a:xfrm>
            <a:off x="4928616" y="1782092"/>
            <a:ext cx="5989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étapes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génération du code SQL grâce à </a:t>
            </a:r>
            <a:r>
              <a:rPr lang="fr-FR" dirty="0" err="1"/>
              <a:t>PowerArchitect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création des tables (vigilance dans l’ordre de création)</a:t>
            </a:r>
          </a:p>
          <a:p>
            <a:pPr marL="285750" indent="-285750">
              <a:buFontTx/>
              <a:buChar char="-"/>
            </a:pPr>
            <a:r>
              <a:rPr lang="fr-FR" dirty="0"/>
              <a:t>Import des données</a:t>
            </a:r>
          </a:p>
          <a:p>
            <a:pPr marL="285750" indent="-285750">
              <a:buFontTx/>
              <a:buChar char="-"/>
            </a:pPr>
            <a:r>
              <a:rPr lang="fr-FR" dirty="0"/>
              <a:t>Vérification du nombre de lignes (30 326 lignes pour la table contrat, 38 916 pour la table </a:t>
            </a:r>
            <a:r>
              <a:rPr lang="fr-FR" dirty="0" err="1"/>
              <a:t>region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0240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4AF78-556F-F2FD-3FCD-8938260A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71371"/>
          </a:xfrm>
        </p:spPr>
        <p:txBody>
          <a:bodyPr/>
          <a:lstStyle/>
          <a:p>
            <a:r>
              <a:rPr lang="fr-FR" dirty="0"/>
              <a:t>Les codes de </a:t>
            </a:r>
            <a:r>
              <a:rPr lang="fr-FR" dirty="0" err="1"/>
              <a:t>creation</a:t>
            </a:r>
            <a:r>
              <a:rPr lang="fr-FR" dirty="0"/>
              <a:t> de table</a:t>
            </a:r>
          </a:p>
        </p:txBody>
      </p:sp>
      <p:graphicFrame>
        <p:nvGraphicFramePr>
          <p:cNvPr id="7" name="Espace réservé du contenu 3">
            <a:extLst>
              <a:ext uri="{FF2B5EF4-FFF2-40B4-BE49-F238E27FC236}">
                <a16:creationId xmlns:a16="http://schemas.microsoft.com/office/drawing/2014/main" id="{28F0D073-A865-FF30-B166-9DF38E04A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035230"/>
              </p:ext>
            </p:extLst>
          </p:nvPr>
        </p:nvGraphicFramePr>
        <p:xfrm>
          <a:off x="913775" y="5010912"/>
          <a:ext cx="10364452" cy="184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A0424C81-1934-D325-CC09-F38F1A7818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512" y="1389888"/>
            <a:ext cx="6543656" cy="3929186"/>
          </a:xfrm>
          <a:prstGeom prst="rect">
            <a:avLst/>
          </a:prstGeom>
        </p:spPr>
      </p:pic>
      <p:pic>
        <p:nvPicPr>
          <p:cNvPr id="19" name="Image 18" descr="Une image contenant texte, capture d’écran, affichage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364BA158-6DD8-C2FC-5340-ED2CB3E3B9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961" y="1432928"/>
            <a:ext cx="6830550" cy="38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328BDE-E83F-CC8E-39F8-280D67029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97432"/>
            <a:ext cx="10364451" cy="642169"/>
          </a:xfrm>
        </p:spPr>
        <p:txBody>
          <a:bodyPr/>
          <a:lstStyle/>
          <a:p>
            <a:r>
              <a:rPr lang="fr-FR" dirty="0"/>
              <a:t>La base de donnes chargée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A7E5F4-DE03-9527-52E8-7F75E4EB7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4" y="5074461"/>
            <a:ext cx="11002911" cy="148610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6D73369-411E-979E-ECD0-634A6CE87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74" y="939602"/>
            <a:ext cx="8550266" cy="388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9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4AF78-556F-F2FD-3FCD-8938260A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99387"/>
          </a:xfrm>
        </p:spPr>
        <p:txBody>
          <a:bodyPr/>
          <a:lstStyle/>
          <a:p>
            <a:r>
              <a:rPr lang="fr-FR" dirty="0"/>
              <a:t>Les Requêtes </a:t>
            </a:r>
            <a:r>
              <a:rPr lang="fr-FR" dirty="0" err="1"/>
              <a:t>SQl</a:t>
            </a:r>
            <a:r>
              <a:rPr lang="fr-FR" dirty="0"/>
              <a:t> – Les clauses utilisées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9CA9D2C3-F08A-0994-C2FA-C16F05AB708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87007402"/>
              </p:ext>
            </p:extLst>
          </p:nvPr>
        </p:nvGraphicFramePr>
        <p:xfrm>
          <a:off x="913149" y="5274243"/>
          <a:ext cx="10364451" cy="1147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456A23A-F906-5FE8-3CEF-314F9218F59E}"/>
              </a:ext>
            </a:extLst>
          </p:cNvPr>
          <p:cNvSpPr txBox="1"/>
          <p:nvPr/>
        </p:nvSpPr>
        <p:spPr>
          <a:xfrm>
            <a:off x="913149" y="2080795"/>
            <a:ext cx="1975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Clauses</a:t>
            </a:r>
          </a:p>
          <a:p>
            <a:endParaRPr lang="fr-FR" dirty="0"/>
          </a:p>
          <a:p>
            <a:r>
              <a:rPr lang="fr-FR" dirty="0"/>
              <a:t>SELECT (distinct)</a:t>
            </a:r>
          </a:p>
          <a:p>
            <a:r>
              <a:rPr lang="fr-FR" dirty="0"/>
              <a:t>FROM</a:t>
            </a:r>
          </a:p>
          <a:p>
            <a:r>
              <a:rPr lang="fr-FR" dirty="0"/>
              <a:t>WHERE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F5100C1-8D26-5B74-2612-4CB56B594C6D}"/>
              </a:ext>
            </a:extLst>
          </p:cNvPr>
          <p:cNvSpPr txBox="1"/>
          <p:nvPr/>
        </p:nvSpPr>
        <p:spPr>
          <a:xfrm>
            <a:off x="2888253" y="2080794"/>
            <a:ext cx="2395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Opérateurs logiques</a:t>
            </a:r>
          </a:p>
          <a:p>
            <a:endParaRPr lang="fr-FR" dirty="0"/>
          </a:p>
          <a:p>
            <a:r>
              <a:rPr lang="fr-FR" dirty="0"/>
              <a:t>AND</a:t>
            </a:r>
          </a:p>
          <a:p>
            <a:r>
              <a:rPr lang="fr-FR" dirty="0"/>
              <a:t>OR</a:t>
            </a:r>
          </a:p>
          <a:p>
            <a:r>
              <a:rPr lang="fr-FR" dirty="0"/>
              <a:t>IN / NOT IN</a:t>
            </a:r>
          </a:p>
          <a:p>
            <a:r>
              <a:rPr lang="fr-FR" dirty="0"/>
              <a:t>BETWEEN … AND …</a:t>
            </a:r>
          </a:p>
          <a:p>
            <a:r>
              <a:rPr lang="fr-FR" dirty="0"/>
              <a:t>LIKE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49AE522-6D89-30E8-F1CA-80CAAC5FDE67}"/>
              </a:ext>
            </a:extLst>
          </p:cNvPr>
          <p:cNvSpPr txBox="1"/>
          <p:nvPr/>
        </p:nvSpPr>
        <p:spPr>
          <a:xfrm>
            <a:off x="5282730" y="2080794"/>
            <a:ext cx="16038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Agregation</a:t>
            </a:r>
            <a:endParaRPr lang="fr-FR" dirty="0"/>
          </a:p>
          <a:p>
            <a:endParaRPr lang="fr-FR" dirty="0"/>
          </a:p>
          <a:p>
            <a:r>
              <a:rPr lang="fr-FR" dirty="0"/>
              <a:t>GROUP BY</a:t>
            </a:r>
          </a:p>
          <a:p>
            <a:r>
              <a:rPr lang="fr-FR" dirty="0"/>
              <a:t>HAVING</a:t>
            </a:r>
          </a:p>
          <a:p>
            <a:r>
              <a:rPr lang="fr-FR" dirty="0"/>
              <a:t>AVG()</a:t>
            </a:r>
          </a:p>
          <a:p>
            <a:r>
              <a:rPr lang="fr-FR" dirty="0"/>
              <a:t>COUNT()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C503D3-2552-3E31-DCB2-62CC2BE63A78}"/>
              </a:ext>
            </a:extLst>
          </p:cNvPr>
          <p:cNvSpPr txBox="1"/>
          <p:nvPr/>
        </p:nvSpPr>
        <p:spPr>
          <a:xfrm>
            <a:off x="6702864" y="2080795"/>
            <a:ext cx="1603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Jointure</a:t>
            </a:r>
          </a:p>
          <a:p>
            <a:endParaRPr lang="fr-FR" dirty="0"/>
          </a:p>
          <a:p>
            <a:r>
              <a:rPr lang="fr-FR" dirty="0"/>
              <a:t>JOIN … ON …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BDD0C70-E411-F276-DCF8-D0AE12A99DA9}"/>
              </a:ext>
            </a:extLst>
          </p:cNvPr>
          <p:cNvSpPr txBox="1"/>
          <p:nvPr/>
        </p:nvSpPr>
        <p:spPr>
          <a:xfrm>
            <a:off x="8305487" y="2080795"/>
            <a:ext cx="1389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Tri</a:t>
            </a:r>
          </a:p>
          <a:p>
            <a:endParaRPr lang="fr-FR" dirty="0"/>
          </a:p>
          <a:p>
            <a:r>
              <a:rPr lang="fr-FR" dirty="0"/>
              <a:t>ORDER BY</a:t>
            </a:r>
          </a:p>
          <a:p>
            <a:r>
              <a:rPr lang="fr-FR" dirty="0"/>
              <a:t>LIMIT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9F01E40-9304-6315-1150-FA2F64580B8B}"/>
              </a:ext>
            </a:extLst>
          </p:cNvPr>
          <p:cNvSpPr txBox="1"/>
          <p:nvPr/>
        </p:nvSpPr>
        <p:spPr>
          <a:xfrm>
            <a:off x="9582912" y="2080794"/>
            <a:ext cx="2075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Fonctions spécifiques</a:t>
            </a:r>
          </a:p>
          <a:p>
            <a:endParaRPr lang="fr-FR" dirty="0"/>
          </a:p>
          <a:p>
            <a:r>
              <a:rPr lang="fr-FR" dirty="0"/>
              <a:t>CAST</a:t>
            </a:r>
          </a:p>
          <a:p>
            <a:r>
              <a:rPr lang="fr-FR" dirty="0"/>
              <a:t>SUBSTR</a:t>
            </a:r>
          </a:p>
        </p:txBody>
      </p:sp>
    </p:spTree>
    <p:extLst>
      <p:ext uri="{BB962C8B-B14F-4D97-AF65-F5344CB8AC3E}">
        <p14:creationId xmlns:p14="http://schemas.microsoft.com/office/powerpoint/2010/main" val="2646658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BF6FD-1F04-02C3-8D0C-2FA1EB80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FOCUS SUR QUELQUES </a:t>
            </a:r>
            <a:r>
              <a:rPr lang="fr-FR" dirty="0" err="1"/>
              <a:t>REQUêtes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4EB6BB-9ADC-1E2C-5F5D-6DABFB0740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3393050" cy="30644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1400" b="1" cap="none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Lister les numéros de contrats (</a:t>
            </a:r>
            <a:r>
              <a:rPr lang="fr-FR" sz="1400" b="1" cap="none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contrat_id</a:t>
            </a:r>
            <a:r>
              <a:rPr lang="fr-FR" sz="1400" b="1" cap="none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) avec leur surface pour la commune de Caen.</a:t>
            </a:r>
          </a:p>
          <a:p>
            <a:pPr marL="0" indent="0">
              <a:buNone/>
            </a:pPr>
            <a:endParaRPr lang="fr-FR" sz="1400" cap="none" dirty="0">
              <a:solidFill>
                <a:srgbClr val="000000"/>
              </a:solidFill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endParaRPr lang="fr-FR" sz="1400" cap="none" dirty="0">
              <a:solidFill>
                <a:srgbClr val="000000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pPr marL="0" indent="0">
              <a:buNone/>
            </a:pPr>
            <a:r>
              <a:rPr lang="fr-FR" sz="1400" cap="none" dirty="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Il faut faire faire appel à nos deux tables et donc opérer une jointure, puis filtrer avec le nom d’une commune précise</a:t>
            </a:r>
            <a:endParaRPr lang="fr-FR" sz="1400" cap="none" dirty="0">
              <a:solidFill>
                <a:srgbClr val="000000"/>
              </a:solidFill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pic>
        <p:nvPicPr>
          <p:cNvPr id="5" name="Image 4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8B957BDA-A9C0-B7D6-C66F-BA7118C68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824" y="1755647"/>
            <a:ext cx="7830906" cy="3920991"/>
          </a:xfrm>
          <a:prstGeom prst="rect">
            <a:avLst/>
          </a:prstGeom>
        </p:spPr>
      </p:pic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D4D675A-1C8A-EF80-70F9-A1A944D487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5360363"/>
              </p:ext>
            </p:extLst>
          </p:nvPr>
        </p:nvGraphicFramePr>
        <p:xfrm>
          <a:off x="751224" y="5583934"/>
          <a:ext cx="10364451" cy="1147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606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D7804743-F5C6-EFAF-41EC-C9B71408A7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876" y="1495646"/>
            <a:ext cx="6962124" cy="4352543"/>
          </a:xfr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B6AB6B29-7376-5307-EEE0-0DDDCF43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1595438"/>
          </a:xfrm>
        </p:spPr>
        <p:txBody>
          <a:bodyPr/>
          <a:lstStyle/>
          <a:p>
            <a:r>
              <a:rPr lang="fr-FR" dirty="0"/>
              <a:t>FOCUS SUR QUELQUES </a:t>
            </a:r>
            <a:r>
              <a:rPr lang="fr-FR" dirty="0" err="1"/>
              <a:t>REQUêtes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E9D914C-DAEB-46C4-FA82-023AA6740009}"/>
              </a:ext>
            </a:extLst>
          </p:cNvPr>
          <p:cNvSpPr txBox="1"/>
          <p:nvPr/>
        </p:nvSpPr>
        <p:spPr>
          <a:xfrm>
            <a:off x="740664" y="2214563"/>
            <a:ext cx="38679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effectLst/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</a:rPr>
              <a:t>Quelle est la surface moyenne des contrats à Paris ?</a:t>
            </a:r>
          </a:p>
          <a:p>
            <a:endParaRPr lang="fr-FR" sz="1600" dirty="0">
              <a:effectLst/>
              <a:latin typeface="Montserrat" panose="00000500000000000000" pitchFamily="2" charset="0"/>
              <a:ea typeface="Montserrat" panose="00000500000000000000" pitchFamily="2" charset="0"/>
              <a:cs typeface="Montserrat" panose="00000500000000000000" pitchFamily="2" charset="0"/>
            </a:endParaRPr>
          </a:p>
          <a:p>
            <a:endParaRPr lang="fr-FR" sz="1600" dirty="0">
              <a:latin typeface="Montserrat" panose="00000500000000000000" pitchFamily="2" charset="0"/>
            </a:endParaRPr>
          </a:p>
          <a:p>
            <a:r>
              <a:rPr lang="fr-FR" sz="1600" dirty="0">
                <a:latin typeface="Montserrat" panose="00000500000000000000" pitchFamily="2" charset="0"/>
              </a:rPr>
              <a:t>Cette question m’a posé de nombreux problèmes quant au fait de trouver précisément les lignes correspondant à Paris et ses arrondissements de 1 à 20).</a:t>
            </a:r>
          </a:p>
          <a:p>
            <a:r>
              <a:rPr lang="fr-FR" sz="1600" dirty="0">
                <a:latin typeface="Montserrat" panose="00000500000000000000" pitchFamily="2" charset="0"/>
              </a:rPr>
              <a:t>J’ai utilisé SUBSTR pour découper le résultat, puis transformer la suite des caractères en chiffres grâce à CAST et INTEGER</a:t>
            </a:r>
            <a:endParaRPr lang="fr-FR" sz="1600" dirty="0"/>
          </a:p>
        </p:txBody>
      </p:sp>
      <p:graphicFrame>
        <p:nvGraphicFramePr>
          <p:cNvPr id="2" name="Espace réservé du contenu 3">
            <a:extLst>
              <a:ext uri="{FF2B5EF4-FFF2-40B4-BE49-F238E27FC236}">
                <a16:creationId xmlns:a16="http://schemas.microsoft.com/office/drawing/2014/main" id="{4667D7CA-F6C3-10DC-C87E-AC0DE7BAD0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8340701"/>
              </p:ext>
            </p:extLst>
          </p:nvPr>
        </p:nvGraphicFramePr>
        <p:xfrm>
          <a:off x="1028700" y="5848189"/>
          <a:ext cx="10364451" cy="807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1440107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Ronds dans l’eau</Template>
  <TotalTime>707</TotalTime>
  <Words>524</Words>
  <Application>Microsoft Office PowerPoint</Application>
  <PresentationFormat>Grand écran</PresentationFormat>
  <Paragraphs>108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Abadi</vt:lpstr>
      <vt:lpstr>Aptos</vt:lpstr>
      <vt:lpstr>Arial</vt:lpstr>
      <vt:lpstr>Montserrat</vt:lpstr>
      <vt:lpstr>Tw Cen MT</vt:lpstr>
      <vt:lpstr>Ronds dans l’eau</vt:lpstr>
      <vt:lpstr>FORMATION DATA ANALYST   module 3 </vt:lpstr>
      <vt:lpstr>Sommaire</vt:lpstr>
      <vt:lpstr>PRISE en MAIN DE LA BASE DE DONNEES </vt:lpstr>
      <vt:lpstr>Le dictionnaire des données</vt:lpstr>
      <vt:lpstr>Présentation PowerPoint</vt:lpstr>
      <vt:lpstr>Présentation PowerPoint</vt:lpstr>
      <vt:lpstr>Présentation PowerPoint</vt:lpstr>
      <vt:lpstr>Les codes de creation de table</vt:lpstr>
      <vt:lpstr>La base de donnes chargée</vt:lpstr>
      <vt:lpstr>Les Requêtes SQl – Les clauses utilisées</vt:lpstr>
      <vt:lpstr>FOCUS SUR QUELQUES REQUêtes</vt:lpstr>
      <vt:lpstr>FOCUS SUR QUELQUES REQUêtes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Leray</dc:creator>
  <cp:lastModifiedBy>Anthony Leray</cp:lastModifiedBy>
  <cp:revision>4</cp:revision>
  <dcterms:created xsi:type="dcterms:W3CDTF">2025-05-13T07:22:09Z</dcterms:created>
  <dcterms:modified xsi:type="dcterms:W3CDTF">2025-05-20T08:26:55Z</dcterms:modified>
</cp:coreProperties>
</file>