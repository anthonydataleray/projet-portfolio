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8" r:id="rId10"/>
    <p:sldId id="263" r:id="rId11"/>
    <p:sldId id="264" r:id="rId12"/>
    <p:sldId id="265" r:id="rId13"/>
    <p:sldId id="276" r:id="rId14"/>
    <p:sldId id="277" r:id="rId15"/>
    <p:sldId id="275" r:id="rId16"/>
    <p:sldId id="274" r:id="rId17"/>
    <p:sldId id="273" r:id="rId18"/>
    <p:sldId id="272" r:id="rId19"/>
    <p:sldId id="271" r:id="rId20"/>
    <p:sldId id="270" r:id="rId21"/>
    <p:sldId id="269" r:id="rId22"/>
    <p:sldId id="268" r:id="rId23"/>
    <p:sldId id="267" r:id="rId24"/>
    <p:sldId id="266" r:id="rId25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538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appartements représentent 91,8 % de l’ensemble des transactions de notre base (total de 34 151 transactions)</a:t>
            </a:r>
            <a:endParaRPr dirty="0"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17 régions dans le résultats sur un total de 19 régions, 2 régions n’ont pas connu de transactions pour ce type de bien et sur cette période. </a:t>
            </a:r>
            <a:endParaRPr dirty="0"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6214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30 appartements ont un nombre de pièces égal à 0 (avec pourtant une surface non nulle), j’ai filtré ici ces données.</a:t>
            </a:r>
            <a:endParaRPr dirty="0"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6730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4896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46515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Supprimer une des deux colonnes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Préciser qu’il y a des problèmes de correspondance entre surface total et </a:t>
            </a:r>
            <a:r>
              <a:rPr lang="fr-FR"/>
              <a:t>surface carrez</a:t>
            </a: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54025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673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21948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08296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40013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65258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1540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Anthony LERAY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dirty="0"/>
              <a:t>Contexte du projet</a:t>
            </a:r>
            <a:endParaRPr dirty="0"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Analyse prédictive du prix de vente des biens immobiliers </a:t>
            </a:r>
            <a:endParaRPr dirty="0"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" dirty="0"/>
          </a:p>
          <a:p>
            <a:pPr marL="1143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L’objectif de Laplace Immo est de pouvoir grâce aux données fournir des estimations de prix les plus pertinentes possible.</a:t>
            </a:r>
          </a:p>
          <a:p>
            <a:pPr marL="1143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Cette approche « données » doit nous permettre d’avoir un avantage stratégique sur la concurrence,</a:t>
            </a:r>
            <a:endParaRPr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La stratégie de sauvegarde et la conformité RGPD</a:t>
            </a:r>
            <a:endParaRPr b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Certaines des sources de données contiennent les noms des acquéreurs, les fichiers seront donc anonymisées.</a:t>
            </a:r>
          </a:p>
          <a:p>
            <a:pPr marL="177800" lvl="0" indent="-177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" dirty="0"/>
          </a:p>
          <a:p>
            <a:pPr marL="177800" lvl="0" indent="-177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Le stockage de ces données se fera sur un logiciel dédié (SGBDR - </a:t>
            </a:r>
            <a:r>
              <a:rPr lang="fr-FR" dirty="0"/>
              <a:t>système de gestion de bases de données relationnelles). Cela permettra leur sauvegarde.</a:t>
            </a:r>
          </a:p>
          <a:p>
            <a:pPr marL="177800" lvl="0" indent="-177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-FR" dirty="0"/>
          </a:p>
          <a:p>
            <a:pPr marL="177800" lvl="0" indent="-177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La base de données est également évolutive, elle pourra être enrichie des données des années ultérieures pour continuer d’affiner le modèle prédictif</a:t>
            </a:r>
            <a:endParaRPr dirty="0"/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231648"/>
            <a:ext cx="4689794" cy="53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Les données initiales</a:t>
            </a:r>
            <a:endParaRPr b="0" dirty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389008" y="1053793"/>
            <a:ext cx="6978592" cy="228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Trois fichiers initiaux vont consituer notre base de données :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" dirty="0"/>
          </a:p>
          <a:p>
            <a:pPr marL="635000" lvl="1" indent="-177800" algn="just">
              <a:spcBef>
                <a:spcPts val="0"/>
              </a:spcBef>
              <a:buSzPts val="1800"/>
            </a:pPr>
            <a:r>
              <a:rPr lang="fr" dirty="0"/>
              <a:t>Le document des valeurs foncières, recensant toutes les transactions immobilières en France sur le premier semestre 2020 (source </a:t>
            </a:r>
            <a:r>
              <a:rPr lang="fr-FR" dirty="0"/>
              <a:t>Direction générale des Finances publiques)</a:t>
            </a:r>
          </a:p>
          <a:p>
            <a:pPr marL="635000" lvl="1" indent="-177800" algn="just">
              <a:spcBef>
                <a:spcPts val="0"/>
              </a:spcBef>
              <a:buSzPts val="1800"/>
            </a:pPr>
            <a:endParaRPr lang="fr-FR" dirty="0"/>
          </a:p>
          <a:p>
            <a:pPr marL="635000" lvl="1" indent="-177800" algn="just">
              <a:spcBef>
                <a:spcPts val="0"/>
              </a:spcBef>
              <a:buSzPts val="1800"/>
            </a:pPr>
            <a:r>
              <a:rPr lang="fr-FR" dirty="0"/>
              <a:t>Le référentiel géographique qui fournit les informations relatives aux différents regroupement territoriaux et basé sur la nomenclature INSEE</a:t>
            </a:r>
          </a:p>
          <a:p>
            <a:pPr marL="635000" lvl="1" indent="-177800" algn="just">
              <a:spcBef>
                <a:spcPts val="0"/>
              </a:spcBef>
              <a:buSzPts val="1800"/>
            </a:pPr>
            <a:endParaRPr lang="fr-FR" dirty="0"/>
          </a:p>
          <a:p>
            <a:pPr marL="635000" lvl="1" indent="-177800" algn="just">
              <a:spcBef>
                <a:spcPts val="0"/>
              </a:spcBef>
              <a:buSzPts val="1800"/>
            </a:pPr>
            <a:r>
              <a:rPr lang="fr-FR" dirty="0"/>
              <a:t>Les données de population provenant des données INSEE</a:t>
            </a:r>
            <a:endParaRPr dirty="0"/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C66B6B6-10B3-8917-6F84-DBD2C244E95C}"/>
              </a:ext>
            </a:extLst>
          </p:cNvPr>
          <p:cNvSpPr txBox="1"/>
          <p:nvPr/>
        </p:nvSpPr>
        <p:spPr>
          <a:xfrm>
            <a:off x="1867286" y="3545152"/>
            <a:ext cx="704811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Quelques points de vigilance dans le traitement des données : </a:t>
            </a:r>
          </a:p>
          <a:p>
            <a:endParaRPr lang="fr-FR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y avait des valeurs égales à 0 pour certaines transactions , elles ont été retirées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Certaines transactions avait des montants décimaux (importance de conserver le même format)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7" y="156771"/>
            <a:ext cx="7355684" cy="56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L’extrait du dictionnaire des données</a:t>
            </a:r>
            <a:endParaRPr b="0" dirty="0"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23D32CD-82E6-5E47-1D58-6C117F1AD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25" y="781231"/>
            <a:ext cx="7509133" cy="196261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BD81A17-6954-2BE0-6910-70E364DFD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25" y="2804640"/>
            <a:ext cx="7509133" cy="106115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A86270C-D0DF-D1D1-30C2-511ADA9FF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925" y="4066898"/>
            <a:ext cx="7509133" cy="3748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7B18125-0100-2F08-3920-1F38BDD90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640" y="596044"/>
            <a:ext cx="6268588" cy="4390685"/>
          </a:xfrm>
          <a:prstGeom prst="rect">
            <a:avLst/>
          </a:prstGeom>
        </p:spPr>
      </p:pic>
      <p:sp>
        <p:nvSpPr>
          <p:cNvPr id="305" name="Google Shape;305;p3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Le schéma relationnel normalisé</a:t>
            </a:r>
            <a:endParaRPr b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90523" y="513184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2987448-E7FB-4ECB-178A-9A6F10BE5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46" y="1468951"/>
            <a:ext cx="1863606" cy="230038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429549B-83D7-E6A8-CD1F-57ADA6ED6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420" y="1052946"/>
            <a:ext cx="4201251" cy="174413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A7F96CC-CC55-422C-887D-C61A41A41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5420" y="2917759"/>
            <a:ext cx="4201251" cy="13348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90523" y="513184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03350F5-73AB-0B24-BECC-4C0BD8CDD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3" y="1607914"/>
            <a:ext cx="6068272" cy="112410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5EA7187-5418-19E9-93F2-3ED5D92D5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4" y="2846103"/>
            <a:ext cx="6068272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11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/>
              <a:t>Les requêtes ou screenshot qui permettent de démontrer le bon chargement des données</a:t>
            </a:r>
            <a:endParaRPr sz="2400" b="0"/>
          </a:p>
        </p:txBody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7FAB9C-2EEC-6B00-A932-1C32B3447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94" y="1426108"/>
            <a:ext cx="2467319" cy="62873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CC75250-4A28-9BD1-CCD1-FB2764D96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94" y="2365555"/>
            <a:ext cx="3591426" cy="15623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D0556CC-747F-69A4-3566-C497B45713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426108"/>
            <a:ext cx="4237679" cy="165758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0D05263-8211-1D26-1BFB-E0D1431DEE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480223"/>
            <a:ext cx="3172268" cy="95263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4935C6F-97A7-8C8D-810B-602F55F8BEEF}"/>
              </a:ext>
            </a:extLst>
          </p:cNvPr>
          <p:cNvSpPr txBox="1"/>
          <p:nvPr/>
        </p:nvSpPr>
        <p:spPr>
          <a:xfrm>
            <a:off x="253897" y="1426108"/>
            <a:ext cx="2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A1143FC-5D82-1717-A959-C7F38E194B4B}"/>
              </a:ext>
            </a:extLst>
          </p:cNvPr>
          <p:cNvSpPr txBox="1"/>
          <p:nvPr/>
        </p:nvSpPr>
        <p:spPr>
          <a:xfrm>
            <a:off x="263082" y="2417861"/>
            <a:ext cx="2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3616F15-6B84-E8BD-018E-DF00062CD7A9}"/>
              </a:ext>
            </a:extLst>
          </p:cNvPr>
          <p:cNvSpPr txBox="1"/>
          <p:nvPr/>
        </p:nvSpPr>
        <p:spPr>
          <a:xfrm>
            <a:off x="4216297" y="1426108"/>
            <a:ext cx="2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4ED36E-0FD5-86BC-B88F-B5FA1820A04A}"/>
              </a:ext>
            </a:extLst>
          </p:cNvPr>
          <p:cNvSpPr txBox="1"/>
          <p:nvPr/>
        </p:nvSpPr>
        <p:spPr>
          <a:xfrm>
            <a:off x="4359512" y="3083689"/>
            <a:ext cx="2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B0F4B9-7FB6-7DBD-C557-7EA2D7CF5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279" y="1105668"/>
            <a:ext cx="5981401" cy="456671"/>
          </a:xfrm>
        </p:spPr>
        <p:txBody>
          <a:bodyPr anchor="ctr"/>
          <a:lstStyle/>
          <a:p>
            <a:r>
              <a:rPr lang="fr-F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Nombre total d’appartements vendus au 1er semestre 2020.</a:t>
            </a:r>
          </a:p>
          <a:p>
            <a:pPr lvl="1"/>
            <a:endParaRPr lang="fr-FR" dirty="0"/>
          </a:p>
        </p:txBody>
      </p:sp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4A8A13CD-2B88-D3F2-41D3-0321748F7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261034"/>
            <a:ext cx="4325780" cy="359587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8D77AD2-700F-BB79-A225-41178C99C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59" y="2563601"/>
            <a:ext cx="1057423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2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1097203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 nombre de ventes d’appartement par région pour le 1er semestre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2020.</a:t>
            </a:r>
          </a:p>
        </p:txBody>
      </p:sp>
      <p:pic>
        <p:nvPicPr>
          <p:cNvPr id="6" name="Image 5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A358E432-37DB-357F-0796-7E057864A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1303367"/>
            <a:ext cx="5206622" cy="368336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F709382-2A43-28F8-DC78-748AE8F60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363" y="1633330"/>
            <a:ext cx="2616133" cy="302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94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3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1165498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Proportion des ventes d’appartements par le nombre de pièces.</a:t>
            </a:r>
            <a:endParaRPr dirty="0"/>
          </a:p>
        </p:txBody>
      </p:sp>
      <p:pic>
        <p:nvPicPr>
          <p:cNvPr id="11" name="Image 10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E92AD3B-87B9-0CCC-7C19-72CB93545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2" y="1208485"/>
            <a:ext cx="5513746" cy="36957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2E085EB-265D-A0A0-D857-226BBC460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348" y="1769919"/>
            <a:ext cx="2667372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700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4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1092430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Liste des 10 départements où le prix du mètre carré est le plus élevé.</a:t>
            </a:r>
            <a:endParaRPr dirty="0"/>
          </a:p>
        </p:txBody>
      </p:sp>
      <p:pic>
        <p:nvPicPr>
          <p:cNvPr id="11" name="Image 10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1E8CD34D-3306-3F1E-0BB5-62E1512DA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1246908"/>
            <a:ext cx="4861756" cy="343939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DBDFC85-C1F2-B985-2B28-6F33FAF6C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081" y="1837733"/>
            <a:ext cx="2057687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828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5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1170555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Prix moyen du mètre carré d’une maison en Île-de-France.</a:t>
            </a:r>
            <a:endParaRPr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5E56E40-A914-2BBE-39EA-BFB9BA9AE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816" y="2571750"/>
            <a:ext cx="895350" cy="457200"/>
          </a:xfrm>
          <a:prstGeom prst="rect">
            <a:avLst/>
          </a:prstGeom>
        </p:spPr>
      </p:pic>
      <p:pic>
        <p:nvPicPr>
          <p:cNvPr id="4" name="Image 3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C5389D98-4155-DF47-CA4C-B0422D190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318" y="1426059"/>
            <a:ext cx="5044392" cy="338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07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6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1103864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Liste des 10 appartements les plus chers avec la région et le nombre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de mètres carrés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96452E5-BF41-D3B8-FA4B-936DC1183FB9}"/>
              </a:ext>
            </a:extLst>
          </p:cNvPr>
          <p:cNvSpPr txBox="1"/>
          <p:nvPr/>
        </p:nvSpPr>
        <p:spPr>
          <a:xfrm>
            <a:off x="5326082" y="4280361"/>
            <a:ext cx="3034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Vigilance quant à certains résultats…</a:t>
            </a:r>
          </a:p>
        </p:txBody>
      </p:sp>
      <p:pic>
        <p:nvPicPr>
          <p:cNvPr id="13" name="Image 12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0787D10E-6919-FF42-2D95-96763C426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196554"/>
            <a:ext cx="4653538" cy="400742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24595A7-6ED8-1585-A805-20F8D5543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223" y="1886659"/>
            <a:ext cx="2800741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69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Taux d’évolution du nombre de ventes entre le premier et le second trimestre de 2020</a:t>
            </a:r>
            <a:endParaRPr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2DE0191-4B6A-0B7C-09CA-D221FABE4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854" y="2783981"/>
            <a:ext cx="4064577" cy="476599"/>
          </a:xfrm>
          <a:prstGeom prst="rect">
            <a:avLst/>
          </a:prstGeom>
        </p:spPr>
      </p:pic>
      <p:pic>
        <p:nvPicPr>
          <p:cNvPr id="4" name="Image 3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A320A3C6-BD71-B7E1-5C5D-2AD1766A4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68" y="1158942"/>
            <a:ext cx="4770348" cy="39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81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8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 classement des régions par rapport au prix au mètre carré des appartement de plus de 4 pièces</a:t>
            </a:r>
            <a:endParaRPr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AB1197F-6D31-67B1-29DE-D1D2A0391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527" y="1246928"/>
            <a:ext cx="3683144" cy="3419455"/>
          </a:xfrm>
          <a:prstGeom prst="rect">
            <a:avLst/>
          </a:prstGeom>
        </p:spPr>
      </p:pic>
      <p:pic>
        <p:nvPicPr>
          <p:cNvPr id="5" name="Image 4" descr="Une image contenant texte, capture d’écran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E86C6F4C-60C8-BC0A-3DE7-A5957D357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87" y="1259685"/>
            <a:ext cx="4713105" cy="373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43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89008" y="11500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Liste des communes ayant eu au moins 50 ventes au 1er trimestre</a:t>
            </a:r>
            <a:endParaRPr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4C86591-4DD1-3553-CE62-35F21DE04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799" y="1814945"/>
            <a:ext cx="3546447" cy="2849273"/>
          </a:xfrm>
          <a:prstGeom prst="rect">
            <a:avLst/>
          </a:prstGeom>
        </p:spPr>
      </p:pic>
      <p:pic>
        <p:nvPicPr>
          <p:cNvPr id="4" name="Image 3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1EF5FD2C-A267-96D9-E799-D9988961B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08" y="1434098"/>
            <a:ext cx="4368566" cy="360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48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10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Différence en pourcentage du prix au mètre carré entre un appartement de 2 pièces et un appartement de 3 pièces</a:t>
            </a:r>
            <a:endParaRPr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54BF5B5-8162-EA24-863F-4E1261DBD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2478664"/>
            <a:ext cx="3505198" cy="962025"/>
          </a:xfrm>
          <a:prstGeom prst="rect">
            <a:avLst/>
          </a:prstGeom>
        </p:spPr>
      </p:pic>
      <p:pic>
        <p:nvPicPr>
          <p:cNvPr id="4" name="Image 3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A5FAF2C9-CE02-AF76-CC7E-1BD14E34B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82" y="1261034"/>
            <a:ext cx="5262418" cy="399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23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11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Les moyennes de valeurs foncières pour le top 3 des communes des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départements 6, 13, 33, 59 et 69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53211D4-3C6C-051D-1FBA-7F1507E44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033" y="1668448"/>
            <a:ext cx="3756445" cy="2919737"/>
          </a:xfrm>
          <a:prstGeom prst="rect">
            <a:avLst/>
          </a:prstGeom>
        </p:spPr>
      </p:pic>
      <p:pic>
        <p:nvPicPr>
          <p:cNvPr id="6" name="Image 5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C365EE9F-5C68-1E4D-2118-C02275C83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08" y="1332591"/>
            <a:ext cx="4464228" cy="397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523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12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Les 20 communes avec le plus de transactions pour 1000 habitants pour les communes qui dépassent les 10 000 habitants</a:t>
            </a:r>
            <a:endParaRPr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346E4C7-3EB9-DB56-7817-D10DF073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563" y="1267985"/>
            <a:ext cx="3627540" cy="3665641"/>
          </a:xfrm>
          <a:prstGeom prst="rect">
            <a:avLst/>
          </a:prstGeom>
        </p:spPr>
      </p:pic>
      <p:pic>
        <p:nvPicPr>
          <p:cNvPr id="4" name="Image 3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03D84A41-3D7C-0076-88CC-F8D8E9976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5339" y="1261034"/>
            <a:ext cx="5526448" cy="387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0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739</Words>
  <Application>Microsoft Office PowerPoint</Application>
  <PresentationFormat>Affichage à l'écran (16:9)</PresentationFormat>
  <Paragraphs>132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23</vt:i4>
      </vt:variant>
    </vt:vector>
  </HeadingPairs>
  <TitlesOfParts>
    <vt:vector size="29" baseType="lpstr">
      <vt:lpstr>Aptos</vt:lpstr>
      <vt:lpstr>Arial Black</vt:lpstr>
      <vt:lpstr>Arial</vt:lpstr>
      <vt:lpstr>Calibri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</vt:lpstr>
      <vt:lpstr>Le schéma relationnel normalisé</vt:lpstr>
      <vt:lpstr>La base de données avec les tables créées et les données chargées</vt:lpstr>
      <vt:lpstr>La base de données avec les tables créées et les données chargées</vt:lpstr>
      <vt:lpstr>Les requêtes ou screenshot qui permettent de démontrer le bon chargement des données</vt:lpstr>
      <vt:lpstr>Requêtes SQL et résultats</vt:lpstr>
      <vt:lpstr>Requête 1</vt:lpstr>
      <vt:lpstr>Requête 2</vt:lpstr>
      <vt:lpstr>Requête 3</vt:lpstr>
      <vt:lpstr>Requête 4</vt:lpstr>
      <vt:lpstr>Requête 5</vt:lpstr>
      <vt:lpstr>Requête 6</vt:lpstr>
      <vt:lpstr>Requête 7</vt:lpstr>
      <vt:lpstr>Requête 8</vt:lpstr>
      <vt:lpstr>Requête 9</vt:lpstr>
      <vt:lpstr>Requête 10</vt:lpstr>
      <vt:lpstr>Requête 11</vt:lpstr>
      <vt:lpstr>Requête 12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Anthony Leray</dc:creator>
  <cp:lastModifiedBy>Anthony Leray</cp:lastModifiedBy>
  <cp:revision>9</cp:revision>
  <dcterms:modified xsi:type="dcterms:W3CDTF">2025-08-08T06:21:50Z</dcterms:modified>
</cp:coreProperties>
</file>