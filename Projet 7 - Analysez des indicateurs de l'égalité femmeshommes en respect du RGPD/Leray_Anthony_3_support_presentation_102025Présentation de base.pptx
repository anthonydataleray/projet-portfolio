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0"/>
  </p:notesMasterIdLst>
  <p:handoutMasterIdLst>
    <p:handoutMasterId r:id="rId21"/>
  </p:handoutMasterIdLst>
  <p:sldIdLst>
    <p:sldId id="410" r:id="rId5"/>
    <p:sldId id="383" r:id="rId6"/>
    <p:sldId id="391" r:id="rId7"/>
    <p:sldId id="408" r:id="rId8"/>
    <p:sldId id="404" r:id="rId9"/>
    <p:sldId id="418" r:id="rId10"/>
    <p:sldId id="414" r:id="rId11"/>
    <p:sldId id="412" r:id="rId12"/>
    <p:sldId id="415" r:id="rId13"/>
    <p:sldId id="413" r:id="rId14"/>
    <p:sldId id="416" r:id="rId15"/>
    <p:sldId id="417" r:id="rId16"/>
    <p:sldId id="411" r:id="rId17"/>
    <p:sldId id="403" r:id="rId18"/>
    <p:sldId id="398" r:id="rId19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7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09/10/2025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09/10/2025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7180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Soit 67 femmes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8446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5747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4645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6249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5577" y="411479"/>
            <a:ext cx="5990727" cy="404837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Rapport sur l’égalité hommes-femmes</a:t>
            </a:r>
            <a:br>
              <a:rPr lang="fr-FR" dirty="0"/>
            </a:br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278DB89-212A-B748-EAF7-D7B3DA8FBA00}"/>
              </a:ext>
            </a:extLst>
          </p:cNvPr>
          <p:cNvSpPr txBox="1">
            <a:spLocks/>
          </p:cNvSpPr>
          <p:nvPr/>
        </p:nvSpPr>
        <p:spPr>
          <a:xfrm>
            <a:off x="5805577" y="4278701"/>
            <a:ext cx="5990727" cy="14463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fr-FR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fr-FR">
                <a:solidFill>
                  <a:schemeClr val="tx2"/>
                </a:solidFill>
              </a:defRPr>
            </a:lvl2pPr>
            <a:lvl3pPr eaLnBrk="1" hangingPunct="1">
              <a:defRPr lang="fr-FR">
                <a:solidFill>
                  <a:schemeClr val="tx2"/>
                </a:solidFill>
              </a:defRPr>
            </a:lvl3pPr>
            <a:lvl4pPr eaLnBrk="1" hangingPunct="1">
              <a:defRPr lang="fr-FR">
                <a:solidFill>
                  <a:schemeClr val="tx2"/>
                </a:solidFill>
              </a:defRPr>
            </a:lvl4pPr>
            <a:lvl5pPr eaLnBrk="1" hangingPunct="1">
              <a:defRPr lang="fr-FR">
                <a:solidFill>
                  <a:schemeClr val="tx2"/>
                </a:solidFill>
              </a:defRPr>
            </a:lvl5pPr>
            <a:lvl6pPr eaLnBrk="1" hangingPunct="1">
              <a:defRPr lang="fr-FR">
                <a:solidFill>
                  <a:schemeClr val="tx2"/>
                </a:solidFill>
              </a:defRPr>
            </a:lvl6pPr>
            <a:lvl7pPr eaLnBrk="1" hangingPunct="1">
              <a:defRPr lang="fr-FR">
                <a:solidFill>
                  <a:schemeClr val="tx2"/>
                </a:solidFill>
              </a:defRPr>
            </a:lvl7pPr>
            <a:lvl8pPr eaLnBrk="1" hangingPunct="1">
              <a:defRPr lang="fr-FR">
                <a:solidFill>
                  <a:schemeClr val="tx2"/>
                </a:solidFill>
              </a:defRPr>
            </a:lvl8pPr>
            <a:lvl9pPr eaLnBrk="1" hangingPunct="1">
              <a:defRPr lang="fr-FR">
                <a:solidFill>
                  <a:schemeClr val="tx2"/>
                </a:solidFill>
              </a:defRPr>
            </a:lvl9pPr>
          </a:lstStyle>
          <a:p>
            <a:br>
              <a:rPr lang="fr-FR" dirty="0"/>
            </a:b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C3E3D87-09AC-CAF4-EAC2-401540FB03C0}"/>
              </a:ext>
            </a:extLst>
          </p:cNvPr>
          <p:cNvSpPr txBox="1">
            <a:spLocks/>
          </p:cNvSpPr>
          <p:nvPr/>
        </p:nvSpPr>
        <p:spPr>
          <a:xfrm>
            <a:off x="5322498" y="4459857"/>
            <a:ext cx="5990727" cy="95882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fr-FR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fr-FR">
                <a:solidFill>
                  <a:schemeClr val="tx2"/>
                </a:solidFill>
              </a:defRPr>
            </a:lvl2pPr>
            <a:lvl3pPr eaLnBrk="1" hangingPunct="1">
              <a:defRPr lang="fr-FR">
                <a:solidFill>
                  <a:schemeClr val="tx2"/>
                </a:solidFill>
              </a:defRPr>
            </a:lvl3pPr>
            <a:lvl4pPr eaLnBrk="1" hangingPunct="1">
              <a:defRPr lang="fr-FR">
                <a:solidFill>
                  <a:schemeClr val="tx2"/>
                </a:solidFill>
              </a:defRPr>
            </a:lvl4pPr>
            <a:lvl5pPr eaLnBrk="1" hangingPunct="1">
              <a:defRPr lang="fr-FR">
                <a:solidFill>
                  <a:schemeClr val="tx2"/>
                </a:solidFill>
              </a:defRPr>
            </a:lvl5pPr>
            <a:lvl6pPr eaLnBrk="1" hangingPunct="1">
              <a:defRPr lang="fr-FR">
                <a:solidFill>
                  <a:schemeClr val="tx2"/>
                </a:solidFill>
              </a:defRPr>
            </a:lvl6pPr>
            <a:lvl7pPr eaLnBrk="1" hangingPunct="1">
              <a:defRPr lang="fr-FR">
                <a:solidFill>
                  <a:schemeClr val="tx2"/>
                </a:solidFill>
              </a:defRPr>
            </a:lvl7pPr>
            <a:lvl8pPr eaLnBrk="1" hangingPunct="1">
              <a:defRPr lang="fr-FR">
                <a:solidFill>
                  <a:schemeClr val="tx2"/>
                </a:solidFill>
              </a:defRPr>
            </a:lvl8pPr>
            <a:lvl9pPr eaLnBrk="1" hangingPunct="1">
              <a:defRPr lang="fr-FR"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dirty="0"/>
              <a:t>Exercice 2020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128" y="654560"/>
            <a:ext cx="6787747" cy="9299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Présentation des données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128" y="2096294"/>
            <a:ext cx="7135543" cy="757868"/>
          </a:xfrm>
        </p:spPr>
        <p:txBody>
          <a:bodyPr tIns="457200" rtlCol="0">
            <a:normAutofit fontScale="85000" lnSpcReduction="10000"/>
          </a:bodyPr>
          <a:lstStyle>
            <a:defPPr>
              <a:defRPr lang="fr-FR"/>
            </a:defPPr>
          </a:lstStyle>
          <a:p>
            <a:pPr marL="0" indent="0" rtl="0">
              <a:buNone/>
            </a:pPr>
            <a:r>
              <a:rPr lang="fr-FR" dirty="0"/>
              <a:t>Nos sources : trois fichiers différents provenant de notre SIRH</a:t>
            </a:r>
          </a:p>
        </p:txBody>
      </p:sp>
      <p:pic>
        <p:nvPicPr>
          <p:cNvPr id="7" name="Image 6" descr="Une image contenant Rectangl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E153A562-CD0A-56E6-BC3E-13CA231B7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37" y="3252782"/>
            <a:ext cx="803061" cy="757867"/>
          </a:xfrm>
          <a:prstGeom prst="rect">
            <a:avLst/>
          </a:prstGeom>
        </p:spPr>
      </p:pic>
      <p:pic>
        <p:nvPicPr>
          <p:cNvPr id="8" name="Image 7" descr="Une image contenant Rectangl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A2300533-387C-54D4-EBD5-8D4315014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002" y="3252781"/>
            <a:ext cx="803061" cy="757867"/>
          </a:xfrm>
          <a:prstGeom prst="rect">
            <a:avLst/>
          </a:prstGeom>
        </p:spPr>
      </p:pic>
      <p:pic>
        <p:nvPicPr>
          <p:cNvPr id="9" name="Image 8" descr="Une image contenant Rectangl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F6BFBAC7-9CC0-5085-0763-A4AF2EE41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469" y="3252781"/>
            <a:ext cx="803061" cy="75786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E86ACBE-CD18-F983-51A2-BB69BD45B538}"/>
              </a:ext>
            </a:extLst>
          </p:cNvPr>
          <p:cNvSpPr txBox="1"/>
          <p:nvPr/>
        </p:nvSpPr>
        <p:spPr>
          <a:xfrm>
            <a:off x="1403787" y="4259108"/>
            <a:ext cx="92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Salarié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7DA1DD2-61A8-46C7-ECBE-ECD797B1347D}"/>
              </a:ext>
            </a:extLst>
          </p:cNvPr>
          <p:cNvSpPr txBox="1"/>
          <p:nvPr/>
        </p:nvSpPr>
        <p:spPr>
          <a:xfrm>
            <a:off x="9862851" y="4259108"/>
            <a:ext cx="92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Info pro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C0B6FD8-E17A-A1A0-7FBF-D6BBB062C62E}"/>
              </a:ext>
            </a:extLst>
          </p:cNvPr>
          <p:cNvSpPr txBox="1"/>
          <p:nvPr/>
        </p:nvSpPr>
        <p:spPr>
          <a:xfrm>
            <a:off x="5308665" y="4259491"/>
            <a:ext cx="157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Rémunération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FA48E3-BAF2-FD56-0101-F6DC137DBE15}"/>
              </a:ext>
            </a:extLst>
          </p:cNvPr>
          <p:cNvSpPr txBox="1"/>
          <p:nvPr/>
        </p:nvSpPr>
        <p:spPr>
          <a:xfrm>
            <a:off x="679010" y="5006566"/>
            <a:ext cx="2924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Des informations sur l’identité de nos salariés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B51A25-56C4-B6E8-352E-8825D9E877F7}"/>
              </a:ext>
            </a:extLst>
          </p:cNvPr>
          <p:cNvSpPr txBox="1"/>
          <p:nvPr/>
        </p:nvSpPr>
        <p:spPr>
          <a:xfrm>
            <a:off x="4633863" y="5006566"/>
            <a:ext cx="2924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Des informations sur la nature des contrats et les composantes de nos rémunérations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58FFE02-6EC3-A469-6505-324DAF68C256}"/>
              </a:ext>
            </a:extLst>
          </p:cNvPr>
          <p:cNvSpPr txBox="1"/>
          <p:nvPr/>
        </p:nvSpPr>
        <p:spPr>
          <a:xfrm>
            <a:off x="8863397" y="5006565"/>
            <a:ext cx="2924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Des informations sur l’appartenance au service, l’ancienneté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6"/>
            <a:ext cx="10873740" cy="91357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Méthodologie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endParaRPr lang="fr-FR" dirty="0"/>
          </a:p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Prise en main des données, compréhension des différentes valeurs</a:t>
            </a:r>
          </a:p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Consultation, recherche d’erreurs (deux lignes écartées ne présentant pas de données concernant l’augmentation)</a:t>
            </a:r>
          </a:p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Consolidation des données</a:t>
            </a:r>
          </a:p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Fusion des fichiers afin de pouvoir procéder aux analyses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74865"/>
            <a:ext cx="9778365" cy="111978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314387"/>
            <a:ext cx="5754682" cy="396871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Certains données ne doivent pas être incluses, ou ne sont pas obligatoires pour notre analyse : </a:t>
            </a:r>
          </a:p>
          <a:p>
            <a:pPr rtl="0"/>
            <a:endParaRPr lang="fr-FR" dirty="0"/>
          </a:p>
          <a:p>
            <a:pPr marL="342900" indent="-342900"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Nom Prénom				</a:t>
            </a:r>
          </a:p>
          <a:p>
            <a:pPr marL="342900" indent="-342900"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Téléphone</a:t>
            </a:r>
          </a:p>
          <a:p>
            <a:pPr marL="342900" indent="-342900"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Etat-civil</a:t>
            </a:r>
          </a:p>
          <a:p>
            <a:pPr marL="342900" indent="-342900"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Remplacement de la colonne Id-salarié par un identifiant  généré</a:t>
            </a:r>
          </a:p>
          <a:p>
            <a:pPr rtl="0">
              <a:buClr>
                <a:schemeClr val="tx2"/>
              </a:buClr>
            </a:pPr>
            <a:endParaRPr lang="fr-FR" dirty="0"/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74454"/>
            <a:ext cx="8937567" cy="66423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3600" dirty="0"/>
              <a:t>Premier constat : une quasi parité dans l’entreprise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DFC33DF-F926-6081-EA8E-349C21AAD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38688"/>
            <a:ext cx="6962380" cy="5135307"/>
          </a:xfrm>
          <a:prstGeom prst="rect">
            <a:avLst/>
          </a:prstGeom>
        </p:spPr>
      </p:pic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0A84448-F3BB-5404-6D22-5CE8C2CC95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2957" y="1678380"/>
            <a:ext cx="3314865" cy="1750620"/>
          </a:xfrm>
        </p:spPr>
        <p:txBody>
          <a:bodyPr/>
          <a:lstStyle/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Une répartition des genres presque à l’équilibre :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fr-FR" dirty="0"/>
              <a:t>	48,4% de femmes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fr-FR" dirty="0"/>
              <a:t>	51,6% d’hommes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72A356C-BDB2-A578-B341-8DA619470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863" y="3819195"/>
            <a:ext cx="3029373" cy="93358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442CE71-6A89-D647-B38B-E61EB77A8F30}"/>
              </a:ext>
            </a:extLst>
          </p:cNvPr>
          <p:cNvSpPr txBox="1"/>
          <p:nvPr/>
        </p:nvSpPr>
        <p:spPr>
          <a:xfrm>
            <a:off x="7804087" y="5042781"/>
            <a:ext cx="4037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Un salaire moyen en faveur des hommes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74454"/>
            <a:ext cx="8937567" cy="66423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3600" dirty="0"/>
              <a:t>Un écart de salaire variable en fonction de l’âge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7457" y="2676525"/>
            <a:ext cx="3603487" cy="359747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Deux tranches d’âge aux extrémités avec l’écart le plus important en défaveur des femmes : les moins de 30 ans et les 50 ans et plus.</a:t>
            </a:r>
          </a:p>
        </p:txBody>
      </p:sp>
      <p:pic>
        <p:nvPicPr>
          <p:cNvPr id="10" name="Image 9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4A9EF4DD-E436-85D3-AEB3-114EBABF2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354347"/>
            <a:ext cx="7417368" cy="541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7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517585"/>
            <a:ext cx="8937567" cy="12288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femmes sensiblement plus augmentés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81454" y="4045447"/>
            <a:ext cx="4100945" cy="1124025"/>
          </a:xfrm>
        </p:spPr>
        <p:txBody>
          <a:bodyPr rtlCol="0">
            <a:normAutofit lnSpcReduction="10000"/>
          </a:bodyPr>
          <a:lstStyle>
            <a:defPPr>
              <a:defRPr lang="fr-FR"/>
            </a:defPPr>
          </a:lstStyle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Les femmes sont plus nombreuses à être augmentées, en proportion et en valeur absolue.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1BA61C0-0789-B83C-1E97-C6E531A92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6823"/>
            <a:ext cx="5871728" cy="437359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4B0499B-E4A6-C90E-B815-59353FC09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947" y="2045008"/>
            <a:ext cx="333421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6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19079"/>
            <a:ext cx="8937567" cy="11300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Le retour des salariés après un congé maternité : une donnée unanime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19999" y="2676525"/>
            <a:ext cx="4100945" cy="359747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100 % des femmes ayant bénéficiés d’un congé maternité ont bénéficié d’une augmentation durant la période de référence.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46C80E5-B071-84CA-504D-5A564923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72725"/>
            <a:ext cx="6195173" cy="420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10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38C82A-336B-6C90-2083-1DEE02A0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9"/>
            <a:ext cx="10972800" cy="793630"/>
          </a:xfrm>
        </p:spPr>
        <p:txBody>
          <a:bodyPr/>
          <a:lstStyle/>
          <a:p>
            <a:r>
              <a:rPr lang="fr-FR" dirty="0"/>
              <a:t>Top 1 pour une femme mais…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475076-08F1-17C0-A7BF-EEF597EF51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2513" y="2676525"/>
            <a:ext cx="3104647" cy="3597470"/>
          </a:xfrm>
        </p:spPr>
        <p:txBody>
          <a:bodyPr/>
          <a:lstStyle/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Homogénéité des valeurs dans ce top 10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endParaRPr lang="fr-FR" dirty="0"/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Une sous représentation nette des femmes dans ce top 10 (1 personne)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B5511C-D88E-C187-7F0F-CA3488A58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32582"/>
            <a:ext cx="7173677" cy="552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7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8937567" cy="115593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Les personnes promues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19999" y="4899803"/>
            <a:ext cx="4100945" cy="1374191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Les femmes sont légèrement plus promues, mais les proportions sont très similaires.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DFA09F-F7D6-845C-FAA9-B5F6AE2C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483739"/>
            <a:ext cx="6643202" cy="485259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771F952-9806-B034-5256-E173A44A3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294" y="2039678"/>
            <a:ext cx="3545294" cy="147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EBD39-9067-1C30-7EFC-BBD0F360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9"/>
            <a:ext cx="8394365" cy="966158"/>
          </a:xfrm>
        </p:spPr>
        <p:txBody>
          <a:bodyPr/>
          <a:lstStyle/>
          <a:p>
            <a:r>
              <a:rPr lang="fr-FR" sz="3600" dirty="0"/>
              <a:t>Analyse par service : une </a:t>
            </a:r>
            <a:r>
              <a:rPr lang="fr-FR" sz="3600" dirty="0" err="1"/>
              <a:t>répartiton</a:t>
            </a:r>
            <a:r>
              <a:rPr lang="fr-FR" sz="3600" dirty="0"/>
              <a:t> des effectifs contrastés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86AAA9-AC77-EC3C-2B10-023E0F2D18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38226" y="2676525"/>
            <a:ext cx="3328934" cy="3597470"/>
          </a:xfrm>
        </p:spPr>
        <p:txBody>
          <a:bodyPr/>
          <a:lstStyle/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Une répartition par genre équilibrée dans l’effectif total qui ne se retrouve pas dans chaque service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Un service nettement en déséquilibre : l’informatique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1D27F2A-A874-BB5A-046E-82A058CB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5925"/>
            <a:ext cx="7191555" cy="53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3EF450-291A-3254-F588-7FC25D629F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95094" y="2209045"/>
            <a:ext cx="3372066" cy="4064949"/>
          </a:xfrm>
        </p:spPr>
        <p:txBody>
          <a:bodyPr/>
          <a:lstStyle/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Quatre services sur six ont une moyenne supérieures pour les hommes, parfois assez nettement (le marketing)</a:t>
            </a: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Les deux services ayant les salaires moyens les moins élevés sont ceux ou les femmes sont devant les hommes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EC8A66AF-F7C1-7261-DD34-05B5D8FD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5" y="17763"/>
            <a:ext cx="8153460" cy="889000"/>
          </a:xfrm>
        </p:spPr>
        <p:txBody>
          <a:bodyPr/>
          <a:lstStyle/>
          <a:p>
            <a:r>
              <a:rPr lang="fr-FR" sz="3200" dirty="0"/>
              <a:t>Analyse par service : des écarts parfois importants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9C452C1-7B58-3031-66AF-223A20D9D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25" y="1087438"/>
            <a:ext cx="7344829" cy="566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95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46" y="-203154"/>
            <a:ext cx="9219596" cy="157431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L’index d’égalité hommes-femmes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030" y="2830434"/>
            <a:ext cx="3042770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Un critère qui fait baisser nettement la note</a:t>
            </a:r>
          </a:p>
          <a:p>
            <a:pPr rtl="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/>
              <a:t>Pas de mesures correctives à adopter selon la loi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87FF587-C27A-3D73-7580-959314042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46" y="2353731"/>
            <a:ext cx="8040824" cy="371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82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Axes d’améliorations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DCE379-104B-B682-7E21-33D1E015237E}"/>
              </a:ext>
            </a:extLst>
          </p:cNvPr>
          <p:cNvSpPr txBox="1"/>
          <p:nvPr/>
        </p:nvSpPr>
        <p:spPr>
          <a:xfrm>
            <a:off x="594360" y="3125923"/>
            <a:ext cx="10972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Améliorer la position des femmes dans l’entreprise pour leur permettre d’accéder aux salaires les plus importants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q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Avoir une vigilance quant aux salaire dans chaque service et par tranche d’âges</a:t>
            </a: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q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</a:rPr>
              <a:t>Améliorer l’homogénéité dans les services ou elle fait défaut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annuelle – Géométrique</Template>
  <TotalTime>1094</TotalTime>
  <Words>448</Words>
  <Application>Microsoft Office PowerPoint</Application>
  <PresentationFormat>Grand écran</PresentationFormat>
  <Paragraphs>70</Paragraphs>
  <Slides>15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Franklin Gothic Book</vt:lpstr>
      <vt:lpstr>Franklin Gothic Demi</vt:lpstr>
      <vt:lpstr>Wingdings</vt:lpstr>
      <vt:lpstr>Personnalisé</vt:lpstr>
      <vt:lpstr>Rapport sur l’égalité hommes-femmes </vt:lpstr>
      <vt:lpstr>Présentation des données</vt:lpstr>
      <vt:lpstr>Méthodologie</vt:lpstr>
      <vt:lpstr>Le RGPD</vt:lpstr>
      <vt:lpstr>Premier constat : une quasi parité dans l’entreprise</vt:lpstr>
      <vt:lpstr>Un écart de salaire variable en fonction de l’âge</vt:lpstr>
      <vt:lpstr>Les femmes sensiblement plus augmentés </vt:lpstr>
      <vt:lpstr>Le retour des salariés après un congé maternité : une donnée unanime</vt:lpstr>
      <vt:lpstr>Top 1 pour une femme mais…</vt:lpstr>
      <vt:lpstr>Les personnes promues</vt:lpstr>
      <vt:lpstr>Analyse par service : une répartiton des effectifs contrastés</vt:lpstr>
      <vt:lpstr>Analyse par service : des écarts parfois importants</vt:lpstr>
      <vt:lpstr>L’index d’égalité hommes-femmes</vt:lpstr>
      <vt:lpstr>Axes d’améliorations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Leray</dc:creator>
  <cp:lastModifiedBy>Anthony Leray</cp:lastModifiedBy>
  <cp:revision>10</cp:revision>
  <dcterms:created xsi:type="dcterms:W3CDTF">2025-09-30T13:14:46Z</dcterms:created>
  <dcterms:modified xsi:type="dcterms:W3CDTF">2025-10-09T08:42:13Z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