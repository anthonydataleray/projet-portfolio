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9" r:id="rId2"/>
    <p:sldId id="257" r:id="rId3"/>
    <p:sldId id="264" r:id="rId4"/>
    <p:sldId id="281" r:id="rId5"/>
    <p:sldId id="258" r:id="rId6"/>
    <p:sldId id="277" r:id="rId7"/>
    <p:sldId id="266" r:id="rId8"/>
    <p:sldId id="260" r:id="rId9"/>
    <p:sldId id="278" r:id="rId10"/>
    <p:sldId id="268" r:id="rId11"/>
    <p:sldId id="270" r:id="rId12"/>
    <p:sldId id="272" r:id="rId13"/>
    <p:sldId id="273" r:id="rId14"/>
    <p:sldId id="271" r:id="rId15"/>
    <p:sldId id="274" r:id="rId16"/>
    <p:sldId id="275" r:id="rId17"/>
    <p:sldId id="269" r:id="rId18"/>
    <p:sldId id="261" r:id="rId19"/>
    <p:sldId id="262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416" autoAdjust="0"/>
  </p:normalViewPr>
  <p:slideViewPr>
    <p:cSldViewPr snapToGrid="0">
      <p:cViewPr varScale="1">
        <p:scale>
          <a:sx n="82" d="100"/>
          <a:sy n="82" d="100"/>
        </p:scale>
        <p:origin x="2454" y="8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AFDFB-1792-4764-B3EF-CD77BAD31F94}" type="doc">
      <dgm:prSet loTypeId="urn:microsoft.com/office/officeart/2005/8/layout/chevron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D012D8B-563D-4BDC-986B-AFA4ECEE6F0E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/>
            <a:t>Points forts</a:t>
          </a:r>
        </a:p>
      </dgm:t>
    </dgm:pt>
    <dgm:pt modelId="{A73C6EDA-E108-48B3-94D0-D3122CB76293}" type="parTrans" cxnId="{4F2E8789-1477-4B97-9EAC-14FBD4E80680}">
      <dgm:prSet/>
      <dgm:spPr/>
      <dgm:t>
        <a:bodyPr/>
        <a:lstStyle/>
        <a:p>
          <a:endParaRPr lang="fr-FR"/>
        </a:p>
      </dgm:t>
    </dgm:pt>
    <dgm:pt modelId="{C9CE0FDA-3B78-40C9-8C94-FA3BB3CC4BF1}" type="sibTrans" cxnId="{4F2E8789-1477-4B97-9EAC-14FBD4E80680}">
      <dgm:prSet/>
      <dgm:spPr/>
      <dgm:t>
        <a:bodyPr/>
        <a:lstStyle/>
        <a:p>
          <a:endParaRPr lang="fr-FR"/>
        </a:p>
      </dgm:t>
    </dgm:pt>
    <dgm:pt modelId="{42185887-EE07-4AC5-8751-2CD4B35DFA96}">
      <dgm:prSet phldrT="[Texte]" custT="1"/>
      <dgm:spPr/>
      <dgm:t>
        <a:bodyPr/>
        <a:lstStyle/>
        <a:p>
          <a:r>
            <a:rPr lang="fr-FR" sz="2000" dirty="0"/>
            <a:t>La compréhension des données</a:t>
          </a:r>
        </a:p>
      </dgm:t>
    </dgm:pt>
    <dgm:pt modelId="{B6147517-4628-486F-9547-A468FF2AE8DD}" type="parTrans" cxnId="{037E8BAD-B35F-4B14-AA06-00286ED6CDFD}">
      <dgm:prSet/>
      <dgm:spPr/>
      <dgm:t>
        <a:bodyPr/>
        <a:lstStyle/>
        <a:p>
          <a:endParaRPr lang="fr-FR"/>
        </a:p>
      </dgm:t>
    </dgm:pt>
    <dgm:pt modelId="{5FA823DD-E6CF-4B22-849F-C1094F2E81E2}" type="sibTrans" cxnId="{037E8BAD-B35F-4B14-AA06-00286ED6CDFD}">
      <dgm:prSet/>
      <dgm:spPr/>
      <dgm:t>
        <a:bodyPr/>
        <a:lstStyle/>
        <a:p>
          <a:endParaRPr lang="fr-FR"/>
        </a:p>
      </dgm:t>
    </dgm:pt>
    <dgm:pt modelId="{E89C4E75-F63F-43EE-87D4-28D5BCF34826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/>
            <a:t>Difficultés</a:t>
          </a:r>
        </a:p>
      </dgm:t>
    </dgm:pt>
    <dgm:pt modelId="{8DD90321-99C5-471C-B683-EBA9D778C95A}" type="parTrans" cxnId="{93B8F999-1A9D-4F85-80AB-4DCA6B4509FC}">
      <dgm:prSet/>
      <dgm:spPr/>
      <dgm:t>
        <a:bodyPr/>
        <a:lstStyle/>
        <a:p>
          <a:endParaRPr lang="fr-FR"/>
        </a:p>
      </dgm:t>
    </dgm:pt>
    <dgm:pt modelId="{9AABD238-D4BB-4874-B5B3-1736152F6C73}" type="sibTrans" cxnId="{93B8F999-1A9D-4F85-80AB-4DCA6B4509FC}">
      <dgm:prSet/>
      <dgm:spPr/>
      <dgm:t>
        <a:bodyPr/>
        <a:lstStyle/>
        <a:p>
          <a:endParaRPr lang="fr-FR"/>
        </a:p>
      </dgm:t>
    </dgm:pt>
    <dgm:pt modelId="{18EEF6A4-04BE-4E48-8F2B-CCAE45CC0949}">
      <dgm:prSet phldrT="[Texte]" custT="1"/>
      <dgm:spPr/>
      <dgm:t>
        <a:bodyPr/>
        <a:lstStyle/>
        <a:p>
          <a:r>
            <a:rPr lang="fr-FR" sz="2000" dirty="0"/>
            <a:t>Les jointures</a:t>
          </a:r>
        </a:p>
      </dgm:t>
    </dgm:pt>
    <dgm:pt modelId="{DCD54BBD-1115-46FB-AC44-860A4B1CE330}" type="parTrans" cxnId="{6E50BE32-7D0D-4361-B5A1-54A48DE60CE0}">
      <dgm:prSet/>
      <dgm:spPr/>
      <dgm:t>
        <a:bodyPr/>
        <a:lstStyle/>
        <a:p>
          <a:endParaRPr lang="fr-FR"/>
        </a:p>
      </dgm:t>
    </dgm:pt>
    <dgm:pt modelId="{7A6E0544-AFF5-4C9C-8D50-5638338DF130}" type="sibTrans" cxnId="{6E50BE32-7D0D-4361-B5A1-54A48DE60CE0}">
      <dgm:prSet/>
      <dgm:spPr/>
      <dgm:t>
        <a:bodyPr/>
        <a:lstStyle/>
        <a:p>
          <a:endParaRPr lang="fr-FR"/>
        </a:p>
      </dgm:t>
    </dgm:pt>
    <dgm:pt modelId="{A460F4F7-3F89-48DF-8320-14694FA1BD7D}">
      <dgm:prSet phldrT="[Texte]" custT="1"/>
      <dgm:spPr/>
      <dgm:t>
        <a:bodyPr/>
        <a:lstStyle/>
        <a:p>
          <a:r>
            <a:rPr lang="fr-FR" sz="2000" dirty="0"/>
            <a:t>La correction des données</a:t>
          </a:r>
        </a:p>
      </dgm:t>
    </dgm:pt>
    <dgm:pt modelId="{FB3DD0CC-D6A6-4048-9CEA-EC58B67C627E}" type="parTrans" cxnId="{9886E17E-8F35-4B60-BACE-03B1B4F22581}">
      <dgm:prSet/>
      <dgm:spPr/>
      <dgm:t>
        <a:bodyPr/>
        <a:lstStyle/>
        <a:p>
          <a:endParaRPr lang="fr-FR"/>
        </a:p>
      </dgm:t>
    </dgm:pt>
    <dgm:pt modelId="{2AFE1AF1-EDF6-451D-BE12-01F69B1F7184}" type="sibTrans" cxnId="{9886E17E-8F35-4B60-BACE-03B1B4F22581}">
      <dgm:prSet/>
      <dgm:spPr/>
      <dgm:t>
        <a:bodyPr/>
        <a:lstStyle/>
        <a:p>
          <a:endParaRPr lang="fr-FR"/>
        </a:p>
      </dgm:t>
    </dgm:pt>
    <dgm:pt modelId="{4E687923-13D3-4E28-8E88-7AC30BFFF50D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/>
            <a:t>Axes de progression</a:t>
          </a:r>
        </a:p>
      </dgm:t>
    </dgm:pt>
    <dgm:pt modelId="{04357AAC-A81C-4B38-B855-990BDD0F031B}" type="parTrans" cxnId="{5F8D1E99-F20F-4FC2-A6FE-E301B5B51441}">
      <dgm:prSet/>
      <dgm:spPr/>
      <dgm:t>
        <a:bodyPr/>
        <a:lstStyle/>
        <a:p>
          <a:endParaRPr lang="fr-FR"/>
        </a:p>
      </dgm:t>
    </dgm:pt>
    <dgm:pt modelId="{FBE36655-70B9-4098-932D-CF70950860EF}" type="sibTrans" cxnId="{5F8D1E99-F20F-4FC2-A6FE-E301B5B51441}">
      <dgm:prSet/>
      <dgm:spPr/>
      <dgm:t>
        <a:bodyPr/>
        <a:lstStyle/>
        <a:p>
          <a:endParaRPr lang="fr-FR"/>
        </a:p>
      </dgm:t>
    </dgm:pt>
    <dgm:pt modelId="{0D26095C-72AA-4F66-A154-36EBD88AF4DB}">
      <dgm:prSet phldrT="[Texte]" custT="1"/>
      <dgm:spPr/>
      <dgm:t>
        <a:bodyPr/>
        <a:lstStyle/>
        <a:p>
          <a:r>
            <a:rPr lang="fr-FR" sz="2000" dirty="0"/>
            <a:t>Le contrôle de cohérence</a:t>
          </a:r>
        </a:p>
      </dgm:t>
    </dgm:pt>
    <dgm:pt modelId="{C333274A-D668-445E-AD62-80D7A42D7408}" type="parTrans" cxnId="{D764B179-AA2D-442B-B6E7-45F026C7B2E8}">
      <dgm:prSet/>
      <dgm:spPr/>
      <dgm:t>
        <a:bodyPr/>
        <a:lstStyle/>
        <a:p>
          <a:endParaRPr lang="fr-FR"/>
        </a:p>
      </dgm:t>
    </dgm:pt>
    <dgm:pt modelId="{B9EA666E-75F8-4192-B9B2-E53C57CD5EBF}" type="sibTrans" cxnId="{D764B179-AA2D-442B-B6E7-45F026C7B2E8}">
      <dgm:prSet/>
      <dgm:spPr/>
      <dgm:t>
        <a:bodyPr/>
        <a:lstStyle/>
        <a:p>
          <a:endParaRPr lang="fr-FR"/>
        </a:p>
      </dgm:t>
    </dgm:pt>
    <dgm:pt modelId="{9521CF7D-64BB-4423-95C9-A144812DB74F}">
      <dgm:prSet phldrT="[Texte]" custT="1"/>
      <dgm:spPr/>
      <dgm:t>
        <a:bodyPr/>
        <a:lstStyle/>
        <a:p>
          <a:r>
            <a:rPr lang="fr-FR" sz="2000" dirty="0"/>
            <a:t>La recherche des erreurs</a:t>
          </a:r>
        </a:p>
      </dgm:t>
    </dgm:pt>
    <dgm:pt modelId="{80E39B51-DE4A-4423-A3AA-D4F6BA92A426}" type="parTrans" cxnId="{935FA505-633B-4A0C-B6E9-53454C3AB707}">
      <dgm:prSet/>
      <dgm:spPr/>
      <dgm:t>
        <a:bodyPr/>
        <a:lstStyle/>
        <a:p>
          <a:endParaRPr lang="fr-FR"/>
        </a:p>
      </dgm:t>
    </dgm:pt>
    <dgm:pt modelId="{71B94F03-C098-4CA2-A5F5-D0EAFDFD1000}" type="sibTrans" cxnId="{935FA505-633B-4A0C-B6E9-53454C3AB707}">
      <dgm:prSet/>
      <dgm:spPr/>
      <dgm:t>
        <a:bodyPr/>
        <a:lstStyle/>
        <a:p>
          <a:endParaRPr lang="fr-FR"/>
        </a:p>
      </dgm:t>
    </dgm:pt>
    <dgm:pt modelId="{903831DA-F855-4491-8AF5-BD752F5863FB}" type="pres">
      <dgm:prSet presAssocID="{442AFDFB-1792-4764-B3EF-CD77BAD31F94}" presName="linearFlow" presStyleCnt="0">
        <dgm:presLayoutVars>
          <dgm:dir/>
          <dgm:animLvl val="lvl"/>
          <dgm:resizeHandles val="exact"/>
        </dgm:presLayoutVars>
      </dgm:prSet>
      <dgm:spPr/>
    </dgm:pt>
    <dgm:pt modelId="{F2EF9943-E2AC-4D1A-A474-CE6A8C5CEEEC}" type="pres">
      <dgm:prSet presAssocID="{6D012D8B-563D-4BDC-986B-AFA4ECEE6F0E}" presName="composite" presStyleCnt="0"/>
      <dgm:spPr/>
    </dgm:pt>
    <dgm:pt modelId="{06A26E32-21FE-475A-AD8F-D04A6AB7562F}" type="pres">
      <dgm:prSet presAssocID="{6D012D8B-563D-4BDC-986B-AFA4ECEE6F0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D52CF6F-D211-440B-AE50-F2C62EED7DC5}" type="pres">
      <dgm:prSet presAssocID="{6D012D8B-563D-4BDC-986B-AFA4ECEE6F0E}" presName="descendantText" presStyleLbl="alignAcc1" presStyleIdx="0" presStyleCnt="3" custLinFactNeighborX="0" custLinFactNeighborY="-140">
        <dgm:presLayoutVars>
          <dgm:bulletEnabled val="1"/>
        </dgm:presLayoutVars>
      </dgm:prSet>
      <dgm:spPr/>
    </dgm:pt>
    <dgm:pt modelId="{4673C3C4-AAB2-49BA-95F7-261C0AE89DC4}" type="pres">
      <dgm:prSet presAssocID="{C9CE0FDA-3B78-40C9-8C94-FA3BB3CC4BF1}" presName="sp" presStyleCnt="0"/>
      <dgm:spPr/>
    </dgm:pt>
    <dgm:pt modelId="{C28A4830-8FF9-4937-947C-359B5E0D699B}" type="pres">
      <dgm:prSet presAssocID="{E89C4E75-F63F-43EE-87D4-28D5BCF34826}" presName="composite" presStyleCnt="0"/>
      <dgm:spPr/>
    </dgm:pt>
    <dgm:pt modelId="{683F8276-DE84-44B4-A883-98B0D6F6A12C}" type="pres">
      <dgm:prSet presAssocID="{E89C4E75-F63F-43EE-87D4-28D5BCF3482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36B9210-1E4F-4DEC-BAC7-1AFA8344CE0A}" type="pres">
      <dgm:prSet presAssocID="{E89C4E75-F63F-43EE-87D4-28D5BCF34826}" presName="descendantText" presStyleLbl="alignAcc1" presStyleIdx="1" presStyleCnt="3" custLinFactNeighborX="0" custLinFactNeighborY="-140">
        <dgm:presLayoutVars>
          <dgm:bulletEnabled val="1"/>
        </dgm:presLayoutVars>
      </dgm:prSet>
      <dgm:spPr/>
    </dgm:pt>
    <dgm:pt modelId="{7B0CCEE3-D2D1-4AF5-AA07-CF54D433F1EE}" type="pres">
      <dgm:prSet presAssocID="{9AABD238-D4BB-4874-B5B3-1736152F6C73}" presName="sp" presStyleCnt="0"/>
      <dgm:spPr/>
    </dgm:pt>
    <dgm:pt modelId="{7CE11A87-D13E-4A5E-B6B5-B802CC90F87D}" type="pres">
      <dgm:prSet presAssocID="{4E687923-13D3-4E28-8E88-7AC30BFFF50D}" presName="composite" presStyleCnt="0"/>
      <dgm:spPr/>
    </dgm:pt>
    <dgm:pt modelId="{FCFBA235-785D-400F-9E62-84C4921F492C}" type="pres">
      <dgm:prSet presAssocID="{4E687923-13D3-4E28-8E88-7AC30BFFF50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BFD4AE7-0A79-4CFE-B96A-014AFBCF15D2}" type="pres">
      <dgm:prSet presAssocID="{4E687923-13D3-4E28-8E88-7AC30BFFF50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35FA505-633B-4A0C-B6E9-53454C3AB707}" srcId="{4E687923-13D3-4E28-8E88-7AC30BFFF50D}" destId="{9521CF7D-64BB-4423-95C9-A144812DB74F}" srcOrd="1" destOrd="0" parTransId="{80E39B51-DE4A-4423-A3AA-D4F6BA92A426}" sibTransId="{71B94F03-C098-4CA2-A5F5-D0EAFDFD1000}"/>
    <dgm:cxn modelId="{4DC53815-7121-4351-BCD1-40E0A8092ACC}" type="presOf" srcId="{0D26095C-72AA-4F66-A154-36EBD88AF4DB}" destId="{5BFD4AE7-0A79-4CFE-B96A-014AFBCF15D2}" srcOrd="0" destOrd="0" presId="urn:microsoft.com/office/officeart/2005/8/layout/chevron2"/>
    <dgm:cxn modelId="{6E50BE32-7D0D-4361-B5A1-54A48DE60CE0}" srcId="{E89C4E75-F63F-43EE-87D4-28D5BCF34826}" destId="{18EEF6A4-04BE-4E48-8F2B-CCAE45CC0949}" srcOrd="0" destOrd="0" parTransId="{DCD54BBD-1115-46FB-AC44-860A4B1CE330}" sibTransId="{7A6E0544-AFF5-4C9C-8D50-5638338DF130}"/>
    <dgm:cxn modelId="{CC157F78-F88D-4A6A-A5F4-7D62C4163816}" type="presOf" srcId="{42185887-EE07-4AC5-8751-2CD4B35DFA96}" destId="{0D52CF6F-D211-440B-AE50-F2C62EED7DC5}" srcOrd="0" destOrd="0" presId="urn:microsoft.com/office/officeart/2005/8/layout/chevron2"/>
    <dgm:cxn modelId="{D764B179-AA2D-442B-B6E7-45F026C7B2E8}" srcId="{4E687923-13D3-4E28-8E88-7AC30BFFF50D}" destId="{0D26095C-72AA-4F66-A154-36EBD88AF4DB}" srcOrd="0" destOrd="0" parTransId="{C333274A-D668-445E-AD62-80D7A42D7408}" sibTransId="{B9EA666E-75F8-4192-B9B2-E53C57CD5EBF}"/>
    <dgm:cxn modelId="{9886E17E-8F35-4B60-BACE-03B1B4F22581}" srcId="{E89C4E75-F63F-43EE-87D4-28D5BCF34826}" destId="{A460F4F7-3F89-48DF-8320-14694FA1BD7D}" srcOrd="1" destOrd="0" parTransId="{FB3DD0CC-D6A6-4048-9CEA-EC58B67C627E}" sibTransId="{2AFE1AF1-EDF6-451D-BE12-01F69B1F7184}"/>
    <dgm:cxn modelId="{56E3BA81-7CC6-4BAE-891A-168519991767}" type="presOf" srcId="{A460F4F7-3F89-48DF-8320-14694FA1BD7D}" destId="{336B9210-1E4F-4DEC-BAC7-1AFA8344CE0A}" srcOrd="0" destOrd="1" presId="urn:microsoft.com/office/officeart/2005/8/layout/chevron2"/>
    <dgm:cxn modelId="{4F2E8789-1477-4B97-9EAC-14FBD4E80680}" srcId="{442AFDFB-1792-4764-B3EF-CD77BAD31F94}" destId="{6D012D8B-563D-4BDC-986B-AFA4ECEE6F0E}" srcOrd="0" destOrd="0" parTransId="{A73C6EDA-E108-48B3-94D0-D3122CB76293}" sibTransId="{C9CE0FDA-3B78-40C9-8C94-FA3BB3CC4BF1}"/>
    <dgm:cxn modelId="{5F8D1E99-F20F-4FC2-A6FE-E301B5B51441}" srcId="{442AFDFB-1792-4764-B3EF-CD77BAD31F94}" destId="{4E687923-13D3-4E28-8E88-7AC30BFFF50D}" srcOrd="2" destOrd="0" parTransId="{04357AAC-A81C-4B38-B855-990BDD0F031B}" sibTransId="{FBE36655-70B9-4098-932D-CF70950860EF}"/>
    <dgm:cxn modelId="{93B8F999-1A9D-4F85-80AB-4DCA6B4509FC}" srcId="{442AFDFB-1792-4764-B3EF-CD77BAD31F94}" destId="{E89C4E75-F63F-43EE-87D4-28D5BCF34826}" srcOrd="1" destOrd="0" parTransId="{8DD90321-99C5-471C-B683-EBA9D778C95A}" sibTransId="{9AABD238-D4BB-4874-B5B3-1736152F6C73}"/>
    <dgm:cxn modelId="{AEF825A6-C54F-4F61-B272-AC5ED62230D1}" type="presOf" srcId="{9521CF7D-64BB-4423-95C9-A144812DB74F}" destId="{5BFD4AE7-0A79-4CFE-B96A-014AFBCF15D2}" srcOrd="0" destOrd="1" presId="urn:microsoft.com/office/officeart/2005/8/layout/chevron2"/>
    <dgm:cxn modelId="{037E8BAD-B35F-4B14-AA06-00286ED6CDFD}" srcId="{6D012D8B-563D-4BDC-986B-AFA4ECEE6F0E}" destId="{42185887-EE07-4AC5-8751-2CD4B35DFA96}" srcOrd="0" destOrd="0" parTransId="{B6147517-4628-486F-9547-A468FF2AE8DD}" sibTransId="{5FA823DD-E6CF-4B22-849F-C1094F2E81E2}"/>
    <dgm:cxn modelId="{F10795BA-B89C-419C-8F53-84F123484C95}" type="presOf" srcId="{6D012D8B-563D-4BDC-986B-AFA4ECEE6F0E}" destId="{06A26E32-21FE-475A-AD8F-D04A6AB7562F}" srcOrd="0" destOrd="0" presId="urn:microsoft.com/office/officeart/2005/8/layout/chevron2"/>
    <dgm:cxn modelId="{2DD6A2BD-C99B-42EF-B17C-B996EB90D4F3}" type="presOf" srcId="{442AFDFB-1792-4764-B3EF-CD77BAD31F94}" destId="{903831DA-F855-4491-8AF5-BD752F5863FB}" srcOrd="0" destOrd="0" presId="urn:microsoft.com/office/officeart/2005/8/layout/chevron2"/>
    <dgm:cxn modelId="{552088C2-FB99-4275-81DC-82AB8A397F23}" type="presOf" srcId="{E89C4E75-F63F-43EE-87D4-28D5BCF34826}" destId="{683F8276-DE84-44B4-A883-98B0D6F6A12C}" srcOrd="0" destOrd="0" presId="urn:microsoft.com/office/officeart/2005/8/layout/chevron2"/>
    <dgm:cxn modelId="{597C9CDF-291C-450E-A5F7-28F7E29DDB4E}" type="presOf" srcId="{4E687923-13D3-4E28-8E88-7AC30BFFF50D}" destId="{FCFBA235-785D-400F-9E62-84C4921F492C}" srcOrd="0" destOrd="0" presId="urn:microsoft.com/office/officeart/2005/8/layout/chevron2"/>
    <dgm:cxn modelId="{CBC834EE-D18F-4A6A-890A-98F403FE1559}" type="presOf" srcId="{18EEF6A4-04BE-4E48-8F2B-CCAE45CC0949}" destId="{336B9210-1E4F-4DEC-BAC7-1AFA8344CE0A}" srcOrd="0" destOrd="0" presId="urn:microsoft.com/office/officeart/2005/8/layout/chevron2"/>
    <dgm:cxn modelId="{A03B422B-5EFA-4767-B387-07333467E98D}" type="presParOf" srcId="{903831DA-F855-4491-8AF5-BD752F5863FB}" destId="{F2EF9943-E2AC-4D1A-A474-CE6A8C5CEEEC}" srcOrd="0" destOrd="0" presId="urn:microsoft.com/office/officeart/2005/8/layout/chevron2"/>
    <dgm:cxn modelId="{20EA304E-2CE0-43A4-BE6A-C48D541F084A}" type="presParOf" srcId="{F2EF9943-E2AC-4D1A-A474-CE6A8C5CEEEC}" destId="{06A26E32-21FE-475A-AD8F-D04A6AB7562F}" srcOrd="0" destOrd="0" presId="urn:microsoft.com/office/officeart/2005/8/layout/chevron2"/>
    <dgm:cxn modelId="{B815D6DD-4CFB-44F9-AF10-ABCE6DB7C691}" type="presParOf" srcId="{F2EF9943-E2AC-4D1A-A474-CE6A8C5CEEEC}" destId="{0D52CF6F-D211-440B-AE50-F2C62EED7DC5}" srcOrd="1" destOrd="0" presId="urn:microsoft.com/office/officeart/2005/8/layout/chevron2"/>
    <dgm:cxn modelId="{CD03CB2F-035E-4219-BACB-27BAD5A85B8D}" type="presParOf" srcId="{903831DA-F855-4491-8AF5-BD752F5863FB}" destId="{4673C3C4-AAB2-49BA-95F7-261C0AE89DC4}" srcOrd="1" destOrd="0" presId="urn:microsoft.com/office/officeart/2005/8/layout/chevron2"/>
    <dgm:cxn modelId="{FB4FF3BC-3864-4E92-BCA6-97128A94EF24}" type="presParOf" srcId="{903831DA-F855-4491-8AF5-BD752F5863FB}" destId="{C28A4830-8FF9-4937-947C-359B5E0D699B}" srcOrd="2" destOrd="0" presId="urn:microsoft.com/office/officeart/2005/8/layout/chevron2"/>
    <dgm:cxn modelId="{195A40CE-B113-460F-ADCF-4F3B48265BFC}" type="presParOf" srcId="{C28A4830-8FF9-4937-947C-359B5E0D699B}" destId="{683F8276-DE84-44B4-A883-98B0D6F6A12C}" srcOrd="0" destOrd="0" presId="urn:microsoft.com/office/officeart/2005/8/layout/chevron2"/>
    <dgm:cxn modelId="{B1E3B1A8-9D1D-4FAA-986F-E5004F4765B4}" type="presParOf" srcId="{C28A4830-8FF9-4937-947C-359B5E0D699B}" destId="{336B9210-1E4F-4DEC-BAC7-1AFA8344CE0A}" srcOrd="1" destOrd="0" presId="urn:microsoft.com/office/officeart/2005/8/layout/chevron2"/>
    <dgm:cxn modelId="{0339B1C2-5647-4033-9B58-0509C12620A1}" type="presParOf" srcId="{903831DA-F855-4491-8AF5-BD752F5863FB}" destId="{7B0CCEE3-D2D1-4AF5-AA07-CF54D433F1EE}" srcOrd="3" destOrd="0" presId="urn:microsoft.com/office/officeart/2005/8/layout/chevron2"/>
    <dgm:cxn modelId="{C2006F5C-339F-4EC7-A516-AF9009BA1A7A}" type="presParOf" srcId="{903831DA-F855-4491-8AF5-BD752F5863FB}" destId="{7CE11A87-D13E-4A5E-B6B5-B802CC90F87D}" srcOrd="4" destOrd="0" presId="urn:microsoft.com/office/officeart/2005/8/layout/chevron2"/>
    <dgm:cxn modelId="{CB74B2A7-CC3D-47B2-A41F-87810C740A84}" type="presParOf" srcId="{7CE11A87-D13E-4A5E-B6B5-B802CC90F87D}" destId="{FCFBA235-785D-400F-9E62-84C4921F492C}" srcOrd="0" destOrd="0" presId="urn:microsoft.com/office/officeart/2005/8/layout/chevron2"/>
    <dgm:cxn modelId="{EC7FDF55-EC73-4FC1-9645-99D6EF423CA9}" type="presParOf" srcId="{7CE11A87-D13E-4A5E-B6B5-B802CC90F87D}" destId="{5BFD4AE7-0A79-4CFE-B96A-014AFBCF15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26E32-21FE-475A-AD8F-D04A6AB7562F}">
      <dsp:nvSpPr>
        <dsp:cNvPr id="0" name=""/>
        <dsp:cNvSpPr/>
      </dsp:nvSpPr>
      <dsp:spPr>
        <a:xfrm rot="5400000">
          <a:off x="-192237" y="193407"/>
          <a:ext cx="1281586" cy="897110"/>
        </a:xfrm>
        <a:prstGeom prst="chevron">
          <a:avLst/>
        </a:prstGeom>
        <a:solidFill>
          <a:srgbClr val="004D4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Points forts</a:t>
          </a:r>
        </a:p>
      </dsp:txBody>
      <dsp:txXfrm rot="-5400000">
        <a:off x="1" y="449724"/>
        <a:ext cx="897110" cy="384476"/>
      </dsp:txXfrm>
    </dsp:sp>
    <dsp:sp modelId="{0D52CF6F-D211-440B-AE50-F2C62EED7DC5}">
      <dsp:nvSpPr>
        <dsp:cNvPr id="0" name=""/>
        <dsp:cNvSpPr/>
      </dsp:nvSpPr>
      <dsp:spPr>
        <a:xfrm rot="5400000">
          <a:off x="3080039" y="-2182925"/>
          <a:ext cx="833031" cy="5198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La compréhension des données</a:t>
          </a:r>
        </a:p>
      </dsp:txBody>
      <dsp:txXfrm rot="-5400000">
        <a:off x="897111" y="40668"/>
        <a:ext cx="5158224" cy="751701"/>
      </dsp:txXfrm>
    </dsp:sp>
    <dsp:sp modelId="{683F8276-DE84-44B4-A883-98B0D6F6A12C}">
      <dsp:nvSpPr>
        <dsp:cNvPr id="0" name=""/>
        <dsp:cNvSpPr/>
      </dsp:nvSpPr>
      <dsp:spPr>
        <a:xfrm rot="5400000">
          <a:off x="-192237" y="1275944"/>
          <a:ext cx="1281586" cy="897110"/>
        </a:xfrm>
        <a:prstGeom prst="chevron">
          <a:avLst/>
        </a:prstGeom>
        <a:solidFill>
          <a:srgbClr val="004D4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Difficultés</a:t>
          </a:r>
        </a:p>
      </dsp:txBody>
      <dsp:txXfrm rot="-5400000">
        <a:off x="1" y="1532261"/>
        <a:ext cx="897110" cy="384476"/>
      </dsp:txXfrm>
    </dsp:sp>
    <dsp:sp modelId="{336B9210-1E4F-4DEC-BAC7-1AFA8344CE0A}">
      <dsp:nvSpPr>
        <dsp:cNvPr id="0" name=""/>
        <dsp:cNvSpPr/>
      </dsp:nvSpPr>
      <dsp:spPr>
        <a:xfrm rot="5400000">
          <a:off x="3080039" y="-1100388"/>
          <a:ext cx="833031" cy="5198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Les jointures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La correction des données</a:t>
          </a:r>
        </a:p>
      </dsp:txBody>
      <dsp:txXfrm rot="-5400000">
        <a:off x="897111" y="1123205"/>
        <a:ext cx="5158224" cy="751701"/>
      </dsp:txXfrm>
    </dsp:sp>
    <dsp:sp modelId="{FCFBA235-785D-400F-9E62-84C4921F492C}">
      <dsp:nvSpPr>
        <dsp:cNvPr id="0" name=""/>
        <dsp:cNvSpPr/>
      </dsp:nvSpPr>
      <dsp:spPr>
        <a:xfrm rot="5400000">
          <a:off x="-192237" y="2358482"/>
          <a:ext cx="1281586" cy="897110"/>
        </a:xfrm>
        <a:prstGeom prst="chevron">
          <a:avLst/>
        </a:prstGeom>
        <a:solidFill>
          <a:srgbClr val="004D4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Axes de progression</a:t>
          </a:r>
        </a:p>
      </dsp:txBody>
      <dsp:txXfrm rot="-5400000">
        <a:off x="1" y="2614799"/>
        <a:ext cx="897110" cy="384476"/>
      </dsp:txXfrm>
    </dsp:sp>
    <dsp:sp modelId="{5BFD4AE7-0A79-4CFE-B96A-014AFBCF15D2}">
      <dsp:nvSpPr>
        <dsp:cNvPr id="0" name=""/>
        <dsp:cNvSpPr/>
      </dsp:nvSpPr>
      <dsp:spPr>
        <a:xfrm rot="5400000">
          <a:off x="3080039" y="-16685"/>
          <a:ext cx="833031" cy="5198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 contrôle de cohérence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La recherche des erreurs</a:t>
          </a:r>
        </a:p>
      </dsp:txBody>
      <dsp:txXfrm rot="-5400000">
        <a:off x="897111" y="2206909"/>
        <a:ext cx="5158224" cy="751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45C449C-D77B-01B8-27BA-5C9CC3E02D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9C38610-E4B4-D145-4346-2EC0408405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F72F0-2764-4000-B841-2604416C3CF5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A4DE5B-0728-6227-8247-4100153D94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D2314B-4A3E-61C0-4231-1758BD86D3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7F7A5-2CD5-43DC-8EA4-E1041989EF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3090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506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7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218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344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374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203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Z-score plus tolérant que IQR car basé sur l’écart-type (ce dernier est gonflé par les valeurs extrêmes), données asymétriques dans cet </a:t>
            </a:r>
            <a:r>
              <a:rPr lang="fr-FR" dirty="0" err="1"/>
              <a:t>ensmble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4613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En réalité, la distribution est homogène, il n’y pas de produits qui se démarquent en dehors ce top1.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2410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104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478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769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Il faut prendre en compte les grandes différences de quantité  : 657 vins (sur 713 références au total).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Champagne : 28 / Whisky : 14 / Cognac : 8 / Huile d’Olive : 3 / Gin :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045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Font typeface="+mj-lt"/>
              <a:buNone/>
            </a:pPr>
            <a:endParaRPr lang="fr-FR" dirty="0"/>
          </a:p>
          <a:p>
            <a:pPr marL="158750" indent="0">
              <a:buFont typeface="+mj-lt"/>
              <a:buNone/>
            </a:pPr>
            <a:r>
              <a:rPr lang="fr-FR" dirty="0"/>
              <a:t>Corrélation forte entre les différentes données de prix : c’est logique</a:t>
            </a:r>
          </a:p>
          <a:p>
            <a:pPr marL="158750" indent="0">
              <a:buFont typeface="+mj-lt"/>
              <a:buNone/>
            </a:pPr>
            <a:r>
              <a:rPr lang="fr-FR" dirty="0"/>
              <a:t>Entre le prix et les ventes, corrélation légère mais négative, les articles les plus onéreux ne sont pas nos succès commerciaux </a:t>
            </a:r>
          </a:p>
          <a:p>
            <a:pPr marL="158750" indent="0">
              <a:buFont typeface="+mj-lt"/>
              <a:buNone/>
            </a:pPr>
            <a:r>
              <a:rPr lang="fr-FR" dirty="0"/>
              <a:t>La marge est peu corrélée aux autres indicateurs, notamment au prix d’achat et aux ventes, les ventes ne dépendent pas du taux de marge</a:t>
            </a:r>
          </a:p>
          <a:p>
            <a:pPr marL="158750" indent="0">
              <a:buFont typeface="+mj-lt"/>
              <a:buNone/>
            </a:pPr>
            <a:r>
              <a:rPr lang="fr-FR" dirty="0"/>
              <a:t>Le stock : deuxième plus forte corrélation entre les quantités en stock et les ventes, les produits les plus vendus sont les plus stockés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57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314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215343"/>
            <a:ext cx="7983300" cy="135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[Projet DATA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fr"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Bottleneck]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LERAY Anthony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643800" y="4329425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Août 2025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5560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EA0CAA4-E3E9-9996-A3E9-1FE99530C2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 descr="Une image contenant Graphique, capture d’écran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12036206-5263-5C75-B29E-95C186E7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39" y="1643702"/>
            <a:ext cx="800805" cy="1007175"/>
          </a:xfrm>
          <a:prstGeom prst="rect">
            <a:avLst/>
          </a:prstGeom>
        </p:spPr>
      </p:pic>
      <p:pic>
        <p:nvPicPr>
          <p:cNvPr id="8" name="Image 7" descr="Une image contenant logo, bouteille, clipart, Graphique&#10;&#10;Le contenu généré par l’IA peut être incorrect.">
            <a:extLst>
              <a:ext uri="{FF2B5EF4-FFF2-40B4-BE49-F238E27FC236}">
                <a16:creationId xmlns:a16="http://schemas.microsoft.com/office/drawing/2014/main" id="{8E9D7B81-5A92-8CCE-CE03-8648B8D6F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665" y="1593907"/>
            <a:ext cx="800805" cy="1056970"/>
          </a:xfrm>
          <a:prstGeom prst="rect">
            <a:avLst/>
          </a:prstGeom>
        </p:spPr>
      </p:pic>
      <p:pic>
        <p:nvPicPr>
          <p:cNvPr id="9" name="Image 8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E3944D29-D66B-D8D9-3542-5353A38D7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191" y="1657721"/>
            <a:ext cx="710821" cy="100717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093ACE4-7AD4-00B6-4121-6FBF825E1776}"/>
              </a:ext>
            </a:extLst>
          </p:cNvPr>
          <p:cNvSpPr txBox="1"/>
          <p:nvPr/>
        </p:nvSpPr>
        <p:spPr>
          <a:xfrm>
            <a:off x="237773" y="2112609"/>
            <a:ext cx="1891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4D40"/>
                </a:solidFill>
              </a:rPr>
              <a:t>3 documents de travail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3E5861F-001C-5BE9-D884-9A16AC1B422E}"/>
              </a:ext>
            </a:extLst>
          </p:cNvPr>
          <p:cNvSpPr/>
          <p:nvPr/>
        </p:nvSpPr>
        <p:spPr>
          <a:xfrm>
            <a:off x="2022764" y="2161309"/>
            <a:ext cx="637309" cy="410441"/>
          </a:xfrm>
          <a:prstGeom prst="rightArrow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6B1102A-AF02-A32E-A6BC-B887E4CB4611}"/>
              </a:ext>
            </a:extLst>
          </p:cNvPr>
          <p:cNvSpPr txBox="1"/>
          <p:nvPr/>
        </p:nvSpPr>
        <p:spPr>
          <a:xfrm>
            <a:off x="2736272" y="2947348"/>
            <a:ext cx="15724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données de notre activité grâce à notre logiciel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BF8C84A-2CF5-D1EF-68C9-065043D396FA}"/>
              </a:ext>
            </a:extLst>
          </p:cNvPr>
          <p:cNvSpPr txBox="1"/>
          <p:nvPr/>
        </p:nvSpPr>
        <p:spPr>
          <a:xfrm>
            <a:off x="4821132" y="2869516"/>
            <a:ext cx="1572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données provenant de notre site web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20D144B-F68B-FAAF-4DCE-BBE45C4F6848}"/>
              </a:ext>
            </a:extLst>
          </p:cNvPr>
          <p:cNvSpPr txBox="1"/>
          <p:nvPr/>
        </p:nvSpPr>
        <p:spPr>
          <a:xfrm>
            <a:off x="6899967" y="2869516"/>
            <a:ext cx="15724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 fichier pour assurer la correspondance des données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608BCF2-73A8-5FB7-3B8D-927D4EA5F653}"/>
              </a:ext>
            </a:extLst>
          </p:cNvPr>
          <p:cNvSpPr txBox="1"/>
          <p:nvPr/>
        </p:nvSpPr>
        <p:spPr>
          <a:xfrm>
            <a:off x="581891" y="4197927"/>
            <a:ext cx="79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 fichiers de taille différentes, des données de différentes nature (prix, date, noms d’articles…)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2265680" y="1556735"/>
            <a:ext cx="3787311" cy="47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5969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None/>
            </a:pPr>
            <a:endParaRPr lang="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None/>
            </a:pPr>
            <a:endParaRPr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15637" y="337249"/>
            <a:ext cx="8465128" cy="796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- </a:t>
            </a:r>
            <a:r>
              <a:rPr lang="fr-FR" sz="2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Traitement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2630" y="868659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EA0CAA4-E3E9-9996-A3E9-1FE99530C2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1C1ADB-99A5-11D7-61C0-36AA56AE186B}"/>
              </a:ext>
            </a:extLst>
          </p:cNvPr>
          <p:cNvSpPr txBox="1"/>
          <p:nvPr/>
        </p:nvSpPr>
        <p:spPr>
          <a:xfrm>
            <a:off x="569481" y="2307622"/>
            <a:ext cx="53533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Contrôle des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Recherches des liens entre colonnes (stock </a:t>
            </a:r>
            <a:r>
              <a:rPr lang="fr-FR" dirty="0" err="1"/>
              <a:t>quantity</a:t>
            </a:r>
            <a:r>
              <a:rPr lang="fr-FR" dirty="0"/>
              <a:t> et </a:t>
            </a:r>
            <a:r>
              <a:rPr lang="fr-FR" dirty="0" err="1"/>
              <a:t>status</a:t>
            </a:r>
            <a:r>
              <a:rPr lang="fr-FR" dirty="0"/>
              <a:t> stock)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de la complétude des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Recherche des doublons</a:t>
            </a:r>
          </a:p>
        </p:txBody>
      </p:sp>
      <p:pic>
        <p:nvPicPr>
          <p:cNvPr id="5" name="Image 4" descr="Une image contenant Graphique, capture d’écran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66A5F4EF-155A-D820-56EE-6FCFD8340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044" y="2068162"/>
            <a:ext cx="800805" cy="1007175"/>
          </a:xfrm>
          <a:prstGeom prst="rect">
            <a:avLst/>
          </a:prstGeom>
        </p:spPr>
      </p:pic>
      <p:pic>
        <p:nvPicPr>
          <p:cNvPr id="8" name="Image 7" descr="Une image contenant logo, bouteille, clipart, Graphique&#10;&#10;Le contenu généré par l’IA peut être incorrect.">
            <a:extLst>
              <a:ext uri="{FF2B5EF4-FFF2-40B4-BE49-F238E27FC236}">
                <a16:creationId xmlns:a16="http://schemas.microsoft.com/office/drawing/2014/main" id="{1CC70A62-64D8-0A24-EF94-007016098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045" y="3498271"/>
            <a:ext cx="800805" cy="1056970"/>
          </a:xfrm>
          <a:prstGeom prst="rect">
            <a:avLst/>
          </a:prstGeom>
        </p:spPr>
      </p:pic>
      <p:pic>
        <p:nvPicPr>
          <p:cNvPr id="9" name="Image 8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A76D7B52-3E23-C58E-28DB-AE5DC3927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047" y="2739497"/>
            <a:ext cx="710821" cy="100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4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10154" y="337249"/>
            <a:ext cx="8323691" cy="8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- </a:t>
            </a:r>
            <a:r>
              <a:rPr lang="fr-FR" sz="2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8775" y="958714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EA0CAA4-E3E9-9996-A3E9-1FE99530C2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1C1ADB-99A5-11D7-61C0-36AA56AE186B}"/>
              </a:ext>
            </a:extLst>
          </p:cNvPr>
          <p:cNvSpPr txBox="1"/>
          <p:nvPr/>
        </p:nvSpPr>
        <p:spPr>
          <a:xfrm>
            <a:off x="410154" y="2746125"/>
            <a:ext cx="268085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quantités négatives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Correction correspondance erronée entre statut de stock et la quantité associée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prix négatifs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Correction statut vente en ligne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d’une incohérence prix d’achat / prix de vente</a:t>
            </a:r>
          </a:p>
        </p:txBody>
      </p:sp>
      <p:pic>
        <p:nvPicPr>
          <p:cNvPr id="5" name="Image 4" descr="Une image contenant Graphique, capture d’écran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66A5F4EF-155A-D820-56EE-6FCFD8340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75" y="1564575"/>
            <a:ext cx="800805" cy="10071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8FB392-988C-C249-D1F2-18F90984EA9E}"/>
              </a:ext>
            </a:extLst>
          </p:cNvPr>
          <p:cNvSpPr txBox="1"/>
          <p:nvPr/>
        </p:nvSpPr>
        <p:spPr>
          <a:xfrm>
            <a:off x="3100878" y="2750058"/>
            <a:ext cx="268085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doublons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colonnes superflues pour l’analyse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Renommage de colonnes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Renommage des identifiants non normés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lignes d’une autre nature de produit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Renommage d’un id erroné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des lignes vides</a:t>
            </a:r>
          </a:p>
        </p:txBody>
      </p:sp>
      <p:pic>
        <p:nvPicPr>
          <p:cNvPr id="8" name="Image 7" descr="Une image contenant logo, bouteille, clipart, Graphique&#10;&#10;Le contenu généré par l’IA peut être incorrect.">
            <a:extLst>
              <a:ext uri="{FF2B5EF4-FFF2-40B4-BE49-F238E27FC236}">
                <a16:creationId xmlns:a16="http://schemas.microsoft.com/office/drawing/2014/main" id="{1CC70A62-64D8-0A24-EF94-007016098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186" y="1539677"/>
            <a:ext cx="800805" cy="1056970"/>
          </a:xfrm>
          <a:prstGeom prst="rect">
            <a:avLst/>
          </a:prstGeom>
        </p:spPr>
      </p:pic>
      <p:pic>
        <p:nvPicPr>
          <p:cNvPr id="9" name="Image 8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A76D7B52-3E23-C58E-28DB-AE5DC3927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613" y="1612958"/>
            <a:ext cx="710821" cy="100717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65FEC0B-70BF-DCFF-324E-2D3ED0677E96}"/>
              </a:ext>
            </a:extLst>
          </p:cNvPr>
          <p:cNvSpPr txBox="1"/>
          <p:nvPr/>
        </p:nvSpPr>
        <p:spPr>
          <a:xfrm>
            <a:off x="5955116" y="2842891"/>
            <a:ext cx="268085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Renommage des identifiants non normés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Suppression </a:t>
            </a:r>
            <a:r>
              <a:rPr lang="fr-FR" sz="1300" dirty="0" err="1"/>
              <a:t>d’id</a:t>
            </a:r>
            <a:r>
              <a:rPr lang="fr-FR" sz="1300" dirty="0"/>
              <a:t> erronés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300" dirty="0"/>
              <a:t>Renommage </a:t>
            </a:r>
            <a:r>
              <a:rPr lang="fr-FR" sz="1300" dirty="0" err="1"/>
              <a:t>d’id</a:t>
            </a:r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117868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335674" y="2355396"/>
            <a:ext cx="2653200" cy="171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Une fusion dite large :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Tous les articles de notre catalogue</a:t>
            </a:r>
            <a:endParaRPr dirty="0">
              <a:solidFill>
                <a:schemeClr val="tx1"/>
              </a:solidFill>
              <a:latin typeface="+mj-l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2 types de fusions opérées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6180C3-AACB-2BB2-03DA-BA6E5A414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pic>
        <p:nvPicPr>
          <p:cNvPr id="4" name="Image 3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8563E1F7-EAD8-0A51-EBDD-DF1306C3C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165" y="2233179"/>
            <a:ext cx="1976003" cy="1957821"/>
          </a:xfrm>
          <a:prstGeom prst="rect">
            <a:avLst/>
          </a:prstGeom>
        </p:spPr>
      </p:pic>
      <p:sp>
        <p:nvSpPr>
          <p:cNvPr id="6" name="Google Shape;71;p5">
            <a:extLst>
              <a:ext uri="{FF2B5EF4-FFF2-40B4-BE49-F238E27FC236}">
                <a16:creationId xmlns:a16="http://schemas.microsoft.com/office/drawing/2014/main" id="{03269B6D-6F25-669E-8754-92EA48B960E5}"/>
              </a:ext>
            </a:extLst>
          </p:cNvPr>
          <p:cNvSpPr txBox="1">
            <a:spLocks/>
          </p:cNvSpPr>
          <p:nvPr/>
        </p:nvSpPr>
        <p:spPr>
          <a:xfrm>
            <a:off x="5619752" y="2355396"/>
            <a:ext cx="2653200" cy="171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Clr>
                <a:srgbClr val="999999"/>
              </a:buClr>
              <a:buFont typeface="Arial"/>
              <a:buNone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Une fusion dite strict : </a:t>
            </a:r>
          </a:p>
          <a:p>
            <a:pPr marL="114300" indent="0">
              <a:buClr>
                <a:srgbClr val="999999"/>
              </a:buClr>
              <a:buFont typeface="Arial"/>
              <a:buNone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Font typeface="Arial"/>
              <a:buNone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Les ventes du moins d’octobre sur le web</a:t>
            </a:r>
            <a:endParaRPr lang="fr-FR" dirty="0">
              <a:solidFill>
                <a:schemeClr val="tx1"/>
              </a:solidFill>
              <a:latin typeface="+mj-lt"/>
            </a:endParaRPr>
          </a:p>
          <a:p>
            <a:pPr marL="114300" indent="0">
              <a:buClr>
                <a:srgbClr val="434343"/>
              </a:buClr>
              <a:buFont typeface="Arial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221674" y="1825664"/>
            <a:ext cx="3048000" cy="305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b="1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Un jeu de données globales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Recense tous les articles de notre catalogue</a:t>
            </a:r>
            <a:endParaRPr lang="fr-FR" dirty="0">
              <a:solidFill>
                <a:schemeClr val="tx1"/>
              </a:solidFill>
              <a:latin typeface="+mj-l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Permet d’avoir une vision globale sur les dimensions stock, prix et prix d’achat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825 articles répertoriés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Caractéristiques des deux jeux de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6180C3-AACB-2BB2-03DA-BA6E5A414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4" name="Image 3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8563E1F7-EAD8-0A51-EBDD-DF1306C3C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96" y="1816530"/>
            <a:ext cx="1976003" cy="1957821"/>
          </a:xfrm>
          <a:prstGeom prst="rect">
            <a:avLst/>
          </a:prstGeom>
        </p:spPr>
      </p:pic>
      <p:sp>
        <p:nvSpPr>
          <p:cNvPr id="6" name="Google Shape;71;p5">
            <a:extLst>
              <a:ext uri="{FF2B5EF4-FFF2-40B4-BE49-F238E27FC236}">
                <a16:creationId xmlns:a16="http://schemas.microsoft.com/office/drawing/2014/main" id="{03269B6D-6F25-669E-8754-92EA48B960E5}"/>
              </a:ext>
            </a:extLst>
          </p:cNvPr>
          <p:cNvSpPr txBox="1">
            <a:spLocks/>
          </p:cNvSpPr>
          <p:nvPr/>
        </p:nvSpPr>
        <p:spPr>
          <a:xfrm>
            <a:off x="5619751" y="1835848"/>
            <a:ext cx="3170957" cy="277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Clr>
                <a:srgbClr val="999999"/>
              </a:buClr>
              <a:buFont typeface="Arial"/>
              <a:buNone/>
            </a:pPr>
            <a:r>
              <a:rPr lang="fr-FR" b="1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Un jeu de données concernant les ventes</a:t>
            </a:r>
          </a:p>
          <a:p>
            <a:pPr marL="114300" indent="0">
              <a:buClr>
                <a:srgbClr val="999999"/>
              </a:buClr>
              <a:buFont typeface="Arial"/>
              <a:buNone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Recense les ventes du moins d’octobre sur le web</a:t>
            </a: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sym typeface="Montserrat"/>
            </a:endParaRP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Permet l’analyse des ventes, du taux de marge, du CA</a:t>
            </a: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sym typeface="Montserrat"/>
            </a:endParaRPr>
          </a:p>
          <a:p>
            <a:pPr>
              <a:buClr>
                <a:srgbClr val="999999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sym typeface="Montserrat"/>
              </a:rPr>
              <a:t>712 articles différents vendus en octobre</a:t>
            </a:r>
            <a:endParaRPr lang="fr-FR" dirty="0">
              <a:solidFill>
                <a:schemeClr val="tx1"/>
              </a:solidFill>
              <a:latin typeface="+mj-lt"/>
            </a:endParaRPr>
          </a:p>
          <a:p>
            <a:pPr marL="114300" indent="0">
              <a:buClr>
                <a:srgbClr val="434343"/>
              </a:buClr>
              <a:buFont typeface="Arial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97957C-7218-7F40-21AA-CE0B6C30999E}"/>
              </a:ext>
            </a:extLst>
          </p:cNvPr>
          <p:cNvSpPr txBox="1"/>
          <p:nvPr/>
        </p:nvSpPr>
        <p:spPr>
          <a:xfrm>
            <a:off x="3111212" y="3797739"/>
            <a:ext cx="2389910" cy="106227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rgbClr val="004D40"/>
                </a:solidFill>
                <a:latin typeface="+mj-lt"/>
                <a:sym typeface="Montserrat"/>
              </a:rPr>
              <a:t>Le jeu de données globales est plus grand de 15% et donc pertinent pour certains indicateurs</a:t>
            </a:r>
            <a:endParaRPr lang="fr-FR" dirty="0">
              <a:solidFill>
                <a:srgbClr val="004D4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943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q"/>
            </a:pPr>
            <a:endParaRPr lang="fr-FR" sz="1400" dirty="0">
              <a:solidFill>
                <a:srgbClr val="434343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434343"/>
                </a:solidFill>
                <a:latin typeface="+mj-lt"/>
                <a:ea typeface="Montserrat"/>
                <a:cs typeface="Montserrat"/>
                <a:sym typeface="Montserrat"/>
              </a:rPr>
              <a:t>On ne conserve que les données significatives permettant des analyses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434343"/>
                </a:solidFill>
                <a:latin typeface="+mj-lt"/>
                <a:ea typeface="Montserrat"/>
                <a:cs typeface="Montserrat"/>
                <a:sym typeface="Montserrat"/>
              </a:rPr>
              <a:t>Identification des clés, recherches de doublons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434343"/>
                </a:solidFill>
                <a:latin typeface="+mj-lt"/>
                <a:ea typeface="Montserrat"/>
                <a:cs typeface="Montserrat"/>
                <a:sym typeface="Montserrat"/>
              </a:rPr>
              <a:t>Relier les documents à nos équipes métiers pour en comprendre le sens réel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434343"/>
                </a:solidFill>
                <a:latin typeface="+mj-lt"/>
                <a:ea typeface="Montserrat"/>
                <a:cs typeface="Montserrat"/>
                <a:sym typeface="Montserrat"/>
              </a:rPr>
              <a:t>Recherche des valeurs aberrantes et y apporter une solution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 algn="ctr">
              <a:buClr>
                <a:srgbClr val="434343"/>
              </a:buClr>
              <a:buNone/>
            </a:pPr>
            <a:r>
              <a:rPr lang="fr-FR" sz="1600" i="1" dirty="0">
                <a:solidFill>
                  <a:schemeClr val="tx1"/>
                </a:solidFill>
                <a:latin typeface="+mj-lt"/>
                <a:sym typeface="Montserrat"/>
              </a:rPr>
              <a:t>Objectif : disposer d’un document de travail regroupant les données de plusieurs      sources, permettant un suivi de l’activité de l’entreprise. </a:t>
            </a:r>
            <a:endParaRPr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étapes de la consolidation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6180C3-AACB-2BB2-03DA-BA6E5A414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51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Indicateurs généraux</a:t>
            </a: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7AE5EEB-569F-8382-3491-3CC600530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508509"/>
              </p:ext>
            </p:extLst>
          </p:nvPr>
        </p:nvGraphicFramePr>
        <p:xfrm>
          <a:off x="2269988" y="1901847"/>
          <a:ext cx="4287946" cy="2662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73">
                  <a:extLst>
                    <a:ext uri="{9D8B030D-6E8A-4147-A177-3AD203B41FA5}">
                      <a16:colId xmlns:a16="http://schemas.microsoft.com/office/drawing/2014/main" val="3473067165"/>
                    </a:ext>
                  </a:extLst>
                </a:gridCol>
                <a:gridCol w="2143973">
                  <a:extLst>
                    <a:ext uri="{9D8B030D-6E8A-4147-A177-3AD203B41FA5}">
                      <a16:colId xmlns:a16="http://schemas.microsoft.com/office/drawing/2014/main" val="3744997375"/>
                    </a:ext>
                  </a:extLst>
                </a:gridCol>
              </a:tblGrid>
              <a:tr h="43002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alpha val="6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DF WEB</a:t>
                      </a:r>
                    </a:p>
                  </a:txBody>
                  <a:tcPr>
                    <a:solidFill>
                      <a:srgbClr val="004D40">
                        <a:alpha val="6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17115"/>
                  </a:ext>
                </a:extLst>
              </a:tr>
              <a:tr h="430021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CA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153 217,2 €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08379"/>
                  </a:ext>
                </a:extLst>
              </a:tr>
              <a:tr h="600851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Nombre de produits vendus 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6 066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76872"/>
                  </a:ext>
                </a:extLst>
              </a:tr>
              <a:tr h="600851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Nombre d’articles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712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122709"/>
                  </a:ext>
                </a:extLst>
              </a:tr>
              <a:tr h="600851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Types de produits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208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680779" y="3135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 : les métriques de base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69720" y="9429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08B0A6-11F6-AE4B-D5CF-417D7325A2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624494-4CD9-4826-0955-6BD83B877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497326"/>
            <a:ext cx="2982031" cy="355949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0F869EF-8823-F12D-0903-4554B10F9071}"/>
              </a:ext>
            </a:extLst>
          </p:cNvPr>
          <p:cNvSpPr txBox="1"/>
          <p:nvPr/>
        </p:nvSpPr>
        <p:spPr>
          <a:xfrm>
            <a:off x="4142509" y="1953491"/>
            <a:ext cx="36091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Une dispersion des prix très importante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Une moyenne à 32 euros mais un écart-type élevé (27).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Similaire entre les deux jeux de données</a:t>
            </a:r>
          </a:p>
        </p:txBody>
      </p:sp>
    </p:spTree>
    <p:extLst>
      <p:ext uri="{BB962C8B-B14F-4D97-AF65-F5344CB8AC3E}">
        <p14:creationId xmlns:p14="http://schemas.microsoft.com/office/powerpoint/2010/main" val="373329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08B0A6-11F6-AE4B-D5CF-417D7325A2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26C71AA-2C66-C31D-EF1E-6808E697D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60701"/>
              </p:ext>
            </p:extLst>
          </p:nvPr>
        </p:nvGraphicFramePr>
        <p:xfrm>
          <a:off x="1464875" y="1727450"/>
          <a:ext cx="6096000" cy="16306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5063151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84537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186938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91389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50457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Z-score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IQR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08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Jeu de données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Général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Web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Général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dirty="0"/>
                        <a:t>Web</a:t>
                      </a:r>
                    </a:p>
                    <a:p>
                      <a:pPr algn="ctr"/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1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Nombres d’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outliers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53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Proportion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40">
                        <a:alpha val="6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2,1%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1,8%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5497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41EAF159-8A51-6CFC-2853-6AA994D378F1}"/>
              </a:ext>
            </a:extLst>
          </p:cNvPr>
          <p:cNvSpPr txBox="1"/>
          <p:nvPr/>
        </p:nvSpPr>
        <p:spPr>
          <a:xfrm>
            <a:off x="1012175" y="3686629"/>
            <a:ext cx="746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proportions de valeurs extrêmes toujours inférieur à 5% de l’effectif complet. La nature des produits influence cette dispersion (alcool/non alcool, grands crus)</a:t>
            </a:r>
          </a:p>
        </p:txBody>
      </p:sp>
    </p:spTree>
    <p:extLst>
      <p:ext uri="{BB962C8B-B14F-4D97-AF65-F5344CB8AC3E}">
        <p14:creationId xmlns:p14="http://schemas.microsoft.com/office/powerpoint/2010/main" val="222545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22737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443345" y="336985"/>
            <a:ext cx="896585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Un chiffres d’affaires par article homogène – 1 Best-seller !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562232" y="928982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717B9F0-D9F8-A78E-FF34-154DB6D1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36" y="1246670"/>
            <a:ext cx="8693727" cy="311498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144436E-FFE5-196D-AAE0-F010E45F3E54}"/>
              </a:ext>
            </a:extLst>
          </p:cNvPr>
          <p:cNvSpPr txBox="1"/>
          <p:nvPr/>
        </p:nvSpPr>
        <p:spPr>
          <a:xfrm>
            <a:off x="443345" y="4426527"/>
            <a:ext cx="78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distribution du CA par article homogène, 58,8 % des articles représentent 80 % du CA</a:t>
            </a:r>
          </a:p>
        </p:txBody>
      </p:sp>
    </p:spTree>
    <p:extLst>
      <p:ext uri="{BB962C8B-B14F-4D97-AF65-F5344CB8AC3E}">
        <p14:creationId xmlns:p14="http://schemas.microsoft.com/office/powerpoint/2010/main" val="298295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92A3C05-6EB2-C1FA-FB0F-5F2A21D9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40" y="1059022"/>
            <a:ext cx="7904018" cy="3458966"/>
          </a:xfrm>
          <a:prstGeom prst="rect">
            <a:avLst/>
          </a:prstGeom>
        </p:spPr>
      </p:pic>
      <p:sp>
        <p:nvSpPr>
          <p:cNvPr id="87" name="Google Shape;87;p7"/>
          <p:cNvSpPr/>
          <p:nvPr/>
        </p:nvSpPr>
        <p:spPr>
          <a:xfrm>
            <a:off x="0" y="0"/>
            <a:ext cx="9144000" cy="111529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Un trio d’articles en tête des ventes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E19507-D42C-250B-447D-24F0C0E55E08}"/>
              </a:ext>
            </a:extLst>
          </p:cNvPr>
          <p:cNvSpPr txBox="1"/>
          <p:nvPr/>
        </p:nvSpPr>
        <p:spPr>
          <a:xfrm>
            <a:off x="450602" y="4517988"/>
            <a:ext cx="785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 nombre de ventes par article plus homogène encore, 65,2 % des articles représentent 80 % du nombre de ventes totales</a:t>
            </a:r>
          </a:p>
        </p:txBody>
      </p:sp>
    </p:spTree>
    <p:extLst>
      <p:ext uri="{BB962C8B-B14F-4D97-AF65-F5344CB8AC3E}">
        <p14:creationId xmlns:p14="http://schemas.microsoft.com/office/powerpoint/2010/main" val="8870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Le stock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8135AB3-7638-297C-12F1-047FE488B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84771"/>
              </p:ext>
            </p:extLst>
          </p:nvPr>
        </p:nvGraphicFramePr>
        <p:xfrm>
          <a:off x="1524000" y="1952146"/>
          <a:ext cx="6096000" cy="1259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003625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87702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55852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Données Web</a:t>
                      </a:r>
                    </a:p>
                  </a:txBody>
                  <a:tcPr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Données générales</a:t>
                      </a:r>
                    </a:p>
                  </a:txBody>
                  <a:tcPr>
                    <a:solidFill>
                      <a:srgbClr val="004D40">
                        <a:alpha val="6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06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Nombre d’articles en stock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16 717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17 803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16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Valeur du stock</a:t>
                      </a:r>
                    </a:p>
                  </a:txBody>
                  <a:tcPr anchor="ctr">
                    <a:solidFill>
                      <a:srgbClr val="004D40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277 022,2€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298 540,4€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353901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76055EDA-4CEC-7190-B163-F2AD5163BD1F}"/>
              </a:ext>
            </a:extLst>
          </p:cNvPr>
          <p:cNvSpPr txBox="1"/>
          <p:nvPr/>
        </p:nvSpPr>
        <p:spPr>
          <a:xfrm>
            <a:off x="1464875" y="3753301"/>
            <a:ext cx="693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différence entre les deux jeux de données est notable, plus de 1000 articles. L’écart est moins sensible sur la valeur du stock (produits plus en vente, hors catalogue)</a:t>
            </a:r>
          </a:p>
        </p:txBody>
      </p:sp>
    </p:spTree>
    <p:extLst>
      <p:ext uri="{BB962C8B-B14F-4D97-AF65-F5344CB8AC3E}">
        <p14:creationId xmlns:p14="http://schemas.microsoft.com/office/powerpoint/2010/main" val="4272103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1800" dirty="0">
                <a:solidFill>
                  <a:schemeClr val="bg1"/>
                </a:solidFill>
              </a:rPr>
              <a:t>Une rotation de stock très faible</a:t>
            </a:r>
            <a:r>
              <a:rPr lang="fr-FR" sz="1800" dirty="0"/>
              <a:t> </a:t>
            </a:r>
            <a:endParaRPr sz="18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D26774-03B0-5A1B-75D2-C5D2E514A6CB}"/>
              </a:ext>
            </a:extLst>
          </p:cNvPr>
          <p:cNvSpPr txBox="1"/>
          <p:nvPr/>
        </p:nvSpPr>
        <p:spPr>
          <a:xfrm>
            <a:off x="440026" y="4524717"/>
            <a:ext cx="7966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La rotation moyenne pour l’ensemble de nos articles est </a:t>
            </a:r>
            <a:r>
              <a:rPr lang="fr-FR" sz="1200"/>
              <a:t>de 0,5.</a:t>
            </a:r>
            <a:endParaRPr lang="fr-FR" sz="1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D6D81D-31D8-DC54-F879-737D8271F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26" y="1390200"/>
            <a:ext cx="8306782" cy="30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94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taux de marge a géométrie variable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C10AFC-5AE4-D19B-AD24-B51D5D0E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797" y="1798163"/>
            <a:ext cx="7176361" cy="286505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0CA285B-03F8-CFC7-2CB7-1E796E4E9069}"/>
              </a:ext>
            </a:extLst>
          </p:cNvPr>
          <p:cNvSpPr txBox="1"/>
          <p:nvPr/>
        </p:nvSpPr>
        <p:spPr>
          <a:xfrm>
            <a:off x="277884" y="2571750"/>
            <a:ext cx="1468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Taux de marge minimum :</a:t>
            </a:r>
          </a:p>
          <a:p>
            <a:r>
              <a:rPr lang="fr-FR" dirty="0"/>
              <a:t>      22,7 %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7A5602-3695-CF86-4769-F457FF198A10}"/>
              </a:ext>
            </a:extLst>
          </p:cNvPr>
          <p:cNvSpPr txBox="1"/>
          <p:nvPr/>
        </p:nvSpPr>
        <p:spPr>
          <a:xfrm>
            <a:off x="277884" y="3588700"/>
            <a:ext cx="1468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Taux de marge maximum :</a:t>
            </a:r>
          </a:p>
          <a:p>
            <a:r>
              <a:rPr lang="fr-FR" dirty="0"/>
              <a:t>     47,8 %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AAE7D4-7475-5EAC-62A0-EFBFB25057CD}"/>
              </a:ext>
            </a:extLst>
          </p:cNvPr>
          <p:cNvSpPr txBox="1"/>
          <p:nvPr/>
        </p:nvSpPr>
        <p:spPr>
          <a:xfrm>
            <a:off x="277884" y="2059423"/>
            <a:ext cx="1468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 article 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4B972D7-1858-FC40-33F7-6189648FCCB6}"/>
              </a:ext>
            </a:extLst>
          </p:cNvPr>
          <p:cNvCxnSpPr/>
          <p:nvPr/>
        </p:nvCxnSpPr>
        <p:spPr>
          <a:xfrm>
            <a:off x="1746466" y="1475509"/>
            <a:ext cx="0" cy="3435927"/>
          </a:xfrm>
          <a:prstGeom prst="line">
            <a:avLst/>
          </a:prstGeom>
          <a:ln w="19050">
            <a:solidFill>
              <a:srgbClr val="004D4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932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Des indices de corrélation peu significatifs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248576-5F55-491E-6EAC-2CA944EBA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6" y="1390200"/>
            <a:ext cx="3894794" cy="36060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63E3EF0-4CC0-63DF-2EEA-384A6A910E62}"/>
              </a:ext>
            </a:extLst>
          </p:cNvPr>
          <p:cNvSpPr txBox="1"/>
          <p:nvPr/>
        </p:nvSpPr>
        <p:spPr>
          <a:xfrm>
            <a:off x="5249205" y="1780254"/>
            <a:ext cx="3317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Une corrélation logique entre les variables de prix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CA1782-FE54-121C-3F66-2A4A8A992260}"/>
              </a:ext>
            </a:extLst>
          </p:cNvPr>
          <p:cNvSpPr txBox="1"/>
          <p:nvPr/>
        </p:nvSpPr>
        <p:spPr>
          <a:xfrm>
            <a:off x="5249205" y="3579787"/>
            <a:ext cx="2954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Une corrélation légère mais négative entre le prix et les ventes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FD4126-EE07-73C7-2675-AC2669EE10EA}"/>
              </a:ext>
            </a:extLst>
          </p:cNvPr>
          <p:cNvSpPr txBox="1"/>
          <p:nvPr/>
        </p:nvSpPr>
        <p:spPr>
          <a:xfrm>
            <a:off x="5249205" y="4479554"/>
            <a:ext cx="4706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 lien négatif entre marge et prix d’achat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BBE3AFB-1D50-355F-DD98-C44F711AB874}"/>
              </a:ext>
            </a:extLst>
          </p:cNvPr>
          <p:cNvSpPr txBox="1"/>
          <p:nvPr/>
        </p:nvSpPr>
        <p:spPr>
          <a:xfrm>
            <a:off x="5249205" y="2464577"/>
            <a:ext cx="2954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Une corrélation positive légère entre les ventes et les quantités de stocks, le stock suit les ventes</a:t>
            </a:r>
          </a:p>
        </p:txBody>
      </p:sp>
    </p:spTree>
    <p:extLst>
      <p:ext uri="{BB962C8B-B14F-4D97-AF65-F5344CB8AC3E}">
        <p14:creationId xmlns:p14="http://schemas.microsoft.com/office/powerpoint/2010/main" val="2513207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limites de l’analyse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Les stocks : il est important d’avoir une donnée de temps pour mesurer réellement la rotation des stocks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 de données clients (client cible, fréquence d’achat, panier moyen)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56A4F4-EB99-E319-6971-1E6C326E7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63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414000" y="2096636"/>
            <a:ext cx="8316000" cy="2336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Normer les différents indicateurs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Introduire la notion de temporalité pour suivre l’évolution des différents indicateurs : le CA, les ventes.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Création de tableaux de bords pour le pilotage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513218C-0DC2-4893-1DFE-163D154270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0E029C-293A-0153-3717-1C49DF6506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7DA44CF1-D5D8-35E8-D5CB-E84156CB71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9998074"/>
              </p:ext>
            </p:extLst>
          </p:nvPr>
        </p:nvGraphicFramePr>
        <p:xfrm>
          <a:off x="1238525" y="1607817"/>
          <a:ext cx="6096000" cy="344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973</Words>
  <Application>Microsoft Office PowerPoint</Application>
  <PresentationFormat>Affichage à l'écran (16:9)</PresentationFormat>
  <Paragraphs>178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Wingdings</vt:lpstr>
      <vt:lpstr>Arial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Anthony Leray</dc:creator>
  <cp:lastModifiedBy>Anthony Leray</cp:lastModifiedBy>
  <cp:revision>17</cp:revision>
  <dcterms:modified xsi:type="dcterms:W3CDTF">2025-08-29T08:15:08Z</dcterms:modified>
</cp:coreProperties>
</file>